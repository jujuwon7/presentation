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8d2cbc2f3f124821" /><Relationship Type="http://schemas.openxmlformats.org/officeDocument/2006/relationships/extended-properties" Target="/docProps/app.xml" Id="R4443322e0aef41ed" /><Relationship Type="http://schemas.openxmlformats.org/officeDocument/2006/relationships/officeDocument" Target="/ppt/presentation.xml" Id="R96458199afc5447f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781694483ef844f0"/>
  </p:sldMasterIdLst>
  <p:notesMasterIdLst>
    <p:notesMasterId xmlns:r="http://schemas.openxmlformats.org/officeDocument/2006/relationships" r:id="R8ee01206f8084f84"/>
  </p:notesMasterIdLst>
  <p:sldIdLst>
    <p:sldId xmlns:r="http://schemas.openxmlformats.org/officeDocument/2006/relationships" id="256" r:id="R8dce4c5d4af74230"/>
    <p:sldId xmlns:r="http://schemas.openxmlformats.org/officeDocument/2006/relationships" id="257" r:id="R33e894dd32604ced"/>
    <p:sldId xmlns:r="http://schemas.openxmlformats.org/officeDocument/2006/relationships" id="258" r:id="Rb38eb5abe5e941f1"/>
    <p:sldId xmlns:r="http://schemas.openxmlformats.org/officeDocument/2006/relationships" id="259" r:id="R565c193a4e074d8e"/>
    <p:sldId xmlns:r="http://schemas.openxmlformats.org/officeDocument/2006/relationships" id="260" r:id="R81d816d05e05495f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746d21d6ec346ef" /><Relationship Type="http://schemas.openxmlformats.org/officeDocument/2006/relationships/slideMaster" Target="/ppt/slideMasters/slideMaster1.xml" Id="R781694483ef844f0" /><Relationship Type="http://schemas.openxmlformats.org/officeDocument/2006/relationships/notesMaster" Target="/ppt/notesMasters/notesMaster1.xml" Id="R8ee01206f8084f84" /><Relationship Type="http://schemas.openxmlformats.org/officeDocument/2006/relationships/presProps" Target="/ppt/presProps.xml" Id="Refc97c80e7bb44d1" /><Relationship Type="http://schemas.openxmlformats.org/officeDocument/2006/relationships/tableStyles" Target="/ppt/tableStyles.xml" Id="R5509623ed1c54976" /><Relationship Type="http://schemas.openxmlformats.org/officeDocument/2006/relationships/slide" Target="/ppt/slides/slide1.xml" Id="R8dce4c5d4af74230" /><Relationship Type="http://schemas.openxmlformats.org/officeDocument/2006/relationships/slide" Target="/ppt/slides/slide2.xml" Id="R33e894dd32604ced" /><Relationship Type="http://schemas.openxmlformats.org/officeDocument/2006/relationships/slide" Target="/ppt/slides/slide3.xml" Id="Rb38eb5abe5e941f1" /><Relationship Type="http://schemas.openxmlformats.org/officeDocument/2006/relationships/slide" Target="/ppt/slides/slide4.xml" Id="R565c193a4e074d8e" /><Relationship Type="http://schemas.openxmlformats.org/officeDocument/2006/relationships/slide" Target="/ppt/slides/slide5.xml" Id="R81d816d05e05495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4242558442e0478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bee97ee83df24104" /><Relationship Type="http://schemas.openxmlformats.org/officeDocument/2006/relationships/notesMaster" Target="/ppt/notesMasters/notesMaster1.xml" Id="R45a420297fe8495b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c9bbfa408e6c461c" /><Relationship Type="http://schemas.openxmlformats.org/officeDocument/2006/relationships/notesMaster" Target="/ppt/notesMasters/notesMaster1.xml" Id="Rb487aa3a7f294103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3d2781f1ed894a43" /><Relationship Type="http://schemas.openxmlformats.org/officeDocument/2006/relationships/notesMaster" Target="/ppt/notesMasters/notesMaster1.xml" Id="R8eea41f901d04b2e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ef0b542267794efb" /><Relationship Type="http://schemas.openxmlformats.org/officeDocument/2006/relationships/notesMaster" Target="/ppt/notesMasters/notesMaster1.xml" Id="R9826a4ca3f4342b2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54cbf0e2e8742db" /><Relationship Type="http://schemas.openxmlformats.org/officeDocument/2006/relationships/notesMaster" Target="/ppt/notesMasters/notesMaster1.xml" Id="Raa1b921f34a440fd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제가 하려는 연구는 충전기가 부족할 때 전기버스가 얼마나 기다리고, 그 대기 때문에 출발이 얼마나 늦어지는지를 시뮬레이션으로 확인하는 것입니다.</a:t>
            </a:r>
          </a:p>
          <a:p xmlns:a="http://schemas.openxmlformats.org/drawingml/2006/main">
            <a:r>
              <a:t>단순히 충전기를 많이 설치하는 답만 보는 것이 아니라, 충전 순서와 지연이 생겼을 때의 운영 방법까지 같이 비교하려고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Wang 논문은 같은 버스가 연속으로 수행하는 두 운행 사이의 쉬는 시간을 충전 가능 시간으로 사용합니다. 여러 버스가 충전기를 같이 써도 시간이 겹치지 않게 배정합니다.</a:t>
            </a:r>
          </a:p>
          <a:p xmlns:a="http://schemas.openxmlformats.org/drawingml/2006/main">
            <a:r>
              <a:t>다만 다음 출발을 늦추지 않는 충전만 선택합니다. 저는 충전기가 부족해서 그 시간을 넘겼을 때 실제 출발이 얼마나 늦고, 같은 버스의 뒤 운행까지 어떻게 밀리는지를 추가로 보려고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연구 목적은 정해진 운행을 최대한 지키면서 필요한 충전시설과 운영 방법을 같이 찾는 것입니다.</a:t>
            </a:r>
          </a:p>
          <a:p xmlns:a="http://schemas.openxmlformats.org/drawingml/2006/main">
            <a:r>
              <a:t>첫째는 충전기 수와 출력, 둘째는 어떤 버스를 언제 충전할지, 셋째는 지연이 생겼을 때 배차를 어떻게 조정할지를 비교합니다.</a:t>
            </a:r>
          </a:p>
          <a:p xmlns:a="http://schemas.openxmlformats.org/drawingml/2006/main">
            <a:r>
              <a:t>충전기를 많이 놓으면 지연이 줄어드는 것은 당연하기 때문에, 어느 정도 시설에서 어떤 충전·운영 방법을 써야 피해를 줄일 수 있는지를 결과로 보여주려고 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GTFS에서는 예정된 노선과 시간표를 가져오고, BIS에서는 실제 정류장 사이 이동시간을 가져옵니다. 먼저 GTFS만으로 같은 차량의 운행을 이어 붙이고, 이후 BIS를 연결해 실제 이동 차이를 넣습니다.</a:t>
            </a:r>
          </a:p>
          <a:p xmlns:a="http://schemas.openxmlformats.org/drawingml/2006/main">
            <a:r>
              <a:t>시뮬레이션은 DTUMOS Energy에서 작은 시험 모듈로 만든 뒤 잘 작동하면 본 DTUMOS로 옮기겠습니다.</a:t>
            </a:r>
          </a:p>
          <a:p xmlns:a="http://schemas.openxmlformats.org/drawingml/2006/main">
            <a:r>
              <a:t>처음에는 노선 하나, 버스 세 대 정도와 충전기 한 대만 두고, 도착 즉시 충전과 다음 출발시간을 고려한 충전을 비교합니다.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[발표 멘트]</a:t>
            </a:r>
          </a:p>
          <a:p xmlns:a="http://schemas.openxmlformats.org/drawingml/2006/main">
            <a:r>
              <a:t>앞으로는 선행연구를 보고 남은 문제를 찾은 다음, 연구 목적과 필요한 데이터·시뮬레이션을 정하고 결과의 의미를 해석하는 과정을 계속 반복하겠습니다.</a:t>
            </a:r>
          </a:p>
          <a:p xmlns:a="http://schemas.openxmlformats.org/drawingml/2006/main">
            <a:r>
              <a:t>당장 할 일은 핵심 논문 네 편 비교, GTFS와 BIS 연결, 버스 세 대의 작은 예제 실행, 그리고 충전 방법과 충전기 조건 비교입니다.</a:t>
            </a:r>
          </a:p>
          <a:p xmlns:a="http://schemas.openxmlformats.org/drawingml/2006/main">
            <a:r>
              <a:t>현재는 질문과 시험 코드가 정리된 단계이고 실제 서울시 자료 결과는 아직 없습니다. 내일 미팅에서는 이 범위와 우선순위가 맞는지 확인받겠습니다.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b0270c7e364ff5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7d538031435f43fb" /><Relationship Type="http://schemas.openxmlformats.org/officeDocument/2006/relationships/slideLayout" Target="/ppt/slideLayouts/slideLayout1.xml" Id="R2c69449599c54aa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2c69449599c54aa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512cf7f211b4d47" /><Relationship Type="http://schemas.openxmlformats.org/officeDocument/2006/relationships/notesSlide" Target="/ppt/notesSlides/notesSlide1.xml" Id="R6a0df445887848d4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3c91d99b9364e33" /><Relationship Type="http://schemas.openxmlformats.org/officeDocument/2006/relationships/notesSlide" Target="/ppt/notesSlides/notesSlide2.xml" Id="Reedf401d05d44bed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01e877984b4208" /><Relationship Type="http://schemas.openxmlformats.org/officeDocument/2006/relationships/notesSlide" Target="/ppt/notesSlides/notesSlide3.xml" Id="Rb604063859cd43d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4f2b1877e14096" /><Relationship Type="http://schemas.openxmlformats.org/officeDocument/2006/relationships/notesSlide" Target="/ppt/notesSlides/notesSlide4.xml" Id="Rf91246a1ff8c410c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c53c46d77924e10" /><Relationship Type="http://schemas.openxmlformats.org/officeDocument/2006/relationships/notesSlide" Target="/ppt/notesSlides/notesSlide5.xml" Id="Rc0ccc581cecb4fe8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015599-5154-49D5-B0A0-6ACCB521B2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28775"/>
            <a:ext cx="95250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32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32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전기버스 충전 운영 연구 구상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656D70A-DCE4-4987-BB3A-BDF7B998DA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457450"/>
            <a:ext cx="857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800" b="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800" b="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GTFS·BIS 기반 DTUMOS Energy 시험 구현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74D1993-560B-45C1-B06B-01F623C05D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10668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B8B8B8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44C25B3-30E1-4AE4-8ED5-C5C203419A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476625"/>
            <a:ext cx="10001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충전기가 부족할 때 생기는 대기와 출발 지연을 줄이기 위해</a:t>
            </a:r>
          </a:p>
          <a:p xmlns:a="http://schemas.openxmlformats.org/drawingml/2006/main">
            <a:pPr algn="l">
              <a:lnSpc>
                <a:spcPct val="112000"/>
              </a:lnSpc>
              <a:buNone/>
              <a:defRPr sz="18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8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충전시설·충전 방법·운영 방법을 함께 비교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CFB68-8138-4C45-8BD5-BE46B9C0B9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5534025"/>
            <a:ext cx="6667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275" b="0">
                <a:solidFill>
                  <a:srgbClr val="666666"/>
                </a:solidFill>
                <a:latin typeface="Pretendard"/>
                <a:ea typeface="Pretendard"/>
                <a:cs typeface="Pretendard"/>
              </a:defRPr>
            </a:pPr>
            <a:r>
              <a:rPr sz="1275" b="0">
                <a:solidFill>
                  <a:srgbClr val="666666"/>
                </a:solidFill>
                <a:latin typeface="Pretendard"/>
                <a:ea typeface="Pretendard"/>
                <a:cs typeface="Pretendard"/>
              </a:rPr>
              <a:t>김주원  ·  건국대 미팅  ·  2026.10.08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46102D4-861D-4A1C-94AC-97A013FE4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1</a:t>
            </a:r>
          </a:p>
        </p:txBody>
      </p:sp>
    </p:spTree>
    <p:extLst>
      <p:ext uri="{BB962C8B-B14F-4D97-AF65-F5344CB8AC3E}">
        <p14:creationId xmlns:p14="http://schemas.microsoft.com/office/powerpoint/2010/main" val="2029323874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752A5B1-CB84-4E50-87A8-8EE8EA468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1. 선행연구에서 남은 문제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DC1C5D5-CC77-45B4-96D4-6FBC27B89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선행연구 → 빈틈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2B0D15-4D85-4382-B85B-6A9E2C6EE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Wang et al. (2017), Transportation Research Part E 100, 115–132.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E675F90-138A-4EFB-9C6E-EA4C7AA7B1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D01F6BD-C755-48E4-BDEA-76C030B785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81125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Wang (2017)에서 가져올 부분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15B6136-6668-4570-89A3-62841F258A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79070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운행 사이 시간: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앞 운행 종료부터 다음 운행 출발 전까지 충전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공유 충전기: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여러 버스의 충전시간이 겹치지 않게 배정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기준: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다음 운행을 늦추지 않는 충전계획만 선택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D3499E-B3CA-457A-9B92-B221ADECDF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381125"/>
            <a:ext cx="4857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내가 추가로 보고 싶은 부분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1722ED9-F7A3-4057-ADD8-F3DA9A0374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1790700"/>
            <a:ext cx="48577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충전기 부족: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대기가 운행 사이 시간을 넘으면 출발이 늦어짐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연속 지연: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한 번의 지연이 같은 차량의 뒤 운행까지 이어짐</a:t>
            </a:r>
          </a:p>
          <a:p xmlns:a="http://schemas.openxmlformats.org/drawingml/2006/main">
            <a:pPr marL="203200" indent="-127000" algn="l">
              <a:lnSpc>
                <a:spcPct val="108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대안 비교: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충전기·충전 순서·배차 운영으로 피해를 줄임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F16025-F7E9-461E-8C3D-E1566D2203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290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앞 운행 종료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버스가 차고지에 도착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5604280-D350-4C79-968E-1014938E8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90925" y="38290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 대기·충전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공유 충전기 사용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0A393A4-54BD-4CC7-9586-704AD781A9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0" y="38290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다음 출발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예정시각을 넘을 수 있음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BCC887B-1125-4250-9AB1-5FF4FDA90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82075" y="3829050"/>
            <a:ext cx="219075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뒤 운행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지연이 이어질 수 있음</a:t>
            </a:r>
          </a:p>
        </p:txBody>
      </p:sp>
      <p:cxnSp>
        <p:nvCxnSpPr>
          <p:cNvPr id="29" name=""/>
          <p:cNvCxnSpPr>
            <a:stCxn xmlns:a="http://schemas.openxmlformats.org/drawingml/2006/main" id="9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>
            <a:off x="3086100" y="421957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30" name=""/>
          <p:cNvCxnSpPr>
            <a:stCxn xmlns:a="http://schemas.openxmlformats.org/drawingml/2006/main" id="10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5781675" y="421957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31" name=""/>
          <p:cNvCxnSpPr>
            <a:stCxn xmlns:a="http://schemas.openxmlformats.org/drawingml/2006/main" id="11" idx="3"/>
            <a:endCxn xmlns:a="http://schemas.openxmlformats.org/drawingml/2006/main" id="12" idx="1"/>
          </p:cNvCxnSpPr>
          <p:nvPr/>
        </p:nvCxnSpPr>
        <p:spPr>
          <a:xfrm xmlns:a="http://schemas.openxmlformats.org/drawingml/2006/main">
            <a:off x="8477250" y="4219575"/>
            <a:ext cx="504825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66666"/>
            </a:solidFill>
            <a:prstDash val="solid"/>
            <a:tailEnd type="arrow" w="sm" len="sm"/>
          </a:ln>
        </p:spPr>
      </p:cxn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F0BA43F-0252-4E73-9360-8604CE969E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57800"/>
            <a:ext cx="108204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7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7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연구의 빈틈: 충전 대기가 실제 출발 지연으로 바뀌는 조건과 그 뒤의 대응</a:t>
            </a:r>
          </a:p>
        </p:txBody>
      </p:sp>
    </p:spTree>
    <p:extLst>
      <p:ext uri="{BB962C8B-B14F-4D97-AF65-F5344CB8AC3E}">
        <p14:creationId xmlns:p14="http://schemas.microsoft.com/office/powerpoint/2010/main" val="163300416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2C2D34-81C4-4950-B459-009FBFC52B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2. 연구 목적과 비교할 대안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CA1090F-45A5-48E1-A077-10C10D3269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연구 목적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5718F66-A16C-42BC-A169-1954F80E32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2026-10-07 개인미팅에서 정리한 연구 방향.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D1FA6A-2B3E-45E1-AFD6-126399799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6CC939F-703D-4DED-97EC-A612ADE8E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352550"/>
            <a:ext cx="10820400" cy="781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8F8F8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90500" tIns="47625" rIns="190500" bIns="47625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72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정해진 버스 운행을 최대한 지키면서, 필요한 충전시설의 규모와 충전·운영 방법을 함께 비교한다.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86E2EEE-FF30-4CA9-B5CB-B6EBD0FD2B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686050"/>
            <a:ext cx="32766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충전시설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충전기 개수와 출력
무한정 늘리는 것이 아니라
지연을 감당할 수 있는 규모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03F635-AD28-4C49-ACF1-8109D1C66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57700" y="2686050"/>
            <a:ext cx="32766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충전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도착 즉시 충전
다음 출발이 가까운 버스 우선
필요한 배터리만 먼저 충전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4B58D7B-F09C-4178-A9A7-3C7DAA753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29600" y="2686050"/>
            <a:ext cx="3276600" cy="1866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3. 운영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지연을 그대로 반영
배차간격 조정
이후 예비차 투입도 검토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72C7585-9700-4D19-8BAF-FEC87301AF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095875"/>
            <a:ext cx="1143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35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판단 기준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738382D-F786-4323-8E68-CAE4CD4F3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5057775"/>
            <a:ext cx="96964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출발 지연 · 뒤 운행으로 이어진 지연 · 충전 대기 · 배차간격 · 배터리 부족 · 시설 규모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DFB982-AFF1-4434-B7BF-A8B1F95EC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734050"/>
            <a:ext cx="108204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50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비용이 낮아도 출발 지연이나 배차 문제가 커지면 좋은 결과로 보지 않는다.</a:t>
            </a:r>
          </a:p>
        </p:txBody>
      </p:sp>
    </p:spTree>
    <p:extLst>
      <p:ext uri="{BB962C8B-B14F-4D97-AF65-F5344CB8AC3E}">
        <p14:creationId xmlns:p14="http://schemas.microsoft.com/office/powerpoint/2010/main" val="2102076360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ED5396B-DF3D-4C87-B10A-0BBEA676E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3. 데이터와 시뮬레이션 방법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53AC50F1-EEFE-4A55-9710-560FE3483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방법론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C6707F1-78F2-4778-8AFD-6589570AB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데이터 역할과 구현 순서는 2026-10-07 개인미팅 기준.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F038A1-6AC5-432F-AB9C-E24656677A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B60BFF-323E-419A-897C-0AC5DDD84D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GTFS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노선·정류장 순서
예정 도착·출발시간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CEBD61D-55CB-4F31-AA97-09B955641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14650"/>
            <a:ext cx="2857500" cy="10668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BIS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실제 정류장 사이 이동시간
예정 운행과 실제 운행 차이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96FA208-A8C3-4AC5-BD90-C12FD2314A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2000250"/>
            <a:ext cx="2857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DTUMOS Energy 시험 구현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같은 차량의 연속 운행
배터리 감소
공유 충전기 대기·충전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A92C93D-7A25-4EDA-98C3-94BF202EB2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48700" y="2000250"/>
            <a:ext cx="2857500" cy="1524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비교 결과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출발 지연과 지연 전파
충전 대기·배터리 부족
필요한 충전기 수·출력</a:t>
            </a:r>
          </a:p>
        </p:txBody>
      </p:sp>
      <p:cxnSp>
        <p:nvCxnSpPr>
          <p:cNvPr id="22" name=""/>
          <p:cNvCxnSpPr>
            <a:stCxn xmlns:a="http://schemas.openxmlformats.org/drawingml/2006/main" id="5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543300" y="2019300"/>
            <a:ext cx="1123950" cy="74295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3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 flipV="1">
            <a:off x="3543300" y="2762250"/>
            <a:ext cx="1123950" cy="68580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4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7524750" y="2762250"/>
            <a:ext cx="1123950" cy="0"/>
          </a:xfrm>
          <a:prstGeom xmlns:a="http://schemas.openxmlformats.org/drawingml/2006/main" prst="straightConnector1">
            <a:avLst/>
          </a:prstGeom>
          <a:ln xmlns:a="http://schemas.openxmlformats.org/drawingml/2006/main" w="13335">
            <a:solidFill>
              <a:srgbClr val="666666"/>
            </a:solidFill>
            <a:prstDash val="solid"/>
            <a:tailEnd type="arrow" w="sm" len="sm"/>
          </a:ln>
        </p:spPr>
      </p:cxn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853C6A3-91C6-4CD9-A427-9AC8A61E82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591050"/>
            <a:ext cx="1809750" cy="257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첫 번째 실행 범위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FABE928-2938-4F4C-9156-03F1204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204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작게 시작: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노선 1개 · 버스 약 3대 · 차고지 1곳 · 공유 충전기 1대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첫 비교: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도착 즉시 충전 vs 다음 출발시간이 가까운 버스 우선 충전</a:t>
            </a:r>
          </a:p>
          <a:p xmlns:a="http://schemas.openxmlformats.org/drawingml/2006/main">
            <a:pPr marL="203200" indent="-127000" algn="l">
              <a:lnSpc>
                <a:spcPct val="107000"/>
              </a:lnSpc>
              <a:spcAft>
                <a:spcPts val="800"/>
              </a:spcAft>
              <a:buNone/>
              <a:defRPr sz="1350" b="0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350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확장: </a:t>
            </a:r>
            <a:r>
              <a:rPr sz="1350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GTFS로 먼저 실행한 뒤 BIS 실제 이동시간을 연결</a:t>
            </a:r>
          </a:p>
        </p:txBody>
      </p:sp>
    </p:spTree>
    <p:extLst>
      <p:ext uri="{BB962C8B-B14F-4D97-AF65-F5344CB8AC3E}">
        <p14:creationId xmlns:p14="http://schemas.microsoft.com/office/powerpoint/2010/main" val="477979136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D1A46D1-B7CC-41EB-8168-55ED8DBB14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28625"/>
            <a:ext cx="8858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2775" b="1">
                <a:solidFill>
                  <a:srgbClr val="000000"/>
                </a:solidFill>
                <a:latin typeface="Pretendard Medium"/>
                <a:ea typeface="Pretendard Medium"/>
                <a:cs typeface="Pretendard Medium"/>
              </a:rPr>
              <a:t>4. 연구 사이클과 바로 할 일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589ECB9-931E-46E0-82A6-8FBC7E4BF6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67875" y="666750"/>
            <a:ext cx="1838325" cy="3714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F2F2F2"/>
          </a:solidFill>
          <a:ln xmlns:a="http://schemas.openxmlformats.org/drawingml/2006/main" w="0">
            <a:noFill/>
          </a:ln>
        </p:spPr>
        <p:txBody>
          <a:bodyPr xmlns:a="http://schemas.openxmlformats.org/drawingml/2006/main" lIns="38100" tIns="0" rIns="3810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defRPr sz="112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12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다음 단계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B8E1312-302C-4496-BE0C-634F045FF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419850"/>
            <a:ext cx="93345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buNone/>
              <a:def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863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교수님 피드백을 반영한 반복 연구 과정.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92E1D67-B03C-4B29-A351-B5AD5BEEB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6381750"/>
            <a:ext cx="9144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buNone/>
              <a:def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defRPr>
            </a:pPr>
            <a:r>
              <a:rPr sz="900" b="0">
                <a:solidFill>
                  <a:srgbClr val="AFAFAF"/>
                </a:solidFill>
                <a:latin typeface="Pretendard"/>
                <a:ea typeface="Pretendard"/>
                <a:cs typeface="Pretendard"/>
              </a:rPr>
              <a:t>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D317C2-D697-4D5E-9BC9-555F3E9884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287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1. 선행연구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이미 한 것 확인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0B2ED7-CD75-4D6A-B5D4-D8AB4C84C8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14287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2. 남은 문제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내가 볼 부분 정리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8D77B7D-DFC7-400D-8755-94B7EB46C8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67300" y="14287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3. 연구 목적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질문을 한 문장으로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D6DE3C3-EE10-46B6-AB1C-75FDA8E033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14287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B8B8B8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4. 방법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데이터·시뮬레이션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CF4325B-4C67-4922-89E0-5A2F63588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1428750"/>
            <a:ext cx="1809750" cy="9906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2F2F2"/>
          </a:solidFill>
          <a:ln xmlns:a="http://schemas.openxmlformats.org/drawingml/2006/main" w="15240">
            <a:solidFill>
              <a:srgbClr val="000000"/>
            </a:solidFill>
            <a:prstDash val="solid"/>
          </a:ln>
        </p:spPr>
        <p:txBody>
          <a:bodyPr xmlns:a="http://schemas.openxmlformats.org/drawingml/2006/main" lIns="114300" tIns="76200" rIns="114300" bIns="7620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 b="1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5. 결과·의미</a:t>
            </a:r>
          </a:p>
          <a:p xmlns:a="http://schemas.openxmlformats.org/drawingml/2006/main">
            <a:pPr algn="ctr">
              <a:lnSpc>
                <a:spcPct val="105000"/>
              </a:lnSpc>
              <a:buNone/>
              <a:defRPr sz="1275">
                <a:solidFill>
                  <a:srgbClr val="222222"/>
                </a:solidFill>
                <a:latin typeface="Pretendard"/>
                <a:ea typeface="Pretendard"/>
                <a:cs typeface="Pretendard"/>
              </a:defRPr>
            </a:pPr>
            <a:r>
              <a:rPr sz="1275">
                <a:solidFill>
                  <a:srgbClr val="222222"/>
                </a:solidFill>
                <a:latin typeface="Pretendard"/>
                <a:ea typeface="Pretendard"/>
                <a:cs typeface="Pretendard"/>
              </a:rPr>
              <a:t>왜 그런지 설명</a:t>
            </a:r>
          </a:p>
        </p:txBody>
      </p:sp>
      <p:cxnSp>
        <p:nvCxnSpPr>
          <p:cNvPr id="26" name=""/>
          <p:cNvCxnSpPr>
            <a:stCxn xmlns:a="http://schemas.openxmlformats.org/drawingml/2006/main" id="5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249555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7" name=""/>
          <p:cNvCxnSpPr>
            <a:stCxn xmlns:a="http://schemas.openxmlformats.org/drawingml/2006/main" id="6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468630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8" name=""/>
          <p:cNvCxnSpPr>
            <a:stCxn xmlns:a="http://schemas.openxmlformats.org/drawingml/2006/main" id="7" idx="3"/>
            <a:endCxn xmlns:a="http://schemas.openxmlformats.org/drawingml/2006/main" id="8" idx="1"/>
          </p:cNvCxnSpPr>
          <p:nvPr/>
        </p:nvCxnSpPr>
        <p:spPr>
          <a:xfrm xmlns:a="http://schemas.openxmlformats.org/drawingml/2006/main">
            <a:off x="687705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cxnSp>
        <p:nvCxnSpPr>
          <p:cNvPr id="29" name=""/>
          <p:cNvCxnSpPr>
            <a:stCxn xmlns:a="http://schemas.openxmlformats.org/drawingml/2006/main" id="8" idx="3"/>
            <a:endCxn xmlns:a="http://schemas.openxmlformats.org/drawingml/2006/main" id="9" idx="1"/>
          </p:cNvCxnSpPr>
          <p:nvPr/>
        </p:nvCxnSpPr>
        <p:spPr>
          <a:xfrm xmlns:a="http://schemas.openxmlformats.org/drawingml/2006/main">
            <a:off x="9067800" y="1924050"/>
            <a:ext cx="381000" cy="0"/>
          </a:xfrm>
          <a:prstGeom xmlns:a="http://schemas.openxmlformats.org/drawingml/2006/main" prst="straightConnector1">
            <a:avLst/>
          </a:prstGeom>
          <a:ln xmlns:a="http://schemas.openxmlformats.org/drawingml/2006/main" w="12383">
            <a:solidFill>
              <a:srgbClr val="666666"/>
            </a:solidFill>
            <a:prstDash val="solid"/>
            <a:tailEnd type="arrow" w="sm" len="sm"/>
          </a:ln>
        </p:spPr>
      </p:cxn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E3F685B9-FE69-4C42-808F-39ABFF070B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705100"/>
            <a:ext cx="108204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35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350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결과에서 부족한 점이 보이면 다시 선행연구로 돌아가 이 과정을 반복</a:t>
            </a:r>
          </a:p>
        </p:txBody>
      </p:sp>
      <p:graphicFrame>
        <p:nvGraphicFramePr>
          <p:cNvPr id="31" name=""/>
          <p:cNvGraphicFramePr/>
          <p:nvPr/>
        </p:nvGraphicFramePr>
        <p:xfrm>
          <a:off xmlns:a="http://schemas.openxmlformats.org/drawingml/2006/main" x="685800" y="3362325"/>
          <a:ext xmlns:a="http://schemas.openxmlformats.org/drawingml/2006/main" cx="10820400" cy="232410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904875"/>
                <a:gridCol w="5953125"/>
                <a:gridCol w="3962400"/>
              </a:tblGrid>
              <a:tr h="361950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00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순서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바로 할 일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00" b="1">
                          <a:solidFill>
                            <a:srgbClr val="FFFFFF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남길 결과</a:t>
                      </a:r>
                    </a:p>
                  </a:txBody>
                  <a:tcPr marL="91440" marR="91440" marT="45720" marB="45720" anchor="ctr">
                    <a:solidFill>
                      <a:srgbClr val="000000"/>
                    </a:solidFill>
                  </a:tcPr>
                </a:tc>
              </a:tr>
              <a:tr h="48577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38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1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핵심 논문 4편을 같은 형식으로 비교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논문 비교표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38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2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GTFS 노선 하나와 같은 노선의 BIS 자료 연결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정류장·시간 연결표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38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3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버스 약 3대와 충전기 1대 예제 실행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운행·SOC·충전 상태 기록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  <a:tr h="485775"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ctr"/>
                      <a:r>
                        <a:rPr sz="1238" b="1">
                          <a:solidFill>
                            <a:srgbClr val="222222"/>
                          </a:solidFill>
                          <a:latin typeface="Pretendard Medium"/>
                          <a:ea typeface="Pretendard Medium"/>
                          <a:cs typeface="Pretendard Medium"/>
                        </a:rPr>
                        <a:t>4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두 충전 방법과 충전기 수·출력 비교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  <a:tc>
                  <a:txBody>
                    <a:bodyPr wrap="square" lIns="76200" tIns="38100" rIns="76200" bIns="38100">
                      <a:noAutofit/>
                    </a:bodyPr>
                    <a:lstStyle/>
                    <a:p>
                      <a:pPr algn="l"/>
                      <a:r>
                        <a:rPr sz="1238" b="0">
                          <a:solidFill>
                            <a:srgbClr val="222222"/>
                          </a:solidFill>
                          <a:latin typeface="Pretendard"/>
                          <a:ea typeface="Pretendard"/>
                          <a:cs typeface="Pretendard"/>
                        </a:rPr>
                        <a:t>지연·대기·배터리 결과</a:t>
                      </a:r>
                    </a:p>
                  </a:txBody>
                  <a:tcPr marL="91440" marR="91440" marT="45720" marB="4572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6C23C45-BF40-40E9-AC37-72160B420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05500"/>
            <a:ext cx="10820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8000"/>
              </a:lnSpc>
              <a:buNone/>
              <a:def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defRPr>
            </a:pPr>
            <a:r>
              <a:rPr sz="1425" b="1">
                <a:solidFill>
                  <a:srgbClr val="222222"/>
                </a:solidFill>
                <a:latin typeface="Pretendard Medium"/>
                <a:ea typeface="Pretendard Medium"/>
                <a:cs typeface="Pretendard Medium"/>
              </a:rPr>
              <a:t>내일 미팅에서는 연구가 완성됐다고 말하지 않고, 질문·방법·첫 실험 범위를 확인받는다.</a:t>
            </a:r>
          </a:p>
        </p:txBody>
      </p:sp>
    </p:spTree>
    <p:extLst>
      <p:ext uri="{BB962C8B-B14F-4D97-AF65-F5344CB8AC3E}">
        <p14:creationId xmlns:p14="http://schemas.microsoft.com/office/powerpoint/2010/main" val="283070179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2026-10-07T10:12:29.6320000Z</dcterms:created>
  <dcterms:modified xsi:type="dcterms:W3CDTF">2026-10-07T10:12:29.6320000Z</dcterms:modified>
</coreProperties>
</file>