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70458"/>
  </p:normalViewPr>
  <p:slideViewPr>
    <p:cSldViewPr snapToGrid="0">
      <p:cViewPr varScale="1">
        <p:scale>
          <a:sx n="83" d="100"/>
          <a:sy n="83" d="100"/>
        </p:scale>
        <p:origin x="6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멘트]</a:t>
            </a:r>
          </a:p>
          <a:p>
            <a:r>
              <a:t>현재 연구 결과가 나온 단계는 아니고, 개인미팅을 통해 연구 문제와 첫 구현 방향을 정리했습니다.</a:t>
            </a:r>
          </a:p>
          <a:p>
            <a:r>
              <a:t>오늘은 현재까지 정리한 내용을 공유하고, 건대에서 진행 중인 DTUMOS 택시 연구와 제 전기버스 연구를 어떻게 연결하면 좋을지 같이 논의하고 싶습니다.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멘트]</a:t>
            </a:r>
          </a:p>
          <a:p>
            <a:r>
              <a:t>제가 현재 정리한 문제는 공유 충전기의 대기가 실제 버스 출발 지연으로 이어질 수 있다는 점입니다.</a:t>
            </a:r>
          </a:p>
          <a:p>
            <a:r>
              <a:t>그래서 충전기가 부족한 상황에서 시설을 얼마나 두고 어떤 순서로 충전하며, 지연이 생겼을 때 운행을 어떻게 조정해야 하는지를 보고 싶습니다.</a:t>
            </a:r>
          </a:p>
          <a:p>
            <a:r>
              <a:t>이 문장은 아직 연구 목적 초안이므로 오늘 자문을 받고 범위를 더 좁히려고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멘트]</a:t>
            </a:r>
          </a:p>
          <a:p>
            <a:r>
              <a:t>현재 완료된 것은 연구 문제와 목적 초안을 정리한 것입니다.</a:t>
            </a:r>
          </a:p>
          <a:p>
            <a:r>
              <a:t>GTFS와 BIS를 같이 쓰는 방향을 생각했지만 사용할 노선과 기간을 정하지 않았고, 실제 데이터를 넣은 시뮬레이션도 아직 없습니다.</a:t>
            </a:r>
          </a:p>
          <a:p>
            <a:r>
              <a:t>충전 알고리즘도 도착 즉시 충전과 출발시간 우선 충전을 후보로 생각한 단계입니다. 기존 시험 코드는 구조 확인용이며 연구 결과로 사용한 상태가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멘트]</a:t>
            </a:r>
          </a:p>
          <a:p>
            <a:r>
              <a:t>공동연구 논의 후 첫 사이클은 노선 하나를 정하고, 버스 세 대 정도와 충전기 한 대의 작은 예제를 만드는 것으로 생각하고 있습니다.</a:t>
            </a:r>
          </a:p>
          <a:p>
            <a:r>
              <a:t>도착 즉시 충전을 기준으로 둔 뒤 다음 출발시간이 가까운 버스를 먼저 충전하는 방법과 비교하려고 합니다.</a:t>
            </a:r>
          </a:p>
          <a:p>
            <a:r>
              <a:t>다만 데이터 범위, 시뮬레이션의 현실성 수준과 알고리즘 시작점을 아직 정하지 못해 이 부분을 함께 논의하고 싶습니다.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14C635D-4597-4749-8455-99BD0CBB9F3B}"/>
              </a:ext>
            </a:extLst>
          </p:cNvPr>
          <p:cNvSpPr>
            <a:spLocks noGrp="1"/>
          </p:cNvSpPr>
          <p:nvPr/>
        </p:nvSpPr>
        <p:spPr>
          <a:xfrm>
            <a:off x="742950" y="1628775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3225" b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전기버스 충전 운영 연구 진행 공유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678975-0FF4-4371-9D08-6D582F4A9D9A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857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800" b="0" dirty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DTUMOS </a:t>
            </a:r>
            <a:r>
              <a:rPr sz="1800" b="0" dirty="0" err="1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공동연구</a:t>
            </a:r>
            <a:endParaRPr sz="1800" b="0" dirty="0">
              <a:solidFill>
                <a:srgbClr val="6666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B544EE49-D174-4F70-89C0-7E7AE43B8ED9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10668000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523741-D25D-4D12-8969-2A9BE7D709A2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101917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1" dirty="0" err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연구</a:t>
            </a:r>
            <a:r>
              <a:rPr sz="1875" b="1" dirty="0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875" b="1" dirty="0" err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문제와</a:t>
            </a:r>
            <a:r>
              <a:rPr sz="1875" b="1" dirty="0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875" b="1" dirty="0" err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첫</a:t>
            </a:r>
            <a:r>
              <a:rPr sz="1875" b="1" dirty="0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875" b="1" dirty="0" err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구현</a:t>
            </a:r>
            <a:r>
              <a:rPr sz="1875" b="1" dirty="0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875" b="1" dirty="0" err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방향</a:t>
            </a:r>
            <a:r>
              <a:rPr lang="ko-KR" altLang="en-US" sz="1875" b="1" dirty="0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 정리한 상태</a:t>
            </a:r>
            <a:endParaRPr sz="1875" b="1" dirty="0">
              <a:solidFill>
                <a:srgbClr val="222222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12000"/>
              </a:lnSpc>
              <a:buNone/>
              <a:defRPr sz="1875" b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defRPr>
            </a:pPr>
            <a:endParaRPr sz="1875" b="1" dirty="0">
              <a:solidFill>
                <a:srgbClr val="2222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FB2729-B563-473B-998B-1E6048F16090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275" b="0" dirty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김주원  ·  2026.10.08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D9EBA8-319C-45BC-8FA4-BBB3B957A4E4}"/>
              </a:ext>
            </a:extLst>
          </p:cNvPr>
          <p:cNvSpPr>
            <a:spLocks noGrp="1"/>
          </p:cNvSpPr>
          <p:nvPr/>
        </p:nvSpPr>
        <p:spPr>
          <a:xfrm>
            <a:off x="10591800" y="6381750"/>
            <a:ext cx="914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AFAFAF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AFAFA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1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CF56E7E-C54D-4A48-85A9-31CE4044BB15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775" b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현재 정리한 연구 방향</a:t>
            </a: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8D690433-8224-48FA-A52A-7C4B43BD791F}"/>
              </a:ext>
            </a:extLst>
          </p:cNvPr>
          <p:cNvSpPr>
            <a:spLocks noGrp="1"/>
          </p:cNvSpPr>
          <p:nvPr/>
        </p:nvSpPr>
        <p:spPr>
          <a:xfrm>
            <a:off x="9667875" y="666750"/>
            <a:ext cx="1838325" cy="371475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0">
            <a:noFill/>
          </a:ln>
        </p:spPr>
        <p:txBody>
          <a:bodyPr lIns="38100" tIns="0" rIns="38100" bIns="0" anchor="ctr">
            <a:noAutofit/>
          </a:bodyPr>
          <a:lstStyle/>
          <a:p>
            <a:pPr algn="ctr">
              <a:defRPr sz="11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연구 문제와 목적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00DB0DB-6206-4CE8-9582-F3145C2A27D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33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863" b="0">
                <a:solidFill>
                  <a:srgbClr val="AFAFAF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AFAFAF"/>
                </a:solidFill>
                <a:latin typeface="Pretendard"/>
                <a:ea typeface="Pretendard"/>
                <a:cs typeface="Pretendard"/>
              </a:rPr>
              <a:t>2026-10-07 개인미팅에서 정리한 연구 구상.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FD7397-FB30-46F2-9FEC-870AEAF5CA55}"/>
              </a:ext>
            </a:extLst>
          </p:cNvPr>
          <p:cNvSpPr>
            <a:spLocks noGrp="1"/>
          </p:cNvSpPr>
          <p:nvPr/>
        </p:nvSpPr>
        <p:spPr>
          <a:xfrm>
            <a:off x="10591800" y="6381750"/>
            <a:ext cx="914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AFAFAF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AFAFA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E388CA-AD59-45A1-9B8B-51ADFBF8D522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문제 상황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F7708-E3D9-4936-9351-7B6279F3D2D5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108204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03200" indent="-127000" algn="l">
              <a:lnSpc>
                <a:spcPct val="108000"/>
              </a:lnSpc>
              <a:spcAft>
                <a:spcPts val="900"/>
              </a:spcAft>
              <a:buNone/>
              <a:defRPr sz="1425" b="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운행 사이 충전: </a:t>
            </a:r>
            <a:r>
              <a:rPr sz="142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버스는 앞 운행을 마친 뒤 다음 출발 전까지 충전해야 함</a:t>
            </a:r>
          </a:p>
          <a:p>
            <a:pPr marL="203200" indent="-127000" algn="l">
              <a:lnSpc>
                <a:spcPct val="108000"/>
              </a:lnSpc>
              <a:spcAft>
                <a:spcPts val="900"/>
              </a:spcAft>
              <a:buNone/>
              <a:defRPr sz="1425" b="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공유 충전기: </a:t>
            </a:r>
            <a:r>
              <a:rPr sz="142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여러 버스가 같은 충전기를 사용하면 대기가 생길 수 있음</a:t>
            </a:r>
          </a:p>
          <a:p>
            <a:pPr marL="203200" indent="-127000" algn="l">
              <a:lnSpc>
                <a:spcPct val="108000"/>
              </a:lnSpc>
              <a:spcAft>
                <a:spcPts val="900"/>
              </a:spcAft>
              <a:buNone/>
              <a:defRPr sz="1425" b="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운행 영향: </a:t>
            </a:r>
            <a:r>
              <a:rPr sz="142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충전이 늦게 끝나면 다음 출발과 뒤 운행까지 밀릴 수 있음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F5945EE3-63D0-4AEC-B384-2AA2303240B1}"/>
              </a:ext>
            </a:extLst>
          </p:cNvPr>
          <p:cNvSpPr>
            <a:spLocks noGrp="1"/>
          </p:cNvSpPr>
          <p:nvPr/>
        </p:nvSpPr>
        <p:spPr>
          <a:xfrm>
            <a:off x="685800" y="3514725"/>
            <a:ext cx="10820400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8C7196-1C2D-486E-8900-9229240B895A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현재 연구 질문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B428A1-28F6-43B8-A308-05058A94D689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충전기가 부족해 출발 지연이 생길 때, 충전시설과 충전·운영 방법을 어떻게 정해야 운행 피해를 줄일 수 있는가?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0FC96B-E7C1-4D5C-B0ED-8653DDC3D72C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25" b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연구 목적 초안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A7D6D3E-E8BB-4894-A9BD-371B100C4310}"/>
              </a:ext>
            </a:extLst>
          </p:cNvPr>
          <p:cNvSpPr>
            <a:spLocks noGrp="1"/>
          </p:cNvSpPr>
          <p:nvPr/>
        </p:nvSpPr>
        <p:spPr>
          <a:xfrm>
            <a:off x="2419350" y="5210175"/>
            <a:ext cx="9086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정해진 운행을 최대한 지키면서 필요한 충전시설 규모와 운영 방법을 비교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140680-BBA8-4D1F-838D-18B4A521A0F4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666666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1">
                <a:solidFill>
                  <a:srgbClr val="666666"/>
                </a:solidFill>
                <a:latin typeface="Pretendard Medium"/>
                <a:ea typeface="Pretendard Medium"/>
                <a:cs typeface="Pretendard Medium"/>
              </a:rPr>
              <a:t>현재 단계: 연구 문제와 목적 초안을 정리한 상태</a:t>
            </a:r>
          </a:p>
        </p:txBody>
      </p:sp>
    </p:spTree>
    <p:extLst>
      <p:ext uri="{BB962C8B-B14F-4D97-AF65-F5344CB8AC3E}">
        <p14:creationId xmlns:p14="http://schemas.microsoft.com/office/powerpoint/2010/main" val="926948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ECDEEFB-C017-4AF3-AC45-3C7DAA1B19BF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775" b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현재 진행 상태</a:t>
            </a: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67B58328-C25B-4B1F-9907-0AAEF8FF28A1}"/>
              </a:ext>
            </a:extLst>
          </p:cNvPr>
          <p:cNvSpPr>
            <a:spLocks noGrp="1"/>
          </p:cNvSpPr>
          <p:nvPr/>
        </p:nvSpPr>
        <p:spPr>
          <a:xfrm>
            <a:off x="9667875" y="666750"/>
            <a:ext cx="1838325" cy="371475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0">
            <a:noFill/>
          </a:ln>
        </p:spPr>
        <p:txBody>
          <a:bodyPr lIns="38100" tIns="0" rIns="38100" bIns="0" anchor="ctr">
            <a:noAutofit/>
          </a:bodyPr>
          <a:lstStyle/>
          <a:p>
            <a:pPr algn="ctr">
              <a:defRPr sz="11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완료한 것과 남은 것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90DEAE-5E8A-42E6-8363-C15FF437DCF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33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863" b="0">
                <a:solidFill>
                  <a:srgbClr val="AFAFAF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AFAFAF"/>
                </a:solidFill>
                <a:latin typeface="Pretendard"/>
                <a:ea typeface="Pretendard"/>
                <a:cs typeface="Pretendard"/>
              </a:rPr>
              <a:t>연구 결과가 아니라 현재 준비 상태를 정리한 표.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DAC46AB-F596-453A-ADCB-89F018DDEFE7}"/>
              </a:ext>
            </a:extLst>
          </p:cNvPr>
          <p:cNvSpPr>
            <a:spLocks noGrp="1"/>
          </p:cNvSpPr>
          <p:nvPr/>
        </p:nvSpPr>
        <p:spPr>
          <a:xfrm>
            <a:off x="10591800" y="6381750"/>
            <a:ext cx="914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AFAFAF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AFAFA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graphicFrame>
        <p:nvGraphicFramePr>
          <p:cNvPr id="12" name="표 11"/>
          <p:cNvGraphicFramePr/>
          <p:nvPr/>
        </p:nvGraphicFramePr>
        <p:xfrm>
          <a:off x="685800" y="1362075"/>
          <a:ext cx="10820400" cy="3114675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항목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현재 상태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지금까지 한 일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연구 방향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초안 정리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9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충전 대기, 출발 지연과 뒤 운행의 지연을 연구 문제로 설정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데이터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미정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9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GTFS와 BIS를 같이 쓰는 방향만 검토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시뮬레이션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미구축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9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노선 1개와 소수 버스의 작은 예제 범위만 계획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알고리즘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미정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9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도착 즉시 충전과 출발시간 우선 충전을 비교 후보로 생각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결과·시사점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9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데이터 실험 후 해석할 예정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982CCD67-85CA-413E-8674-3BAAE8B9143E}"/>
              </a:ext>
            </a:extLst>
          </p:cNvPr>
          <p:cNvSpPr>
            <a:spLocks noGrp="1"/>
          </p:cNvSpPr>
          <p:nvPr/>
        </p:nvSpPr>
        <p:spPr>
          <a:xfrm>
            <a:off x="685800" y="49053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현재 하고 있는 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A3FC08-9A63-4AFE-8613-2776661D2C5E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03200" indent="-127000" algn="l">
              <a:lnSpc>
                <a:spcPct val="106000"/>
              </a:lnSpc>
              <a:spcAft>
                <a:spcPts val="900"/>
              </a:spcAft>
              <a:buNone/>
              <a:defRPr sz="1388" b="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연구계획 기록: </a:t>
            </a:r>
            <a:r>
              <a:rPr sz="1388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DTUMOS Energy에 연구 목적과 첫 실험 범위를 문서로 정리</a:t>
            </a:r>
          </a:p>
          <a:p>
            <a:pPr marL="203200" indent="-127000" algn="l">
              <a:lnSpc>
                <a:spcPct val="106000"/>
              </a:lnSpc>
              <a:spcAft>
                <a:spcPts val="900"/>
              </a:spcAft>
              <a:buNone/>
              <a:defRPr sz="1388" b="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구현 준비: </a:t>
            </a:r>
            <a:r>
              <a:rPr sz="1388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기존 DTUMOS 구조와 전기버스 시험 코드를 확인하고 옮길 범위를 검토</a:t>
            </a:r>
          </a:p>
        </p:txBody>
      </p:sp>
    </p:spTree>
    <p:extLst>
      <p:ext uri="{BB962C8B-B14F-4D97-AF65-F5344CB8AC3E}">
        <p14:creationId xmlns:p14="http://schemas.microsoft.com/office/powerpoint/2010/main" val="998190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EFE3469-C858-4D8A-8681-A5E7037FA54E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775" b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첫 번째 연구 사이클 계획</a:t>
            </a: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36D8FB82-7C70-4772-BA9B-E7F9411F5D16}"/>
              </a:ext>
            </a:extLst>
          </p:cNvPr>
          <p:cNvSpPr>
            <a:spLocks noGrp="1"/>
          </p:cNvSpPr>
          <p:nvPr/>
        </p:nvSpPr>
        <p:spPr>
          <a:xfrm>
            <a:off x="9667875" y="666750"/>
            <a:ext cx="1838325" cy="371475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0">
            <a:noFill/>
          </a:ln>
        </p:spPr>
        <p:txBody>
          <a:bodyPr lIns="38100" tIns="0" rIns="38100" bIns="0" anchor="ctr">
            <a:noAutofit/>
          </a:bodyPr>
          <a:lstStyle/>
          <a:p>
            <a:pPr algn="ctr">
              <a:defRPr sz="11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앞으로 할 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4113F4-55BE-4AE8-85AB-806FA9D303E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33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863" b="0">
                <a:solidFill>
                  <a:srgbClr val="AFAFAF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AFAFAF"/>
                </a:solidFill>
                <a:latin typeface="Pretendard"/>
                <a:ea typeface="Pretendard"/>
                <a:cs typeface="Pretendard"/>
              </a:rPr>
              <a:t>공동연구 논의를 반영해 수정할 첫 실행 계획.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81CAE5-F27E-455C-AD5C-872F06E12CD6}"/>
              </a:ext>
            </a:extLst>
          </p:cNvPr>
          <p:cNvSpPr>
            <a:spLocks noGrp="1"/>
          </p:cNvSpPr>
          <p:nvPr/>
        </p:nvSpPr>
        <p:spPr>
          <a:xfrm>
            <a:off x="10591800" y="6381750"/>
            <a:ext cx="914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AFAFAF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AFAFA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D54C87-4903-4CDB-A4D5-451A51387208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809750" cy="1095375"/>
          </a:xfrm>
          <a:prstGeom prst="rect">
            <a:avLst/>
          </a:prstGeom>
          <a:solidFill>
            <a:srgbClr val="F2F2F2"/>
          </a:solidFill>
          <a:ln w="15240">
            <a:solidFill>
              <a:srgbClr val="000000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38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1. 데이터 선정</a:t>
            </a:r>
          </a:p>
          <a:p>
            <a:pPr algn="ctr">
              <a:lnSpc>
                <a:spcPct val="105000"/>
              </a:lnSpc>
              <a:buNone/>
              <a:defRPr sz="1238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238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GTFS·BIS 노선 1개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988378-91E2-4AD5-9A58-A46AC5486B3C}"/>
              </a:ext>
            </a:extLst>
          </p:cNvPr>
          <p:cNvSpPr>
            <a:spLocks noGrp="1"/>
          </p:cNvSpPr>
          <p:nvPr/>
        </p:nvSpPr>
        <p:spPr>
          <a:xfrm>
            <a:off x="2876550" y="1571625"/>
            <a:ext cx="18097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38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2. 기본 시뮬레이션</a:t>
            </a:r>
          </a:p>
          <a:p>
            <a:pPr algn="ctr">
              <a:lnSpc>
                <a:spcPct val="105000"/>
              </a:lnSpc>
              <a:buNone/>
              <a:defRPr sz="1238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238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버스 약 3대
충전기 1대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AF35DA-EDF1-4D31-9D3C-195B3718E023}"/>
              </a:ext>
            </a:extLst>
          </p:cNvPr>
          <p:cNvSpPr>
            <a:spLocks noGrp="1"/>
          </p:cNvSpPr>
          <p:nvPr/>
        </p:nvSpPr>
        <p:spPr>
          <a:xfrm>
            <a:off x="5067300" y="1571625"/>
            <a:ext cx="18097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38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3. 기준 충전 방법</a:t>
            </a:r>
          </a:p>
          <a:p>
            <a:pPr algn="ctr">
              <a:lnSpc>
                <a:spcPct val="105000"/>
              </a:lnSpc>
              <a:buNone/>
              <a:defRPr sz="1238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238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도착 즉시 충전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2F657F-DCD0-45CC-B5E3-F67A136B7444}"/>
              </a:ext>
            </a:extLst>
          </p:cNvPr>
          <p:cNvSpPr>
            <a:spLocks noGrp="1"/>
          </p:cNvSpPr>
          <p:nvPr/>
        </p:nvSpPr>
        <p:spPr>
          <a:xfrm>
            <a:off x="7258050" y="1571625"/>
            <a:ext cx="18097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38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4. 비교 방법</a:t>
            </a:r>
          </a:p>
          <a:p>
            <a:pPr algn="ctr">
              <a:lnSpc>
                <a:spcPct val="105000"/>
              </a:lnSpc>
              <a:buNone/>
              <a:defRPr sz="1238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238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다음 출발시간 우선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21792C-E75C-4E0D-B0B0-5277D9DEA333}"/>
              </a:ext>
            </a:extLst>
          </p:cNvPr>
          <p:cNvSpPr>
            <a:spLocks noGrp="1"/>
          </p:cNvSpPr>
          <p:nvPr/>
        </p:nvSpPr>
        <p:spPr>
          <a:xfrm>
            <a:off x="9448800" y="1571625"/>
            <a:ext cx="18097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38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5. 결과 해석</a:t>
            </a:r>
          </a:p>
          <a:p>
            <a:pPr algn="ctr">
              <a:lnSpc>
                <a:spcPct val="105000"/>
              </a:lnSpc>
              <a:buNone/>
              <a:defRPr sz="1238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238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지연이 생긴 이유와
줄어든 조건 확인</a:t>
            </a:r>
          </a:p>
        </p:txBody>
      </p:sp>
      <p:cxnSp>
        <p:nvCxnSpPr>
          <p:cNvPr id="27" name="직선 화살표 연결선 26"/>
          <p:cNvCxnSpPr>
            <a:stCxn id="5" idx="3"/>
            <a:endCxn id="6" idx="1"/>
          </p:cNvCxnSpPr>
          <p:nvPr/>
        </p:nvCxnSpPr>
        <p:spPr>
          <a:xfrm>
            <a:off x="2495550" y="2119313"/>
            <a:ext cx="381000" cy="0"/>
          </a:xfrm>
          <a:prstGeom prst="straightConnector1">
            <a:avLst/>
          </a:prstGeom>
          <a:ln w="12383">
            <a:solidFill>
              <a:srgbClr val="666666"/>
            </a:solidFill>
            <a:prstDash val="solid"/>
            <a:tailEnd type="arrow" w="sm" len="sm"/>
          </a:ln>
        </p:spPr>
      </p:cxnSp>
      <p:cxnSp>
        <p:nvCxnSpPr>
          <p:cNvPr id="28" name="직선 화살표 연결선 27"/>
          <p:cNvCxnSpPr>
            <a:stCxn id="6" idx="3"/>
            <a:endCxn id="7" idx="1"/>
          </p:cNvCxnSpPr>
          <p:nvPr/>
        </p:nvCxnSpPr>
        <p:spPr>
          <a:xfrm>
            <a:off x="4686300" y="2119313"/>
            <a:ext cx="381000" cy="0"/>
          </a:xfrm>
          <a:prstGeom prst="straightConnector1">
            <a:avLst/>
          </a:prstGeom>
          <a:ln w="12383">
            <a:solidFill>
              <a:srgbClr val="666666"/>
            </a:solidFill>
            <a:prstDash val="solid"/>
            <a:tailEnd type="arrow" w="sm" len="sm"/>
          </a:ln>
        </p:spPr>
      </p:cxnSp>
      <p:cxnSp>
        <p:nvCxnSpPr>
          <p:cNvPr id="29" name="직선 화살표 연결선 28"/>
          <p:cNvCxnSpPr>
            <a:stCxn id="7" idx="3"/>
            <a:endCxn id="8" idx="1"/>
          </p:cNvCxnSpPr>
          <p:nvPr/>
        </p:nvCxnSpPr>
        <p:spPr>
          <a:xfrm>
            <a:off x="6877050" y="2119313"/>
            <a:ext cx="381000" cy="0"/>
          </a:xfrm>
          <a:prstGeom prst="straightConnector1">
            <a:avLst/>
          </a:prstGeom>
          <a:ln w="12383">
            <a:solidFill>
              <a:srgbClr val="666666"/>
            </a:solidFill>
            <a:prstDash val="solid"/>
            <a:tailEnd type="arrow" w="sm" len="sm"/>
          </a:ln>
        </p:spPr>
      </p:cxnSp>
      <p:cxnSp>
        <p:nvCxnSpPr>
          <p:cNvPr id="30" name="직선 화살표 연결선 29"/>
          <p:cNvCxnSpPr>
            <a:stCxn id="8" idx="3"/>
            <a:endCxn id="9" idx="1"/>
          </p:cNvCxnSpPr>
          <p:nvPr/>
        </p:nvCxnSpPr>
        <p:spPr>
          <a:xfrm>
            <a:off x="9067800" y="2119313"/>
            <a:ext cx="381000" cy="0"/>
          </a:xfrm>
          <a:prstGeom prst="straightConnector1">
            <a:avLst/>
          </a:prstGeom>
          <a:ln w="12383">
            <a:solidFill>
              <a:srgbClr val="666666"/>
            </a:solidFill>
            <a:prstDash val="solid"/>
            <a:tailEnd type="arrow" w="sm" len="sm"/>
          </a:ln>
        </p:spPr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AA1CFA-165F-4DBD-B235-BF1D947FD34C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첫 결과에서 부족한 점을 찾으면 다시 선행연구와 연구 질문을 확인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A14E447E-9E5F-4CC1-B8D2-3B096881CD28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0820400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714933-275B-408A-9300-D8E2D53C6646}"/>
              </a:ext>
            </a:extLst>
          </p:cNvPr>
          <p:cNvSpPr>
            <a:spLocks noGrp="1"/>
          </p:cNvSpPr>
          <p:nvPr/>
        </p:nvSpPr>
        <p:spPr>
          <a:xfrm>
            <a:off x="685800" y="402907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222222"/>
                </a:solidFill>
                <a:latin typeface="Pretendard Medium"/>
                <a:ea typeface="Pretendard Medium"/>
                <a:cs typeface="Pretendard Medium"/>
              </a:rPr>
              <a:t>이 계획에서 아직 정하지 못한 것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FC0D42-28CB-4500-BD55-7E14EBD89E45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0820400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03200" indent="-127000" algn="l">
              <a:lnSpc>
                <a:spcPct val="107000"/>
              </a:lnSpc>
              <a:spcAft>
                <a:spcPts val="900"/>
              </a:spcAft>
              <a:buNone/>
              <a:defRPr sz="1388" b="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데이터: </a:t>
            </a:r>
            <a:r>
              <a:rPr sz="1388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사용할 서울시 노선, 기간, GTFS와 BIS의 연결 기준</a:t>
            </a:r>
          </a:p>
          <a:p>
            <a:pPr marL="203200" indent="-127000" algn="l">
              <a:lnSpc>
                <a:spcPct val="107000"/>
              </a:lnSpc>
              <a:spcAft>
                <a:spcPts val="900"/>
              </a:spcAft>
              <a:buNone/>
              <a:defRPr sz="1388" b="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시뮬레이션: </a:t>
            </a:r>
            <a:r>
              <a:rPr sz="1388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어느 수준의 실제 운행과 배터리 사용량을 반영할지</a:t>
            </a:r>
          </a:p>
          <a:p>
            <a:pPr marL="203200" indent="-127000" algn="l">
              <a:lnSpc>
                <a:spcPct val="107000"/>
              </a:lnSpc>
              <a:spcAft>
                <a:spcPts val="900"/>
              </a:spcAft>
              <a:buNone/>
              <a:defRPr sz="1388" b="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알고리즘: </a:t>
            </a:r>
            <a:r>
              <a:rPr sz="1388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단순 충전 규칙부터 비교할지, 처음부터 최적화 문제로 만들지</a:t>
            </a:r>
          </a:p>
          <a:p>
            <a:pPr marL="203200" indent="-127000" algn="l">
              <a:lnSpc>
                <a:spcPct val="107000"/>
              </a:lnSpc>
              <a:spcAft>
                <a:spcPts val="900"/>
              </a:spcAft>
              <a:buNone/>
              <a:defRPr sz="1388" b="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연구 범위: </a:t>
            </a:r>
            <a:r>
              <a:rPr sz="1388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충전시설·충전 방법·운영 방법을 모두 볼지 우선순위를 정할지</a:t>
            </a:r>
          </a:p>
        </p:txBody>
      </p:sp>
    </p:spTree>
    <p:extLst>
      <p:ext uri="{BB962C8B-B14F-4D97-AF65-F5344CB8AC3E}">
        <p14:creationId xmlns:p14="http://schemas.microsoft.com/office/powerpoint/2010/main" val="8781139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</Words>
  <Application>Microsoft Macintosh PowerPoint</Application>
  <DocSecurity>0</DocSecurity>
  <PresentationFormat>와이드스크린</PresentationFormat>
  <Paragraphs>78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Pretendard</vt:lpstr>
      <vt:lpstr>Pretendard Medium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주원 김</cp:lastModifiedBy>
  <cp:revision>1</cp:revision>
  <dcterms:created xsi:type="dcterms:W3CDTF">2026-10-07T10:38:51Z</dcterms:created>
  <dcterms:modified xsi:type="dcterms:W3CDTF">2026-10-08T02:07:16Z</dcterms:modified>
</cp:coreProperties>
</file>