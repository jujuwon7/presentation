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31974fa58e4864" /><Relationship Type="http://schemas.openxmlformats.org/officeDocument/2006/relationships/extended-properties" Target="/docProps/app.xml" Id="R7ef4318ae0fd4718" /><Relationship Type="http://schemas.openxmlformats.org/officeDocument/2006/relationships/officeDocument" Target="/ppt/presentation.xml" Id="Re4677bc1f4314523" /></Relationships>
</file>

<file path=ppt/presentation.xml><?xml version="1.0" encoding="utf-8"?>
<p:presentation xmlns:p="http://schemas.openxmlformats.org/presentationml/2006/main">
  <p:sldMasterIdLst>
    <p:sldMasterId xmlns:r="http://schemas.openxmlformats.org/officeDocument/2006/relationships" id="2147483648" r:id="R25c05f25ec044604"/>
  </p:sldMasterIdLst>
  <p:notesMasterIdLst>
    <p:notesMasterId xmlns:r="http://schemas.openxmlformats.org/officeDocument/2006/relationships" r:id="Re09414a2c6b346f1"/>
  </p:notesMasterIdLst>
  <p:sldIdLst>
    <p:sldId xmlns:r="http://schemas.openxmlformats.org/officeDocument/2006/relationships" id="256" r:id="Rce0fc4857c194be8"/>
    <p:sldId xmlns:r="http://schemas.openxmlformats.org/officeDocument/2006/relationships" id="257" r:id="Rf0a29acb7c86436c"/>
    <p:sldId xmlns:r="http://schemas.openxmlformats.org/officeDocument/2006/relationships" id="258" r:id="R819149b6c7424c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52a86ce0aa46d5" /><Relationship Type="http://schemas.openxmlformats.org/officeDocument/2006/relationships/slideMaster" Target="/ppt/slideMasters/slideMaster1.xml" Id="R25c05f25ec044604" /><Relationship Type="http://schemas.openxmlformats.org/officeDocument/2006/relationships/notesMaster" Target="/ppt/notesMasters/notesMaster1.xml" Id="Re09414a2c6b346f1" /><Relationship Type="http://schemas.openxmlformats.org/officeDocument/2006/relationships/presProps" Target="/ppt/presProps.xml" Id="R8b8ceafa603f4164" /><Relationship Type="http://schemas.openxmlformats.org/officeDocument/2006/relationships/tableStyles" Target="/ppt/tableStyles.xml" Id="Rbcb7b84ec4f94a2d" /><Relationship Type="http://schemas.openxmlformats.org/officeDocument/2006/relationships/slide" Target="/ppt/slides/slide1.xml" Id="Rce0fc4857c194be8" /><Relationship Type="http://schemas.openxmlformats.org/officeDocument/2006/relationships/slide" Target="/ppt/slides/slide2.xml" Id="Rf0a29acb7c86436c" /><Relationship Type="http://schemas.openxmlformats.org/officeDocument/2006/relationships/slide" Target="/ppt/slides/slide3.xml" Id="R819149b6c7424c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709ed73d864b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721bfc0ef040c7" /><Relationship Type="http://schemas.openxmlformats.org/officeDocument/2006/relationships/notesMaster" Target="/ppt/notesMasters/notesMaster1.xml" Id="Rfb06a52e7c7c40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b38842a1a84cca" /><Relationship Type="http://schemas.openxmlformats.org/officeDocument/2006/relationships/notesMaster" Target="/ppt/notesMasters/notesMaster1.xml" Id="R3d162c4f7e124f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8262a13bf847ac" /><Relationship Type="http://schemas.openxmlformats.org/officeDocument/2006/relationships/notesMaster" Target="/ppt/notesMasters/notesMaster1.xml" Id="R869a7e21ed8442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멘트]</a:t>
            </a:r>
          </a:p>
          <a:p xmlns:a="http://schemas.openxmlformats.org/drawingml/2006/main">
            <a:r>
              <a:t>Wang et al.은 같은 차량이 연속으로 수행하는 두 운행을 trip-pair로 묶고, 그 사이의 trip-interval을 충전 가능시간으로 사용합니다. 충전소까지 이동하고 기다린 뒤 충전하고 다음 운행에 돌아올 수 있는 경우만 충전 후보가 됩니다.</a:t>
            </a:r>
          </a:p>
          <a:p xmlns:a="http://schemas.openxmlformats.org/drawingml/2006/main">
            <a:r>
              <a:t>Fig. 3은 하나의 trip-interval 안에서 가능한 충전 시작시점을 보여줍니다. Fig. 6은 공유 충전기에서 활동이 겹치지 않도록 시작시점을 배정한 결과입니다. 이때 논문의 대기시간은 충전소 도착부터 충전 시작까지의 시간이지만, 다음 운행의 출발 지연은 허용하지 않습니다.</a:t>
            </a:r>
          </a:p>
          <a:p xmlns:a="http://schemas.openxmlformats.org/drawingml/2006/main">
            <a:r>
              <a:t>제 연구에서는 충전기 부족으로 대기가 trip-interval을 넘어서는 조건과 그 결과 발생하는 실제 출발 지연, 이후 운행으로의 지연 전파를 DTUMOS에서 계산합니다.</a:t>
            </a:r>
          </a:p>
          <a:p xmlns:a="http://schemas.openxmlformats.org/drawingml/2006/main">
            <a:r>
              <a:t>[출처] Wang, Y., Huang, Y., Xu, J., &amp; Barclay, N. (2017). Optimal recharging scheduling for urban electric buses: A case study in Davis. Transportation Research Part E, 100, 115–132. Fig. 3, Fig. 6, pp. 120–125.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 설명]</a:t>
            </a:r>
          </a:p>
          <a:p xmlns:a="http://schemas.openxmlformats.org/drawingml/2006/main">
            <a:r>
              <a:t>- Wang은 다음 운행에 지장이 없는 충전 후보만 생성하므로 실제 출발 지연을 결과로 보여주지 않는다.</a:t>
            </a:r>
          </a:p>
          <a:p xmlns:a="http://schemas.openxmlformats.org/drawingml/2006/main">
            <a:r>
              <a:t>- 충전 대기시간도 예정된 회차시간 안에서 발생하면 실제 서비스 지연이 아니다.</a:t>
            </a:r>
          </a:p>
          <a:p xmlns:a="http://schemas.openxmlformats.org/drawingml/2006/main">
            <a:r>
              <a:t>- 본 연구는 충전기 부족과 충전 집중이 실제 출발 지연으로 이어지는 조건을 분석한다.</a:t>
            </a:r>
          </a:p>
          <a:p xmlns:a="http://schemas.openxmlformats.org/drawingml/2006/main">
            <a:r>
              <a:t>- 핵심 평가지표는 충전 대기시간, 정시 출발률과 이후 운행의 지연 전파다.</a:t>
            </a:r>
          </a:p>
          <a:p xmlns:a="http://schemas.openxmlformats.org/drawingml/2006/main">
            <a:r>
              <a:t>[정확한 구분] Wang은 운행시간표를 확정적 제약으로 고려했지만, 실제 운행지연과 지연 전파는 시뮬레이션하지 않았다.</a:t>
            </a:r>
          </a:p>
          <a:p xmlns:a="http://schemas.openxmlformats.org/drawingml/2006/main">
            <a:r>
              <a:t>[출처] Wang et al. (2017), Transportation Research Part E, 100, 115–132. DTUMOS 확장 방향은 발표자 연구구상.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멘트]</a:t>
            </a:r>
          </a:p>
          <a:p xmlns:a="http://schemas.openxmlformats.org/drawingml/2006/main">
            <a:r>
              <a:t>DTUMOS에는 도로 링크 기반 경로 탐색과 LinkETA 예측 통행시간을 배차비용으로 사용하는 흐름을 구현했습니다. 라우터가 링크 ID를 반환하면 LinkETA가 링크별 시간을 계산하고, 이를 경로 단위로 합산해 차량과 승객의 ETA 행렬을 만듭니다. 배차와 실제 이동 이벤트, trip별 ETA는 결과로 저장하고 프런트엔드에서 재생할 수 있습니다.</a:t>
            </a:r>
          </a:p>
          <a:p xmlns:a="http://schemas.openxmlformats.org/drawingml/2006/main">
            <a:r>
              <a:t>한국 사례를 보기 위해 VWorld 배경지도, 한글 UI, 관심지점 CSV 레이어도 추가했습니다. 이 기반은 GTFS 예정시각과 실제 도착시각을 비교하고, 충전소까지의 공차 이동과 지연 전파를 계산하는 데 재사용할 수 있습니다.</a:t>
            </a:r>
          </a:p>
          <a:p xmlns:a="http://schemas.openxmlformats.org/drawingml/2006/main">
            <a:r>
              <a:t>다만 충전소, 충전기 점유상태와 대기행렬은 아직 구현 완료로 표현하지 않습니다. 다음 단계에서는 각 충전기의 사용 종료시각을 추적하고, 충전 완료가 예정 출발시각을 넘으면 출발 지연으로 기록해 다음 운행에 전달합니다. SOC는 충전 필요 여부를 결정하는 상태로만 사용합니다.</a:t>
            </a:r>
          </a:p>
          <a:p xmlns:a="http://schemas.openxmlformats.org/drawingml/2006/main">
            <a:r>
              <a:t>[근거 코드] src/dtumos/core/simulation.py, src/dtumos/dispatch/cost_matrix.py, src/dtumos/dispatch/dispatch_flow.py, rust/dtumos-routing, frontend/src/components/Trip.js. 로컬 커밋 f0a7db9a 및 미커밋 프런트엔드 변경.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cf7de3e05f46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114642873447a8" /><Relationship Type="http://schemas.openxmlformats.org/officeDocument/2006/relationships/slideLayout" Target="/ppt/slideLayouts/slideLayout1.xml" Id="R8ec42eba83bb48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c42eba83bb48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b29c2ceef84249" /><Relationship Type="http://schemas.openxmlformats.org/officeDocument/2006/relationships/image" Target="/ppt/media/image.png" Id="Rda1a34262cdb4f5d" /><Relationship Type="http://schemas.openxmlformats.org/officeDocument/2006/relationships/image" Target="/ppt/media/image2.png" Id="R45348078fa3340cf" /><Relationship Type="http://schemas.openxmlformats.org/officeDocument/2006/relationships/notesSlide" Target="/ppt/notesSlides/notesSlide1.xml" Id="Ree755bbcdbbb4a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1bf8d70ce14d3a" /><Relationship Type="http://schemas.openxmlformats.org/officeDocument/2006/relationships/notesSlide" Target="/ppt/notesSlides/notesSlide2.xml" Id="R9a872cd2deca41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fbe9a713f14bbf" /><Relationship Type="http://schemas.openxmlformats.org/officeDocument/2006/relationships/notesSlide" Target="/ppt/notesSlides/notesSlide3.xml" Id="Rb0a59f87bfb147e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2B17539-E2B4-4F24-911D-33EB48FE3DF4}"/>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13" b="1">
                <a:solidFill>
                  <a:srgbClr val="000000"/>
                </a:solidFill>
                <a:latin typeface="Pretendard Medium"/>
                <a:ea typeface="Pretendard Medium"/>
                <a:cs typeface="Pretendard Medium"/>
              </a:defRPr>
            </a:pPr>
            <a:r>
              <a:rPr sz="2213" b="1">
                <a:solidFill>
                  <a:srgbClr val="000000"/>
                </a:solidFill>
                <a:latin typeface="Pretendard Medium"/>
                <a:ea typeface="Pretendard Medium"/>
                <a:cs typeface="Pretendard Medium"/>
              </a:rPr>
              <a:t>1. Wang et al. (2017): trip-interval 기반 공유 충전기 스케줄링</a:t>
            </a:r>
          </a:p>
        </p:txBody>
      </p:sp>
      <p:sp>
        <p:nvSpPr>
          <p:cNvPr id="2" name="">
            <a:extLst xmlns:a="http://schemas.openxmlformats.org/drawingml/2006/main">
              <a:ext uri="{FF2B5EF4-FFF2-40B4-BE49-F238E27FC236}">
                <a16:creationId xmlns:a16="http://schemas.microsoft.com/office/drawing/2014/main" id="{A9140C10-2E71-4606-84C4-BC531E9B7097}"/>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defRPr sz="1125">
                <a:solidFill>
                  <a:srgbClr val="222222"/>
                </a:solidFill>
                <a:latin typeface="Pretendard"/>
                <a:ea typeface="Pretendard"/>
                <a:cs typeface="Pretendard"/>
              </a:defRPr>
            </a:pPr>
            <a:r>
              <a:rPr sz="1125">
                <a:solidFill>
                  <a:srgbClr val="222222"/>
                </a:solidFill>
                <a:latin typeface="Pretendard"/>
                <a:ea typeface="Pretendard"/>
                <a:cs typeface="Pretendard"/>
              </a:rPr>
              <a:t>1. Wang et al. (2017)</a:t>
            </a:r>
          </a:p>
        </p:txBody>
      </p:sp>
      <p:sp>
        <p:nvSpPr>
          <p:cNvPr id="3" name="">
            <a:extLst xmlns:a="http://schemas.openxmlformats.org/drawingml/2006/main">
              <a:ext uri="{FF2B5EF4-FFF2-40B4-BE49-F238E27FC236}">
                <a16:creationId xmlns:a16="http://schemas.microsoft.com/office/drawing/2014/main" id="{B245B9F2-5985-453D-98A4-BB986DFF15C1}"/>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Wang et al. (2017), Transportation Research Part E, 100, 115–132.</a:t>
            </a:r>
          </a:p>
        </p:txBody>
      </p:sp>
      <p:sp>
        <p:nvSpPr>
          <p:cNvPr id="4" name="">
            <a:extLst xmlns:a="http://schemas.openxmlformats.org/drawingml/2006/main">
              <a:ext uri="{FF2B5EF4-FFF2-40B4-BE49-F238E27FC236}">
                <a16:creationId xmlns:a16="http://schemas.microsoft.com/office/drawing/2014/main" id="{80522AD7-ADED-4D9D-A2FC-9D3A2DFB6A44}"/>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1</a:t>
            </a:r>
          </a:p>
        </p:txBody>
      </p:sp>
      <p:sp>
        <p:nvSpPr>
          <p:cNvPr id="5" name="">
            <a:extLst xmlns:a="http://schemas.openxmlformats.org/drawingml/2006/main">
              <a:ext uri="{FF2B5EF4-FFF2-40B4-BE49-F238E27FC236}">
                <a16:creationId xmlns:a16="http://schemas.microsoft.com/office/drawing/2014/main" id="{43B3F216-186F-46FF-9350-0FBD35480A1E}"/>
              </a:ext>
            </a:extLst>
          </p:cNvPr>
          <p:cNvSpPr>
            <a:spLocks xmlns:a="http://schemas.openxmlformats.org/drawingml/2006/main" noGrp="1"/>
          </p:cNvSpPr>
          <p:nvPr/>
        </p:nvSpPr>
        <p:spPr>
          <a:xfrm xmlns:a="http://schemas.openxmlformats.org/drawingml/2006/main">
            <a:off x="685800" y="13049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운행시간표와 충전 가능시간</a:t>
            </a:r>
          </a:p>
        </p:txBody>
      </p:sp>
      <p:sp>
        <p:nvSpPr>
          <p:cNvPr id="6" name="">
            <a:extLst xmlns:a="http://schemas.openxmlformats.org/drawingml/2006/main">
              <a:ext uri="{FF2B5EF4-FFF2-40B4-BE49-F238E27FC236}">
                <a16:creationId xmlns:a16="http://schemas.microsoft.com/office/drawing/2014/main" id="{3909736E-47FD-4492-9274-9C3D979F40D5}"/>
              </a:ext>
            </a:extLst>
          </p:cNvPr>
          <p:cNvSpPr>
            <a:spLocks xmlns:a="http://schemas.openxmlformats.org/drawingml/2006/main" noGrp="1"/>
          </p:cNvSpPr>
          <p:nvPr/>
        </p:nvSpPr>
        <p:spPr>
          <a:xfrm xmlns:a="http://schemas.openxmlformats.org/drawingml/2006/main">
            <a:off x="685800" y="1619250"/>
            <a:ext cx="4038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trip-pair: </a:t>
            </a:r>
            <a:r>
              <a:rPr sz="1275">
                <a:solidFill>
                  <a:srgbClr val="222222"/>
                </a:solidFill>
                <a:latin typeface="Pretendard"/>
                <a:ea typeface="Pretendard"/>
                <a:cs typeface="Pretendard"/>
              </a:rPr>
              <a:t>같은 차량이 연속으로 수행하는 두 운행</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trip-interval: </a:t>
            </a:r>
            <a:r>
              <a:rPr sz="1275">
                <a:solidFill>
                  <a:srgbClr val="222222"/>
                </a:solidFill>
                <a:latin typeface="Pretendard"/>
                <a:ea typeface="Pretendard"/>
                <a:cs typeface="Pretendard"/>
              </a:rPr>
              <a:t>앞 운행 종료부터 다음 운행 시작까지의 회차시간</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충전 후보: </a:t>
            </a:r>
            <a:r>
              <a:rPr sz="1275">
                <a:solidFill>
                  <a:srgbClr val="222222"/>
                </a:solidFill>
                <a:latin typeface="Pretendard"/>
                <a:ea typeface="Pretendard"/>
                <a:cs typeface="Pretendard"/>
              </a:rPr>
              <a:t>충전소 이동·대기·충전 후 다음 운행에 복귀할 수 있는 경우만 생성</a:t>
            </a:r>
          </a:p>
        </p:txBody>
      </p:sp>
      <p:sp>
        <p:nvSpPr>
          <p:cNvPr id="7" name="">
            <a:extLst xmlns:a="http://schemas.openxmlformats.org/drawingml/2006/main">
              <a:ext uri="{FF2B5EF4-FFF2-40B4-BE49-F238E27FC236}">
                <a16:creationId xmlns:a16="http://schemas.microsoft.com/office/drawing/2014/main" id="{B9B960AF-DD1A-4273-9CD4-9CF0E7F91C13}"/>
              </a:ext>
            </a:extLst>
          </p:cNvPr>
          <p:cNvSpPr>
            <a:spLocks xmlns:a="http://schemas.openxmlformats.org/drawingml/2006/main" noGrp="1"/>
          </p:cNvSpPr>
          <p:nvPr/>
        </p:nvSpPr>
        <p:spPr>
          <a:xfrm xmlns:a="http://schemas.openxmlformats.org/drawingml/2006/main">
            <a:off x="685800" y="29527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공유 충전기와 충돌 처리</a:t>
            </a:r>
          </a:p>
        </p:txBody>
      </p:sp>
      <p:sp>
        <p:nvSpPr>
          <p:cNvPr id="8" name="">
            <a:extLst xmlns:a="http://schemas.openxmlformats.org/drawingml/2006/main">
              <a:ext uri="{FF2B5EF4-FFF2-40B4-BE49-F238E27FC236}">
                <a16:creationId xmlns:a16="http://schemas.microsoft.com/office/drawing/2014/main" id="{AF1AD1C6-7653-4C0C-8A7B-AD62EBFD9B59}"/>
              </a:ext>
            </a:extLst>
          </p:cNvPr>
          <p:cNvSpPr>
            <a:spLocks xmlns:a="http://schemas.openxmlformats.org/drawingml/2006/main" noGrp="1"/>
          </p:cNvSpPr>
          <p:nvPr/>
        </p:nvSpPr>
        <p:spPr>
          <a:xfrm xmlns:a="http://schemas.openxmlformats.org/drawingml/2006/main">
            <a:off x="685800" y="3267075"/>
            <a:ext cx="4038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점유 제약: </a:t>
            </a:r>
            <a:r>
              <a:rPr sz="1275">
                <a:solidFill>
                  <a:srgbClr val="222222"/>
                </a:solidFill>
                <a:latin typeface="Pretendard"/>
                <a:ea typeface="Pretendard"/>
                <a:cs typeface="Pretendard"/>
              </a:rPr>
              <a:t>충전기 한 대는 같은 시간에 버스 한 대만 사용</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충돌 해소: </a:t>
            </a:r>
            <a:r>
              <a:rPr sz="1275">
                <a:solidFill>
                  <a:srgbClr val="222222"/>
                </a:solidFill>
                <a:latin typeface="Pretendard"/>
                <a:ea typeface="Pretendard"/>
                <a:cs typeface="Pretendard"/>
              </a:rPr>
              <a:t>충전 시작시점을 뒤로 옮겨 겹침을 제거</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대기시간: </a:t>
            </a:r>
            <a:r>
              <a:rPr sz="1275">
                <a:solidFill>
                  <a:srgbClr val="222222"/>
                </a:solidFill>
                <a:latin typeface="Pretendard"/>
                <a:ea typeface="Pretendard"/>
                <a:cs typeface="Pretendard"/>
              </a:rPr>
              <a:t>충전소 도착 후 실제 충전 시작까지의 시간</a:t>
            </a:r>
          </a:p>
        </p:txBody>
      </p:sp>
      <p:sp>
        <p:nvSpPr>
          <p:cNvPr id="9" name="">
            <a:extLst xmlns:a="http://schemas.openxmlformats.org/drawingml/2006/main">
              <a:ext uri="{FF2B5EF4-FFF2-40B4-BE49-F238E27FC236}">
                <a16:creationId xmlns:a16="http://schemas.microsoft.com/office/drawing/2014/main" id="{A00CC5EA-32FA-447D-9330-F303CA3E5C4E}"/>
              </a:ext>
            </a:extLst>
          </p:cNvPr>
          <p:cNvSpPr>
            <a:spLocks xmlns:a="http://schemas.openxmlformats.org/drawingml/2006/main" noGrp="1"/>
          </p:cNvSpPr>
          <p:nvPr/>
        </p:nvSpPr>
        <p:spPr>
          <a:xfrm xmlns:a="http://schemas.openxmlformats.org/drawingml/2006/main">
            <a:off x="685800" y="4591050"/>
            <a:ext cx="4038600" cy="57150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lIns="114300" tIns="19050" rIns="95250" bIns="19050" anchor="ctr">
            <a:noAutofit/>
          </a:bodyPr>
          <a:lstStyle xmlns:a="http://schemas.openxmlformats.org/drawingml/2006/main"/>
          <a:p xmlns:a="http://schemas.openxmlformats.org/drawingml/2006/main">
            <a:pPr>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중요한 구분</a:t>
            </a:r>
            <a:r>
              <a:rPr sz="1200">
                <a:solidFill>
                  <a:srgbClr val="222222"/>
                </a:solidFill>
                <a:latin typeface="Pretendard"/>
                <a:ea typeface="Pretendard"/>
                <a:cs typeface="Pretendard"/>
              </a:rPr>
              <a:t>  Wang의 충전 대기는 trip-interval 안에서 발생한다. 다음 운행의 출발 지연은 허용하지 않는다.</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a1a34262cdb4f5d"/>
          <a:stretch xmlns:a="http://schemas.openxmlformats.org/drawingml/2006/main"/>
        </p:blipFill>
        <p:spPr>
          <a:xfrm xmlns:a="http://schemas.openxmlformats.org/drawingml/2006/main">
            <a:off x="6502714" y="1257300"/>
            <a:ext cx="3520446" cy="1619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DB66CF8-F3D6-411A-9DB1-F7984F1DAB75}"/>
              </a:ext>
            </a:extLst>
          </p:cNvPr>
          <p:cNvSpPr>
            <a:spLocks xmlns:a="http://schemas.openxmlformats.org/drawingml/2006/main" noGrp="1"/>
          </p:cNvSpPr>
          <p:nvPr/>
        </p:nvSpPr>
        <p:spPr>
          <a:xfrm xmlns:a="http://schemas.openxmlformats.org/drawingml/2006/main">
            <a:off x="5095875" y="28956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013" b="0">
                <a:solidFill>
                  <a:srgbClr val="666666"/>
                </a:solidFill>
                <a:latin typeface="Pretendard"/>
                <a:ea typeface="Pretendard"/>
                <a:cs typeface="Pretendard"/>
              </a:defRPr>
            </a:pPr>
            <a:r>
              <a:rPr sz="1013" b="0">
                <a:solidFill>
                  <a:srgbClr val="666666"/>
                </a:solidFill>
                <a:latin typeface="Pretendard"/>
                <a:ea typeface="Pretendard"/>
                <a:cs typeface="Pretendard"/>
              </a:rPr>
              <a:t>Fig. 3  연속 운행 사이의 회차시간을 충전 가능시간으로 변환</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5348078fa3340cf"/>
          <a:stretch xmlns:a="http://schemas.openxmlformats.org/drawingml/2006/main"/>
        </p:blipFill>
        <p:spPr>
          <a:xfrm xmlns:a="http://schemas.openxmlformats.org/drawingml/2006/main">
            <a:off x="6305352" y="3143250"/>
            <a:ext cx="3915172" cy="1905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633A434-707E-4D15-B39A-42082AA9EF77}"/>
              </a:ext>
            </a:extLst>
          </p:cNvPr>
          <p:cNvSpPr>
            <a:spLocks xmlns:a="http://schemas.openxmlformats.org/drawingml/2006/main" noGrp="1"/>
          </p:cNvSpPr>
          <p:nvPr/>
        </p:nvSpPr>
        <p:spPr>
          <a:xfrm xmlns:a="http://schemas.openxmlformats.org/drawingml/2006/main">
            <a:off x="5095875" y="5010150"/>
            <a:ext cx="6334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013" b="0">
                <a:solidFill>
                  <a:srgbClr val="666666"/>
                </a:solidFill>
                <a:latin typeface="Pretendard"/>
                <a:ea typeface="Pretendard"/>
                <a:cs typeface="Pretendard"/>
              </a:defRPr>
            </a:pPr>
            <a:r>
              <a:rPr sz="1013" b="0">
                <a:solidFill>
                  <a:srgbClr val="666666"/>
                </a:solidFill>
                <a:latin typeface="Pretendard"/>
                <a:ea typeface="Pretendard"/>
                <a:cs typeface="Pretendard"/>
              </a:rPr>
              <a:t>Fig. 6  공유 충전기의 시간대별 차량 배정 결과</a:t>
            </a:r>
          </a:p>
        </p:txBody>
      </p:sp>
      <p:sp>
        <p:nvSpPr>
          <p:cNvPr id="14" name="">
            <a:extLst xmlns:a="http://schemas.openxmlformats.org/drawingml/2006/main">
              <a:ext uri="{FF2B5EF4-FFF2-40B4-BE49-F238E27FC236}">
                <a16:creationId xmlns:a16="http://schemas.microsoft.com/office/drawing/2014/main" id="{D1385C6D-456E-4DE5-BF4C-3F8A7A13AD89}"/>
              </a:ext>
            </a:extLst>
          </p:cNvPr>
          <p:cNvSpPr>
            <a:spLocks xmlns:a="http://schemas.openxmlformats.org/drawingml/2006/main" noGrp="1"/>
          </p:cNvSpPr>
          <p:nvPr/>
        </p:nvSpPr>
        <p:spPr>
          <a:xfrm xmlns:a="http://schemas.openxmlformats.org/drawingml/2006/main">
            <a:off x="685800" y="5305425"/>
            <a:ext cx="10820400" cy="0"/>
          </a:xfrm>
          <a:prstGeom xmlns:a="http://schemas.openxmlformats.org/drawingml/2006/main" prst="line">
            <a:avLst/>
          </a:prstGeom>
          <a:noFill xmlns:a="http://schemas.openxmlformats.org/drawingml/2006/main"/>
          <a:ln xmlns:a="http://schemas.openxmlformats.org/drawingml/2006/main" w="9525">
            <a:solidFill>
              <a:srgbClr val="B8B8B8"/>
            </a:solidFill>
            <a:prstDash val="solid"/>
          </a:ln>
        </p:spPr>
      </p:sp>
      <p:sp>
        <p:nvSpPr>
          <p:cNvPr id="15" name="">
            <a:extLst xmlns:a="http://schemas.openxmlformats.org/drawingml/2006/main">
              <a:ext uri="{FF2B5EF4-FFF2-40B4-BE49-F238E27FC236}">
                <a16:creationId xmlns:a16="http://schemas.microsoft.com/office/drawing/2014/main" id="{AAC6522E-58C5-4401-AED8-17E6AE3E6C70}"/>
              </a:ext>
            </a:extLst>
          </p:cNvPr>
          <p:cNvSpPr>
            <a:spLocks xmlns:a="http://schemas.openxmlformats.org/drawingml/2006/main" noGrp="1"/>
          </p:cNvSpPr>
          <p:nvPr/>
        </p:nvSpPr>
        <p:spPr>
          <a:xfrm xmlns:a="http://schemas.openxmlformats.org/drawingml/2006/main">
            <a:off x="685800" y="54102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350" b="0">
                <a:solidFill>
                  <a:srgbClr val="222222"/>
                </a:solidFill>
                <a:latin typeface="Pretendard"/>
                <a:ea typeface="Pretendard"/>
                <a:cs typeface="Pretendard"/>
              </a:defRPr>
            </a:pPr>
            <a:r>
              <a:rPr sz="1350" b="1">
                <a:solidFill>
                  <a:srgbClr val="222222"/>
                </a:solidFill>
                <a:latin typeface="Pretendard"/>
                <a:ea typeface="Pretendard"/>
                <a:cs typeface="Pretendard"/>
              </a:rPr>
              <a:t>논문의 핵심  </a:t>
            </a:r>
            <a:r>
              <a:rPr sz="1350">
                <a:solidFill>
                  <a:srgbClr val="222222"/>
                </a:solidFill>
                <a:latin typeface="Pretendard"/>
                <a:ea typeface="Pretendard"/>
                <a:cs typeface="Pretendard"/>
              </a:rPr>
              <a:t>회차시간을 충전 가능시간으로 바꾸고, 공유 충전기의 시간 충돌을 제거한다.</a:t>
            </a:r>
          </a:p>
        </p:txBody>
      </p:sp>
      <p:sp>
        <p:nvSpPr>
          <p:cNvPr id="16" name="">
            <a:extLst xmlns:a="http://schemas.openxmlformats.org/drawingml/2006/main">
              <a:ext uri="{FF2B5EF4-FFF2-40B4-BE49-F238E27FC236}">
                <a16:creationId xmlns:a16="http://schemas.microsoft.com/office/drawing/2014/main" id="{C2FCC654-3493-4D4E-B02A-5ECF4A1AAFC9}"/>
              </a:ext>
            </a:extLst>
          </p:cNvPr>
          <p:cNvSpPr>
            <a:spLocks xmlns:a="http://schemas.openxmlformats.org/drawingml/2006/main" noGrp="1"/>
          </p:cNvSpPr>
          <p:nvPr/>
        </p:nvSpPr>
        <p:spPr>
          <a:xfrm xmlns:a="http://schemas.openxmlformats.org/drawingml/2006/main">
            <a:off x="685800" y="576262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000000"/>
                </a:solidFill>
                <a:latin typeface="Pretendard Medium"/>
                <a:ea typeface="Pretendard Medium"/>
                <a:cs typeface="Pretendard Medium"/>
              </a:defRPr>
            </a:pPr>
            <a:r>
              <a:rPr sz="1500" b="1">
                <a:solidFill>
                  <a:srgbClr val="000000"/>
                </a:solidFill>
                <a:latin typeface="Pretendard Medium"/>
                <a:ea typeface="Pretendard Medium"/>
                <a:cs typeface="Pretendard Medium"/>
              </a:rPr>
              <a:t>연구의 확장 지점은 충전 대기가 trip-interval을 넘을 때 발생하는 실제 출발 지연과 이후 운행의 지연 전파다.</a:t>
            </a:r>
          </a:p>
        </p:txBody>
      </p:sp>
    </p:spTree>
    <p:extLst>
      <p:ext uri="{BB962C8B-B14F-4D97-AF65-F5344CB8AC3E}">
        <p14:creationId xmlns:p14="http://schemas.microsoft.com/office/powerpoint/2010/main" val="10571149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6BCD61-A2D7-45C7-B195-ED792F27B88B}"/>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75" b="1">
                <a:solidFill>
                  <a:srgbClr val="000000"/>
                </a:solidFill>
                <a:latin typeface="Pretendard Medium"/>
                <a:ea typeface="Pretendard Medium"/>
                <a:cs typeface="Pretendard Medium"/>
              </a:defRPr>
            </a:pPr>
            <a:r>
              <a:rPr sz="2775" b="1">
                <a:solidFill>
                  <a:srgbClr val="000000"/>
                </a:solidFill>
                <a:latin typeface="Pretendard Medium"/>
                <a:ea typeface="Pretendard Medium"/>
                <a:cs typeface="Pretendard Medium"/>
              </a:rPr>
              <a:t>2. Wang 모형의 활용과 DTUMOS 확장 방향</a:t>
            </a:r>
          </a:p>
        </p:txBody>
      </p:sp>
      <p:sp>
        <p:nvSpPr>
          <p:cNvPr id="2" name="">
            <a:extLst xmlns:a="http://schemas.openxmlformats.org/drawingml/2006/main">
              <a:ext uri="{FF2B5EF4-FFF2-40B4-BE49-F238E27FC236}">
                <a16:creationId xmlns:a16="http://schemas.microsoft.com/office/drawing/2014/main" id="{3C5AE144-D02D-486E-8040-CE17931C7FDC}"/>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defRPr sz="1125">
                <a:solidFill>
                  <a:srgbClr val="222222"/>
                </a:solidFill>
                <a:latin typeface="Pretendard"/>
                <a:ea typeface="Pretendard"/>
                <a:cs typeface="Pretendard"/>
              </a:defRPr>
            </a:pPr>
            <a:r>
              <a:rPr sz="1125">
                <a:solidFill>
                  <a:srgbClr val="222222"/>
                </a:solidFill>
                <a:latin typeface="Pretendard"/>
                <a:ea typeface="Pretendard"/>
                <a:cs typeface="Pretendard"/>
              </a:rPr>
              <a:t>2. 연구 연계 및 차별점</a:t>
            </a:r>
          </a:p>
        </p:txBody>
      </p:sp>
      <p:sp>
        <p:nvSpPr>
          <p:cNvPr id="3" name="">
            <a:extLst xmlns:a="http://schemas.openxmlformats.org/drawingml/2006/main">
              <a:ext uri="{FF2B5EF4-FFF2-40B4-BE49-F238E27FC236}">
                <a16:creationId xmlns:a16="http://schemas.microsoft.com/office/drawing/2014/main" id="{B169C144-E79F-4F1E-8DCF-681F46DA5629}"/>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Wang et al. (2017); 연구 확장 방향은 DTUMOS 기반 서울시 전기버스 연구구상.</a:t>
            </a:r>
          </a:p>
        </p:txBody>
      </p:sp>
      <p:sp>
        <p:nvSpPr>
          <p:cNvPr id="4" name="">
            <a:extLst xmlns:a="http://schemas.openxmlformats.org/drawingml/2006/main">
              <a:ext uri="{FF2B5EF4-FFF2-40B4-BE49-F238E27FC236}">
                <a16:creationId xmlns:a16="http://schemas.microsoft.com/office/drawing/2014/main" id="{E6B6DC30-4AF8-4C0E-AAB0-D4BD1A83668A}"/>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2</a:t>
            </a:r>
          </a:p>
        </p:txBody>
      </p:sp>
      <p:graphicFrame>
        <p:nvGraphicFramePr>
          <p:cNvPr id="21" name=""/>
          <p:cNvGraphicFramePr/>
          <p:nvPr/>
        </p:nvGraphicFramePr>
        <p:xfrm>
          <a:off xmlns:a="http://schemas.openxmlformats.org/drawingml/2006/main" x="685800" y="1381125"/>
          <a:ext xmlns:a="http://schemas.openxmlformats.org/drawingml/2006/main" cx="10820400" cy="2571750"/>
        </p:xfrm>
        <a:graphic xmlns:a="http://schemas.openxmlformats.org/drawingml/2006/main">
          <a:graphicData uri="http://schemas.openxmlformats.org/drawingml/2006/table">
            <a:tbl>
              <a:tblPr/>
              <a:tblGrid>
                <a:gridCol w="1381125"/>
                <a:gridCol w="3857625"/>
                <a:gridCol w="5581650"/>
              </a:tblGrid>
              <a:tr h="361950">
                <a:tc>
                  <a:txBody>
                    <a:bodyPr wrap="square" lIns="76200" tIns="38100" rIns="76200" bIns="38100">
                      <a:noAutofit/>
                    </a:bodyPr>
                    <a:lstStyle/>
                    <a:p>
                      <a:pPr algn="ctr"/>
                      <a:r>
                        <a:rPr sz="1200" b="1">
                          <a:solidFill>
                            <a:srgbClr val="FFFFFF"/>
                          </a:solidFill>
                          <a:latin typeface="Pretendard Medium"/>
                          <a:ea typeface="Pretendard Medium"/>
                          <a:cs typeface="Pretendard Medium"/>
                        </a:rPr>
                        <a:t>구분</a:t>
                      </a:r>
                    </a:p>
                  </a:txBody>
                  <a:tcPr marL="91440" marR="91440" marT="45720" marB="45720" anchor="ctr">
                    <a:solidFill>
                      <a:srgbClr val="000000"/>
                    </a:solidFill>
                  </a:tcPr>
                </a:tc>
                <a:tc>
                  <a:txBody>
                    <a:bodyPr wrap="square" lIns="76200" tIns="38100" rIns="76200" bIns="38100">
                      <a:noAutofit/>
                    </a:bodyPr>
                    <a:lstStyle/>
                    <a:p>
                      <a:pPr algn="l"/>
                      <a:r>
                        <a:rPr sz="1200" b="1">
                          <a:solidFill>
                            <a:srgbClr val="FFFFFF"/>
                          </a:solidFill>
                          <a:latin typeface="Pretendard Medium"/>
                          <a:ea typeface="Pretendard Medium"/>
                          <a:cs typeface="Pretendard Medium"/>
                        </a:rPr>
                        <a:t>Wang et al. (2017)에서 활용</a:t>
                      </a:r>
                    </a:p>
                  </a:txBody>
                  <a:tcPr marL="91440" marR="91440" marT="45720" marB="45720" anchor="ctr">
                    <a:solidFill>
                      <a:srgbClr val="000000"/>
                    </a:solidFill>
                  </a:tcPr>
                </a:tc>
                <a:tc>
                  <a:txBody>
                    <a:bodyPr wrap="square" lIns="76200" tIns="38100" rIns="76200" bIns="38100">
                      <a:noAutofit/>
                    </a:bodyPr>
                    <a:lstStyle/>
                    <a:p>
                      <a:pPr algn="l"/>
                      <a:r>
                        <a:rPr sz="1200" b="1">
                          <a:solidFill>
                            <a:srgbClr val="FFFFFF"/>
                          </a:solidFill>
                          <a:latin typeface="Pretendard Medium"/>
                          <a:ea typeface="Pretendard Medium"/>
                          <a:cs typeface="Pretendard Medium"/>
                        </a:rPr>
                        <a:t>DTUMOS에서 추가</a:t>
                      </a:r>
                    </a:p>
                  </a:txBody>
                  <a:tcPr marL="91440" marR="91440" marT="45720" marB="45720" anchor="ctr">
                    <a:solidFill>
                      <a:srgbClr val="000000"/>
                    </a:solidFill>
                  </a:tcPr>
                </a:tc>
              </a:tr>
              <a:tr h="552450">
                <a:tc>
                  <a:txBody>
                    <a:bodyPr wrap="square" lIns="76200" tIns="38100" rIns="76200" bIns="38100">
                      <a:noAutofit/>
                    </a:bodyPr>
                    <a:lstStyle/>
                    <a:p>
                      <a:pPr algn="ctr"/>
                      <a:r>
                        <a:rPr sz="1215" b="1">
                          <a:solidFill>
                            <a:srgbClr val="222222"/>
                          </a:solidFill>
                          <a:latin typeface="Pretendard Medium"/>
                          <a:ea typeface="Pretendard Medium"/>
                          <a:cs typeface="Pretendard Medium"/>
                        </a:rPr>
                        <a:t>충전 가능시간</a:t>
                      </a:r>
                    </a:p>
                  </a:txBody>
                  <a:tcPr marL="91440" marR="91440" marT="45720" marB="45720" anchor="ctr">
                    <a:solidFill>
                      <a:srgbClr val="FFFFFF"/>
                    </a:solidFill>
                  </a:tcPr>
                </a:tc>
                <a:tc>
                  <a:txBody>
                    <a:bodyPr wrap="square" lIns="76200" tIns="38100" rIns="76200" bIns="38100">
                      <a:noAutofit/>
                    </a:bodyPr>
                    <a:lstStyle/>
                    <a:p>
                      <a:pPr algn="l"/>
                      <a:r>
                        <a:rPr sz="1215" b="0">
                          <a:solidFill>
                            <a:srgbClr val="666666"/>
                          </a:solidFill>
                          <a:latin typeface="Pretendard"/>
                          <a:ea typeface="Pretendard"/>
                          <a:cs typeface="Pretendard"/>
                        </a:rPr>
                        <a:t>예정된 trip-interval 안에서 충전 후보 생성</a:t>
                      </a:r>
                    </a:p>
                  </a:txBody>
                  <a:tcPr marL="91440" marR="91440" marT="45720" marB="45720" anchor="ctr">
                    <a:solidFill>
                      <a:srgbClr val="FFFFFF"/>
                    </a:solidFill>
                  </a:tcPr>
                </a:tc>
                <a:tc>
                  <a:txBody>
                    <a:bodyPr wrap="square" lIns="76200" tIns="38100" rIns="76200" bIns="38100">
                      <a:noAutofit/>
                    </a:bodyPr>
                    <a:lstStyle/>
                    <a:p>
                      <a:pPr algn="l"/>
                      <a:r>
                        <a:rPr sz="1215" b="0">
                          <a:solidFill>
                            <a:srgbClr val="222222"/>
                          </a:solidFill>
                          <a:latin typeface="Pretendard"/>
                          <a:ea typeface="Pretendard"/>
                          <a:cs typeface="Pretendard"/>
                        </a:rPr>
                        <a:t>GTFS 회차시간을 실제 도착시각에 따라 계속 갱신</a:t>
                      </a:r>
                    </a:p>
                  </a:txBody>
                  <a:tcPr marL="91440" marR="91440" marT="45720" marB="45720" anchor="ctr">
                    <a:solidFill>
                      <a:srgbClr val="FFFFFF"/>
                    </a:solidFill>
                  </a:tcPr>
                </a:tc>
              </a:tr>
              <a:tr h="552450">
                <a:tc>
                  <a:txBody>
                    <a:bodyPr wrap="square" lIns="76200" tIns="38100" rIns="76200" bIns="38100">
                      <a:noAutofit/>
                    </a:bodyPr>
                    <a:lstStyle/>
                    <a:p>
                      <a:pPr algn="ctr"/>
                      <a:r>
                        <a:rPr sz="1215" b="1">
                          <a:solidFill>
                            <a:srgbClr val="222222"/>
                          </a:solidFill>
                          <a:latin typeface="Pretendard Medium"/>
                          <a:ea typeface="Pretendard Medium"/>
                          <a:cs typeface="Pretendard Medium"/>
                        </a:rPr>
                        <a:t>충전기 공유</a:t>
                      </a:r>
                    </a:p>
                  </a:txBody>
                  <a:tcPr marL="91440" marR="91440" marT="45720" marB="45720" anchor="ctr">
                    <a:solidFill>
                      <a:srgbClr val="FFFFFF"/>
                    </a:solidFill>
                  </a:tcPr>
                </a:tc>
                <a:tc>
                  <a:txBody>
                    <a:bodyPr wrap="square" lIns="76200" tIns="38100" rIns="76200" bIns="38100">
                      <a:noAutofit/>
                    </a:bodyPr>
                    <a:lstStyle/>
                    <a:p>
                      <a:pPr algn="l"/>
                      <a:r>
                        <a:rPr sz="1215" b="0">
                          <a:solidFill>
                            <a:srgbClr val="666666"/>
                          </a:solidFill>
                          <a:latin typeface="Pretendard"/>
                          <a:ea typeface="Pretendard"/>
                          <a:cs typeface="Pretendard"/>
                        </a:rPr>
                        <a:t>동일 시간대의 충전기 중복 사용을 제약으로 차단</a:t>
                      </a:r>
                    </a:p>
                  </a:txBody>
                  <a:tcPr marL="91440" marR="91440" marT="45720" marB="45720" anchor="ctr">
                    <a:solidFill>
                      <a:srgbClr val="FFFFFF"/>
                    </a:solidFill>
                  </a:tcPr>
                </a:tc>
                <a:tc>
                  <a:txBody>
                    <a:bodyPr wrap="square" lIns="76200" tIns="38100" rIns="76200" bIns="38100">
                      <a:noAutofit/>
                    </a:bodyPr>
                    <a:lstStyle/>
                    <a:p>
                      <a:pPr algn="l"/>
                      <a:r>
                        <a:rPr sz="1215" b="0">
                          <a:solidFill>
                            <a:srgbClr val="222222"/>
                          </a:solidFill>
                          <a:latin typeface="Pretendard"/>
                          <a:ea typeface="Pretendard"/>
                          <a:cs typeface="Pretendard"/>
                        </a:rPr>
                        <a:t>도착 순서와 점유상태에 따라 실제 대기행렬 생성</a:t>
                      </a:r>
                    </a:p>
                  </a:txBody>
                  <a:tcPr marL="91440" marR="91440" marT="45720" marB="45720" anchor="ctr">
                    <a:solidFill>
                      <a:srgbClr val="FFFFFF"/>
                    </a:solidFill>
                  </a:tcPr>
                </a:tc>
              </a:tr>
              <a:tr h="552450">
                <a:tc>
                  <a:txBody>
                    <a:bodyPr wrap="square" lIns="76200" tIns="38100" rIns="76200" bIns="38100">
                      <a:noAutofit/>
                    </a:bodyPr>
                    <a:lstStyle/>
                    <a:p>
                      <a:pPr algn="ctr"/>
                      <a:r>
                        <a:rPr sz="1215" b="1">
                          <a:solidFill>
                            <a:srgbClr val="222222"/>
                          </a:solidFill>
                          <a:latin typeface="Pretendard Medium"/>
                          <a:ea typeface="Pretendard Medium"/>
                          <a:cs typeface="Pretendard Medium"/>
                        </a:rPr>
                        <a:t>충전 대기</a:t>
                      </a:r>
                    </a:p>
                  </a:txBody>
                  <a:tcPr marL="91440" marR="91440" marT="45720" marB="45720" anchor="ctr">
                    <a:solidFill>
                      <a:srgbClr val="FFFFFF"/>
                    </a:solidFill>
                  </a:tcPr>
                </a:tc>
                <a:tc>
                  <a:txBody>
                    <a:bodyPr wrap="square" lIns="76200" tIns="38100" rIns="76200" bIns="38100">
                      <a:noAutofit/>
                    </a:bodyPr>
                    <a:lstStyle/>
                    <a:p>
                      <a:pPr algn="l"/>
                      <a:r>
                        <a:rPr sz="1215" b="0">
                          <a:solidFill>
                            <a:srgbClr val="666666"/>
                          </a:solidFill>
                          <a:latin typeface="Pretendard"/>
                          <a:ea typeface="Pretendard"/>
                          <a:cs typeface="Pretendard"/>
                        </a:rPr>
                        <a:t>충전소 도착부터 충전 시작까지의 시간을 비용으로 반영</a:t>
                      </a:r>
                    </a:p>
                  </a:txBody>
                  <a:tcPr marL="91440" marR="91440" marT="45720" marB="45720" anchor="ctr">
                    <a:solidFill>
                      <a:srgbClr val="FFFFFF"/>
                    </a:solidFill>
                  </a:tcPr>
                </a:tc>
                <a:tc>
                  <a:txBody>
                    <a:bodyPr wrap="square" lIns="76200" tIns="38100" rIns="76200" bIns="38100">
                      <a:noAutofit/>
                    </a:bodyPr>
                    <a:lstStyle/>
                    <a:p>
                      <a:pPr algn="l"/>
                      <a:r>
                        <a:rPr sz="1215" b="0">
                          <a:solidFill>
                            <a:srgbClr val="222222"/>
                          </a:solidFill>
                          <a:latin typeface="Pretendard"/>
                          <a:ea typeface="Pretendard"/>
                          <a:cs typeface="Pretendard"/>
                        </a:rPr>
                        <a:t>대기시간이 남은 회차시간을 초과하는지 직접 계산</a:t>
                      </a:r>
                    </a:p>
                  </a:txBody>
                  <a:tcPr marL="91440" marR="91440" marT="45720" marB="45720" anchor="ctr">
                    <a:solidFill>
                      <a:srgbClr val="FFFFFF"/>
                    </a:solidFill>
                  </a:tcPr>
                </a:tc>
              </a:tr>
              <a:tr h="552450">
                <a:tc>
                  <a:txBody>
                    <a:bodyPr wrap="square" lIns="76200" tIns="38100" rIns="76200" bIns="38100">
                      <a:noAutofit/>
                    </a:bodyPr>
                    <a:lstStyle/>
                    <a:p>
                      <a:pPr algn="ctr"/>
                      <a:r>
                        <a:rPr sz="1215" b="1">
                          <a:solidFill>
                            <a:srgbClr val="222222"/>
                          </a:solidFill>
                          <a:latin typeface="Pretendard Medium"/>
                          <a:ea typeface="Pretendard Medium"/>
                          <a:cs typeface="Pretendard Medium"/>
                        </a:rPr>
                        <a:t>운행 지연</a:t>
                      </a:r>
                    </a:p>
                  </a:txBody>
                  <a:tcPr marL="91440" marR="91440" marT="45720" marB="45720" anchor="ctr">
                    <a:solidFill>
                      <a:srgbClr val="FFFFFF"/>
                    </a:solidFill>
                  </a:tcPr>
                </a:tc>
                <a:tc>
                  <a:txBody>
                    <a:bodyPr wrap="square" lIns="76200" tIns="38100" rIns="76200" bIns="38100">
                      <a:noAutofit/>
                    </a:bodyPr>
                    <a:lstStyle/>
                    <a:p>
                      <a:pPr algn="l"/>
                      <a:r>
                        <a:rPr sz="1215" b="0">
                          <a:solidFill>
                            <a:srgbClr val="666666"/>
                          </a:solidFill>
                          <a:latin typeface="Pretendard"/>
                          <a:ea typeface="Pretendard"/>
                          <a:cs typeface="Pretendard"/>
                        </a:rPr>
                        <a:t>다음 운행에 늦지 않는 충전활동만 선택</a:t>
                      </a:r>
                    </a:p>
                  </a:txBody>
                  <a:tcPr marL="91440" marR="91440" marT="45720" marB="45720" anchor="ctr">
                    <a:solidFill>
                      <a:srgbClr val="FFFFFF"/>
                    </a:solidFill>
                  </a:tcPr>
                </a:tc>
                <a:tc>
                  <a:txBody>
                    <a:bodyPr wrap="square" lIns="76200" tIns="38100" rIns="76200" bIns="38100">
                      <a:noAutofit/>
                    </a:bodyPr>
                    <a:lstStyle/>
                    <a:p>
                      <a:pPr algn="l"/>
                      <a:r>
                        <a:rPr sz="1215" b="0">
                          <a:solidFill>
                            <a:srgbClr val="222222"/>
                          </a:solidFill>
                          <a:latin typeface="Pretendard"/>
                          <a:ea typeface="Pretendard"/>
                          <a:cs typeface="Pretendard"/>
                        </a:rPr>
                        <a:t>출발 지연과 다음 운행으로 이어지는 지연 전파를 결과로 기록</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C0C4A7D-3986-4481-BF50-9BBBBEEE8E91}"/>
              </a:ext>
            </a:extLst>
          </p:cNvPr>
          <p:cNvSpPr>
            <a:spLocks xmlns:a="http://schemas.openxmlformats.org/drawingml/2006/main" noGrp="1"/>
          </p:cNvSpPr>
          <p:nvPr/>
        </p:nvSpPr>
        <p:spPr>
          <a:xfrm xmlns:a="http://schemas.openxmlformats.org/drawingml/2006/main">
            <a:off x="685800" y="42386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연구 흐름</a:t>
            </a:r>
          </a:p>
        </p:txBody>
      </p:sp>
      <p:sp>
        <p:nvSpPr>
          <p:cNvPr id="7" name="">
            <a:extLst xmlns:a="http://schemas.openxmlformats.org/drawingml/2006/main">
              <a:ext uri="{FF2B5EF4-FFF2-40B4-BE49-F238E27FC236}">
                <a16:creationId xmlns:a16="http://schemas.microsoft.com/office/drawing/2014/main" id="{E8A6C555-BBD7-47A8-940E-449FEA89E972}"/>
              </a:ext>
            </a:extLst>
          </p:cNvPr>
          <p:cNvSpPr>
            <a:spLocks xmlns:a="http://schemas.openxmlformats.org/drawingml/2006/main" noGrp="1"/>
          </p:cNvSpPr>
          <p:nvPr/>
        </p:nvSpPr>
        <p:spPr>
          <a:xfrm xmlns:a="http://schemas.openxmlformats.org/drawingml/2006/main">
            <a:off x="685800"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GTFS 예정 운행과</a:t>
            </a:r>
          </a:p>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실제 도착시각</a:t>
            </a:r>
          </a:p>
        </p:txBody>
      </p:sp>
      <p:sp>
        <p:nvSpPr>
          <p:cNvPr id="8" name="">
            <a:extLst xmlns:a="http://schemas.openxmlformats.org/drawingml/2006/main">
              <a:ext uri="{FF2B5EF4-FFF2-40B4-BE49-F238E27FC236}">
                <a16:creationId xmlns:a16="http://schemas.microsoft.com/office/drawing/2014/main" id="{F36D55B1-40E9-4D2A-9A80-3A70606227B5}"/>
              </a:ext>
            </a:extLst>
          </p:cNvPr>
          <p:cNvSpPr>
            <a:spLocks xmlns:a="http://schemas.openxmlformats.org/drawingml/2006/main" noGrp="1"/>
          </p:cNvSpPr>
          <p:nvPr/>
        </p:nvSpPr>
        <p:spPr>
          <a:xfrm xmlns:a="http://schemas.openxmlformats.org/drawingml/2006/main">
            <a:off x="2924175"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남은 trip-interval</a:t>
            </a:r>
          </a:p>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계산</a:t>
            </a:r>
          </a:p>
        </p:txBody>
      </p:sp>
      <p:sp>
        <p:nvSpPr>
          <p:cNvPr id="9" name="">
            <a:extLst xmlns:a="http://schemas.openxmlformats.org/drawingml/2006/main">
              <a:ext uri="{FF2B5EF4-FFF2-40B4-BE49-F238E27FC236}">
                <a16:creationId xmlns:a16="http://schemas.microsoft.com/office/drawing/2014/main" id="{EB7F5F6F-1AAA-46F8-B826-FE01EB2A9542}"/>
              </a:ext>
            </a:extLst>
          </p:cNvPr>
          <p:cNvSpPr>
            <a:spLocks xmlns:a="http://schemas.openxmlformats.org/drawingml/2006/main" noGrp="1"/>
          </p:cNvSpPr>
          <p:nvPr/>
        </p:nvSpPr>
        <p:spPr>
          <a:xfrm xmlns:a="http://schemas.openxmlformats.org/drawingml/2006/main">
            <a:off x="5162550"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충전기 점유와</a:t>
            </a:r>
          </a:p>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대기행렬</a:t>
            </a:r>
          </a:p>
        </p:txBody>
      </p:sp>
      <p:sp>
        <p:nvSpPr>
          <p:cNvPr id="10" name="">
            <a:extLst xmlns:a="http://schemas.openxmlformats.org/drawingml/2006/main">
              <a:ext uri="{FF2B5EF4-FFF2-40B4-BE49-F238E27FC236}">
                <a16:creationId xmlns:a16="http://schemas.microsoft.com/office/drawing/2014/main" id="{ACC65F04-F4E5-4BB3-B33A-E390177F3AF2}"/>
              </a:ext>
            </a:extLst>
          </p:cNvPr>
          <p:cNvSpPr>
            <a:spLocks xmlns:a="http://schemas.openxmlformats.org/drawingml/2006/main" noGrp="1"/>
          </p:cNvSpPr>
          <p:nvPr/>
        </p:nvSpPr>
        <p:spPr>
          <a:xfrm xmlns:a="http://schemas.openxmlformats.org/drawingml/2006/main">
            <a:off x="7400925"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실제 출발 지연</a:t>
            </a:r>
          </a:p>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계산</a:t>
            </a:r>
          </a:p>
        </p:txBody>
      </p:sp>
      <p:sp>
        <p:nvSpPr>
          <p:cNvPr id="11" name="">
            <a:extLst xmlns:a="http://schemas.openxmlformats.org/drawingml/2006/main">
              <a:ext uri="{FF2B5EF4-FFF2-40B4-BE49-F238E27FC236}">
                <a16:creationId xmlns:a16="http://schemas.microsoft.com/office/drawing/2014/main" id="{70406F75-0F2F-4DD7-A998-5C65C93D892A}"/>
              </a:ext>
            </a:extLst>
          </p:cNvPr>
          <p:cNvSpPr>
            <a:spLocks xmlns:a="http://schemas.openxmlformats.org/drawingml/2006/main" noGrp="1"/>
          </p:cNvSpPr>
          <p:nvPr/>
        </p:nvSpPr>
        <p:spPr>
          <a:xfrm xmlns:a="http://schemas.openxmlformats.org/drawingml/2006/main">
            <a:off x="9639300" y="4552950"/>
            <a:ext cx="1847850" cy="590550"/>
          </a:xfrm>
          <a:prstGeom xmlns:a="http://schemas.openxmlformats.org/drawingml/2006/main" prst="rect">
            <a:avLst/>
          </a:prstGeom>
          <a:solidFill xmlns:a="http://schemas.openxmlformats.org/drawingml/2006/main">
            <a:srgbClr val="F2F2F2"/>
          </a:solidFill>
          <a:ln xmlns:a="http://schemas.openxmlformats.org/drawingml/2006/main" w="15240">
            <a:solidFill>
              <a:srgbClr val="000000"/>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이후 운행의</a:t>
            </a:r>
          </a:p>
          <a:p xmlns:a="http://schemas.openxmlformats.org/drawingml/2006/main">
            <a:pPr algn="ctr">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지연 전파</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2533650"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4772025"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30" name=""/>
          <p:cNvCxnSpPr>
            <a:stCxn xmlns:a="http://schemas.openxmlformats.org/drawingml/2006/main" id="9" idx="3"/>
            <a:endCxn xmlns:a="http://schemas.openxmlformats.org/drawingml/2006/main" id="10" idx="1"/>
          </p:cNvCxnSpPr>
          <p:nvPr/>
        </p:nvCxnSpPr>
        <p:spPr>
          <a:xfrm xmlns:a="http://schemas.openxmlformats.org/drawingml/2006/main">
            <a:off x="7010400"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31" name=""/>
          <p:cNvCxnSpPr>
            <a:stCxn xmlns:a="http://schemas.openxmlformats.org/drawingml/2006/main" id="10" idx="3"/>
            <a:endCxn xmlns:a="http://schemas.openxmlformats.org/drawingml/2006/main" id="11" idx="1"/>
          </p:cNvCxnSpPr>
          <p:nvPr/>
        </p:nvCxnSpPr>
        <p:spPr>
          <a:xfrm xmlns:a="http://schemas.openxmlformats.org/drawingml/2006/main">
            <a:off x="9248775"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sp>
        <p:nvSpPr>
          <p:cNvPr id="16" name="">
            <a:extLst xmlns:a="http://schemas.openxmlformats.org/drawingml/2006/main">
              <a:ext uri="{FF2B5EF4-FFF2-40B4-BE49-F238E27FC236}">
                <a16:creationId xmlns:a16="http://schemas.microsoft.com/office/drawing/2014/main" id="{F6E66C40-0DE0-4EE4-90C2-3A3B536B5534}"/>
              </a:ext>
            </a:extLst>
          </p:cNvPr>
          <p:cNvSpPr>
            <a:spLocks xmlns:a="http://schemas.openxmlformats.org/drawingml/2006/main" noGrp="1"/>
          </p:cNvSpPr>
          <p:nvPr/>
        </p:nvSpPr>
        <p:spPr>
          <a:xfrm xmlns:a="http://schemas.openxmlformats.org/drawingml/2006/main">
            <a:off x="685800" y="5457825"/>
            <a:ext cx="10820400" cy="638175"/>
          </a:xfrm>
          <a:prstGeom xmlns:a="http://schemas.openxmlformats.org/drawingml/2006/main" prst="rect">
            <a:avLst/>
          </a:prstGeom>
          <a:solidFill xmlns:a="http://schemas.openxmlformats.org/drawingml/2006/main">
            <a:srgbClr val="F8F8F8"/>
          </a:solidFill>
          <a:ln xmlns:a="http://schemas.openxmlformats.org/drawingml/2006/main" w="0">
            <a:noFill/>
          </a:ln>
        </p:spPr>
        <p:txBody>
          <a:bodyPr xmlns:a="http://schemas.openxmlformats.org/drawingml/2006/main" lIns="152400" tIns="19050" rIns="152400" bIns="19050" anchor="ctr">
            <a:noAutofit/>
          </a:bodyPr>
          <a:lstStyle xmlns:a="http://schemas.openxmlformats.org/drawingml/2006/main"/>
          <a:p xmlns:a="http://schemas.openxmlformats.org/drawingml/2006/main">
            <a:pPr algn="ctr">
              <a:defRPr sz="1290" b="1">
                <a:solidFill>
                  <a:srgbClr val="000000"/>
                </a:solidFill>
                <a:latin typeface="Pretendard Medium"/>
                <a:ea typeface="Pretendard Medium"/>
                <a:cs typeface="Pretendard Medium"/>
              </a:defRPr>
            </a:pPr>
            <a:r>
              <a:rPr sz="1290" b="1">
                <a:solidFill>
                  <a:srgbClr val="000000"/>
                </a:solidFill>
                <a:latin typeface="Pretendard Medium"/>
                <a:ea typeface="Pretendard Medium"/>
                <a:cs typeface="Pretendard Medium"/>
              </a:rPr>
              <a:t>Wang은 운행시간표를 확정적 제약으로 두어 지연이 없는 충전계획을 찾는다. 본 연구는 공유 충전기 대기가 회차시간을 넘을 때의 출발 지연과 지연 전파를 DTUMOS에서 직접 시뮬레이션한다.</a:t>
            </a:r>
          </a:p>
        </p:txBody>
      </p:sp>
    </p:spTree>
    <p:extLst>
      <p:ext uri="{BB962C8B-B14F-4D97-AF65-F5344CB8AC3E}">
        <p14:creationId xmlns:p14="http://schemas.microsoft.com/office/powerpoint/2010/main" val="2221681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58B95F2-A947-4CFD-B640-031B46F67FDB}"/>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75" b="1">
                <a:solidFill>
                  <a:srgbClr val="000000"/>
                </a:solidFill>
                <a:latin typeface="Pretendard Medium"/>
                <a:ea typeface="Pretendard Medium"/>
                <a:cs typeface="Pretendard Medium"/>
              </a:defRPr>
            </a:pPr>
            <a:r>
              <a:rPr sz="2775" b="1">
                <a:solidFill>
                  <a:srgbClr val="000000"/>
                </a:solidFill>
                <a:latin typeface="Pretendard Medium"/>
                <a:ea typeface="Pretendard Medium"/>
                <a:cs typeface="Pretendard Medium"/>
              </a:rPr>
              <a:t>3. DTUMOS 구현 현황과 전기버스 충전 모듈의 접점</a:t>
            </a:r>
          </a:p>
        </p:txBody>
      </p:sp>
      <p:sp>
        <p:nvSpPr>
          <p:cNvPr id="2" name="">
            <a:extLst xmlns:a="http://schemas.openxmlformats.org/drawingml/2006/main">
              <a:ext uri="{FF2B5EF4-FFF2-40B4-BE49-F238E27FC236}">
                <a16:creationId xmlns:a16="http://schemas.microsoft.com/office/drawing/2014/main" id="{73C2A9B9-FCA9-42DF-9650-34C3445BD8FB}"/>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defRPr sz="1125">
                <a:solidFill>
                  <a:srgbClr val="222222"/>
                </a:solidFill>
                <a:latin typeface="Pretendard"/>
                <a:ea typeface="Pretendard"/>
                <a:cs typeface="Pretendard"/>
              </a:defRPr>
            </a:pPr>
            <a:r>
              <a:rPr sz="1125">
                <a:solidFill>
                  <a:srgbClr val="222222"/>
                </a:solidFill>
                <a:latin typeface="Pretendard"/>
                <a:ea typeface="Pretendard"/>
                <a:cs typeface="Pretendard"/>
              </a:rPr>
              <a:t>3. DTUMOS 구현 현황</a:t>
            </a:r>
          </a:p>
        </p:txBody>
      </p:sp>
      <p:sp>
        <p:nvSpPr>
          <p:cNvPr id="3" name="">
            <a:extLst xmlns:a="http://schemas.openxmlformats.org/drawingml/2006/main">
              <a:ext uri="{FF2B5EF4-FFF2-40B4-BE49-F238E27FC236}">
                <a16:creationId xmlns:a16="http://schemas.microsoft.com/office/drawing/2014/main" id="{34469B23-FF62-46FC-987B-9F279E1AFD6E}"/>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DTUMOS 로컬 구현 코드·변경이력 및 배터리 확장 설계노트 (2026.09).</a:t>
            </a:r>
          </a:p>
        </p:txBody>
      </p:sp>
      <p:sp>
        <p:nvSpPr>
          <p:cNvPr id="4" name="">
            <a:extLst xmlns:a="http://schemas.openxmlformats.org/drawingml/2006/main">
              <a:ext uri="{FF2B5EF4-FFF2-40B4-BE49-F238E27FC236}">
                <a16:creationId xmlns:a16="http://schemas.microsoft.com/office/drawing/2014/main" id="{F7D0554C-5515-4002-AF41-A3577BD71619}"/>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3</a:t>
            </a:r>
          </a:p>
        </p:txBody>
      </p:sp>
      <p:sp>
        <p:nvSpPr>
          <p:cNvPr id="5" name="">
            <a:extLst xmlns:a="http://schemas.openxmlformats.org/drawingml/2006/main">
              <a:ext uri="{FF2B5EF4-FFF2-40B4-BE49-F238E27FC236}">
                <a16:creationId xmlns:a16="http://schemas.microsoft.com/office/drawing/2014/main" id="{17972D5D-F514-463D-9A34-7C70DBABB739}"/>
              </a:ext>
            </a:extLst>
          </p:cNvPr>
          <p:cNvSpPr>
            <a:spLocks xmlns:a="http://schemas.openxmlformats.org/drawingml/2006/main" noGrp="1"/>
          </p:cNvSpPr>
          <p:nvPr/>
        </p:nvSpPr>
        <p:spPr>
          <a:xfrm xmlns:a="http://schemas.openxmlformats.org/drawingml/2006/main">
            <a:off x="685800" y="12954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0000"/>
                </a:solidFill>
                <a:latin typeface="Pretendard Medium"/>
                <a:ea typeface="Pretendard Medium"/>
                <a:cs typeface="Pretendard Medium"/>
              </a:defRPr>
            </a:pPr>
            <a:r>
              <a:rPr sz="1350" b="1">
                <a:solidFill>
                  <a:srgbClr val="000000"/>
                </a:solidFill>
                <a:latin typeface="Pretendard Medium"/>
                <a:ea typeface="Pretendard Medium"/>
                <a:cs typeface="Pretendard Medium"/>
              </a:rPr>
              <a:t>현재 구현</a:t>
            </a:r>
          </a:p>
        </p:txBody>
      </p:sp>
      <p:sp>
        <p:nvSpPr>
          <p:cNvPr id="6" name="">
            <a:extLst xmlns:a="http://schemas.openxmlformats.org/drawingml/2006/main">
              <a:ext uri="{FF2B5EF4-FFF2-40B4-BE49-F238E27FC236}">
                <a16:creationId xmlns:a16="http://schemas.microsoft.com/office/drawing/2014/main" id="{8F61B839-FE74-44A9-A139-55046101BBEC}"/>
              </a:ext>
            </a:extLst>
          </p:cNvPr>
          <p:cNvSpPr>
            <a:spLocks xmlns:a="http://schemas.openxmlformats.org/drawingml/2006/main" noGrp="1"/>
          </p:cNvSpPr>
          <p:nvPr/>
        </p:nvSpPr>
        <p:spPr>
          <a:xfrm xmlns:a="http://schemas.openxmlformats.org/drawingml/2006/main">
            <a:off x="685800" y="168592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도로 링크 기반 경로
</a:t>
            </a:r>
            <a:r>
              <a:rPr sz="1200">
                <a:solidFill>
                  <a:srgbClr val="222222"/>
                </a:solidFill>
                <a:latin typeface="Pretendard"/>
                <a:ea typeface="Pretendard"/>
                <a:cs typeface="Pretendard"/>
              </a:rPr>
              <a:t>Rust 라우터가 실제 경로와 링크 ID를 반환</a:t>
            </a:r>
          </a:p>
        </p:txBody>
      </p:sp>
      <p:sp>
        <p:nvSpPr>
          <p:cNvPr id="7" name="">
            <a:extLst xmlns:a="http://schemas.openxmlformats.org/drawingml/2006/main">
              <a:ext uri="{FF2B5EF4-FFF2-40B4-BE49-F238E27FC236}">
                <a16:creationId xmlns:a16="http://schemas.microsoft.com/office/drawing/2014/main" id="{9D6551E9-C199-4181-A071-D968D4147D81}"/>
              </a:ext>
            </a:extLst>
          </p:cNvPr>
          <p:cNvSpPr>
            <a:spLocks xmlns:a="http://schemas.openxmlformats.org/drawingml/2006/main" noGrp="1"/>
          </p:cNvSpPr>
          <p:nvPr/>
        </p:nvSpPr>
        <p:spPr>
          <a:xfrm xmlns:a="http://schemas.openxmlformats.org/drawingml/2006/main">
            <a:off x="685800" y="250507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LinkETA 배차비용
</a:t>
            </a:r>
            <a:r>
              <a:rPr sz="1200">
                <a:solidFill>
                  <a:srgbClr val="222222"/>
                </a:solidFill>
                <a:latin typeface="Pretendard"/>
                <a:ea typeface="Pretendard"/>
                <a:cs typeface="Pretendard"/>
              </a:rPr>
              <a:t>링크별 예측 통행시간을 합산해 차량–승객 ETA 행렬 생성</a:t>
            </a:r>
          </a:p>
        </p:txBody>
      </p:sp>
      <p:sp>
        <p:nvSpPr>
          <p:cNvPr id="8" name="">
            <a:extLst xmlns:a="http://schemas.openxmlformats.org/drawingml/2006/main">
              <a:ext uri="{FF2B5EF4-FFF2-40B4-BE49-F238E27FC236}">
                <a16:creationId xmlns:a16="http://schemas.microsoft.com/office/drawing/2014/main" id="{31E913E8-E7CB-48DB-BB92-846C6640A36A}"/>
              </a:ext>
            </a:extLst>
          </p:cNvPr>
          <p:cNvSpPr>
            <a:spLocks xmlns:a="http://schemas.openxmlformats.org/drawingml/2006/main" noGrp="1"/>
          </p:cNvSpPr>
          <p:nvPr/>
        </p:nvSpPr>
        <p:spPr>
          <a:xfrm xmlns:a="http://schemas.openxmlformats.org/drawingml/2006/main">
            <a:off x="685800" y="332422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운행 결과 기록
</a:t>
            </a:r>
            <a:r>
              <a:rPr sz="1200">
                <a:solidFill>
                  <a:srgbClr val="222222"/>
                </a:solidFill>
                <a:latin typeface="Pretendard"/>
                <a:ea typeface="Pretendard"/>
                <a:cs typeface="Pretendard"/>
              </a:rPr>
              <a:t>배차·승차·하차 이벤트와 trip별 ETA를 저장</a:t>
            </a:r>
          </a:p>
        </p:txBody>
      </p:sp>
      <p:sp>
        <p:nvSpPr>
          <p:cNvPr id="9" name="">
            <a:extLst xmlns:a="http://schemas.openxmlformats.org/drawingml/2006/main">
              <a:ext uri="{FF2B5EF4-FFF2-40B4-BE49-F238E27FC236}">
                <a16:creationId xmlns:a16="http://schemas.microsoft.com/office/drawing/2014/main" id="{AC99B305-49D8-4D39-9AF7-ED17720DC33A}"/>
              </a:ext>
            </a:extLst>
          </p:cNvPr>
          <p:cNvSpPr>
            <a:spLocks xmlns:a="http://schemas.openxmlformats.org/drawingml/2006/main" noGrp="1"/>
          </p:cNvSpPr>
          <p:nvPr/>
        </p:nvSpPr>
        <p:spPr>
          <a:xfrm xmlns:a="http://schemas.openxmlformats.org/drawingml/2006/main">
            <a:off x="685800" y="414337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한국형 시각화
</a:t>
            </a:r>
            <a:r>
              <a:rPr sz="1200">
                <a:solidFill>
                  <a:srgbClr val="222222"/>
                </a:solidFill>
                <a:latin typeface="Pretendard"/>
                <a:ea typeface="Pretendard"/>
                <a:cs typeface="Pretendard"/>
              </a:rPr>
              <a:t>VWorld 배경지도, 한글 UI, 관심지점 CSV 레이어와 운행 재생</a:t>
            </a:r>
          </a:p>
        </p:txBody>
      </p:sp>
      <p:sp>
        <p:nvSpPr>
          <p:cNvPr id="10" name="">
            <a:extLst xmlns:a="http://schemas.openxmlformats.org/drawingml/2006/main">
              <a:ext uri="{FF2B5EF4-FFF2-40B4-BE49-F238E27FC236}">
                <a16:creationId xmlns:a16="http://schemas.microsoft.com/office/drawing/2014/main" id="{40C35C7D-809E-49EF-AFD1-801AD3247F76}"/>
              </a:ext>
            </a:extLst>
          </p:cNvPr>
          <p:cNvSpPr>
            <a:spLocks xmlns:a="http://schemas.openxmlformats.org/drawingml/2006/main" noGrp="1"/>
          </p:cNvSpPr>
          <p:nvPr/>
        </p:nvSpPr>
        <p:spPr>
          <a:xfrm xmlns:a="http://schemas.openxmlformats.org/drawingml/2006/main">
            <a:off x="5953125" y="12954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0000"/>
                </a:solidFill>
                <a:latin typeface="Pretendard Medium"/>
                <a:ea typeface="Pretendard Medium"/>
                <a:cs typeface="Pretendard Medium"/>
              </a:defRPr>
            </a:pPr>
            <a:r>
              <a:rPr sz="1350" b="1">
                <a:solidFill>
                  <a:srgbClr val="000000"/>
                </a:solidFill>
                <a:latin typeface="Pretendard Medium"/>
                <a:ea typeface="Pretendard Medium"/>
                <a:cs typeface="Pretendard Medium"/>
              </a:rPr>
              <a:t>시뮬레이션 내부 흐름</a:t>
            </a:r>
          </a:p>
        </p:txBody>
      </p:sp>
      <p:sp>
        <p:nvSpPr>
          <p:cNvPr id="11" name="">
            <a:extLst xmlns:a="http://schemas.openxmlformats.org/drawingml/2006/main">
              <a:ext uri="{FF2B5EF4-FFF2-40B4-BE49-F238E27FC236}">
                <a16:creationId xmlns:a16="http://schemas.microsoft.com/office/drawing/2014/main" id="{E1492C9C-9D3C-46F7-92FC-46308CA8ECAB}"/>
              </a:ext>
            </a:extLst>
          </p:cNvPr>
          <p:cNvSpPr>
            <a:spLocks xmlns:a="http://schemas.openxmlformats.org/drawingml/2006/main" noGrp="1"/>
          </p:cNvSpPr>
          <p:nvPr/>
        </p:nvSpPr>
        <p:spPr>
          <a:xfrm xmlns:a="http://schemas.openxmlformats.org/drawingml/2006/main">
            <a:off x="5953125" y="1714500"/>
            <a:ext cx="11620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도로망·GTFS</a:t>
            </a:r>
          </a:p>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및 차량 상태</a:t>
            </a:r>
          </a:p>
        </p:txBody>
      </p:sp>
      <p:sp>
        <p:nvSpPr>
          <p:cNvPr id="12" name="">
            <a:extLst xmlns:a="http://schemas.openxmlformats.org/drawingml/2006/main">
              <a:ext uri="{FF2B5EF4-FFF2-40B4-BE49-F238E27FC236}">
                <a16:creationId xmlns:a16="http://schemas.microsoft.com/office/drawing/2014/main" id="{521EB19C-ABB1-43DF-981E-6B882A30A287}"/>
              </a:ext>
            </a:extLst>
          </p:cNvPr>
          <p:cNvSpPr>
            <a:spLocks xmlns:a="http://schemas.openxmlformats.org/drawingml/2006/main" noGrp="1"/>
          </p:cNvSpPr>
          <p:nvPr/>
        </p:nvSpPr>
        <p:spPr>
          <a:xfrm xmlns:a="http://schemas.openxmlformats.org/drawingml/2006/main">
            <a:off x="7334250" y="1714500"/>
            <a:ext cx="11620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실제 링크 경로</a:t>
            </a:r>
          </a:p>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탐색</a:t>
            </a:r>
          </a:p>
        </p:txBody>
      </p:sp>
      <p:sp>
        <p:nvSpPr>
          <p:cNvPr id="13" name="">
            <a:extLst xmlns:a="http://schemas.openxmlformats.org/drawingml/2006/main">
              <a:ext uri="{FF2B5EF4-FFF2-40B4-BE49-F238E27FC236}">
                <a16:creationId xmlns:a16="http://schemas.microsoft.com/office/drawing/2014/main" id="{389CABA4-693D-406D-B033-5570CC24C5AC}"/>
              </a:ext>
            </a:extLst>
          </p:cNvPr>
          <p:cNvSpPr>
            <a:spLocks xmlns:a="http://schemas.openxmlformats.org/drawingml/2006/main" noGrp="1"/>
          </p:cNvSpPr>
          <p:nvPr/>
        </p:nvSpPr>
        <p:spPr>
          <a:xfrm xmlns:a="http://schemas.openxmlformats.org/drawingml/2006/main">
            <a:off x="8715375" y="1714500"/>
            <a:ext cx="11620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LinkETA 통행시간</a:t>
            </a:r>
          </a:p>
          <a:p xmlns:a="http://schemas.openxmlformats.org/drawingml/2006/main">
            <a:pPr algn="ctr">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예측</a:t>
            </a:r>
          </a:p>
        </p:txBody>
      </p:sp>
      <p:sp>
        <p:nvSpPr>
          <p:cNvPr id="14" name="">
            <a:extLst xmlns:a="http://schemas.openxmlformats.org/drawingml/2006/main">
              <a:ext uri="{FF2B5EF4-FFF2-40B4-BE49-F238E27FC236}">
                <a16:creationId xmlns:a16="http://schemas.microsoft.com/office/drawing/2014/main" id="{FC42C6C8-C0E8-4C76-AB6F-1D94990CD43E}"/>
              </a:ext>
            </a:extLst>
          </p:cNvPr>
          <p:cNvSpPr>
            <a:spLocks xmlns:a="http://schemas.openxmlformats.org/drawingml/2006/main" noGrp="1"/>
          </p:cNvSpPr>
          <p:nvPr/>
        </p:nvSpPr>
        <p:spPr>
          <a:xfrm xmlns:a="http://schemas.openxmlformats.org/drawingml/2006/main">
            <a:off x="10096500" y="1714500"/>
            <a:ext cx="1162050" cy="685800"/>
          </a:xfrm>
          <a:prstGeom xmlns:a="http://schemas.openxmlformats.org/drawingml/2006/main" prst="rect">
            <a:avLst/>
          </a:prstGeom>
          <a:solidFill xmlns:a="http://schemas.openxmlformats.org/drawingml/2006/main">
            <a:srgbClr val="F2F2F2"/>
          </a:solidFill>
          <a:ln xmlns:a="http://schemas.openxmlformats.org/drawingml/2006/main" w="14288">
            <a:solidFill>
              <a:srgbClr val="000000"/>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배차·운행 이벤트</a:t>
            </a:r>
          </a:p>
          <a:p xmlns:a="http://schemas.openxmlformats.org/drawingml/2006/main">
            <a:pPr algn="ctr">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시뮬레이션</a:t>
            </a:r>
          </a:p>
        </p:txBody>
      </p:sp>
      <p:cxnSp>
        <p:nvCxnSpPr>
          <p:cNvPr id="36" name=""/>
          <p:cNvCxnSpPr>
            <a:stCxn xmlns:a="http://schemas.openxmlformats.org/drawingml/2006/main" id="11" idx="3"/>
            <a:endCxn xmlns:a="http://schemas.openxmlformats.org/drawingml/2006/main" id="12" idx="1"/>
          </p:cNvCxnSpPr>
          <p:nvPr/>
        </p:nvCxnSpPr>
        <p:spPr>
          <a:xfrm xmlns:a="http://schemas.openxmlformats.org/drawingml/2006/main">
            <a:off x="7115175" y="2057400"/>
            <a:ext cx="21907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37" name=""/>
          <p:cNvCxnSpPr>
            <a:stCxn xmlns:a="http://schemas.openxmlformats.org/drawingml/2006/main" id="12" idx="3"/>
            <a:endCxn xmlns:a="http://schemas.openxmlformats.org/drawingml/2006/main" id="13" idx="1"/>
          </p:cNvCxnSpPr>
          <p:nvPr/>
        </p:nvCxnSpPr>
        <p:spPr>
          <a:xfrm xmlns:a="http://schemas.openxmlformats.org/drawingml/2006/main">
            <a:off x="8496300" y="2057400"/>
            <a:ext cx="21907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38" name=""/>
          <p:cNvCxnSpPr>
            <a:stCxn xmlns:a="http://schemas.openxmlformats.org/drawingml/2006/main" id="13" idx="3"/>
            <a:endCxn xmlns:a="http://schemas.openxmlformats.org/drawingml/2006/main" id="14" idx="1"/>
          </p:cNvCxnSpPr>
          <p:nvPr/>
        </p:nvCxnSpPr>
        <p:spPr>
          <a:xfrm xmlns:a="http://schemas.openxmlformats.org/drawingml/2006/main">
            <a:off x="9877425" y="2057400"/>
            <a:ext cx="21907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sp>
        <p:nvSpPr>
          <p:cNvPr id="18" name="">
            <a:extLst xmlns:a="http://schemas.openxmlformats.org/drawingml/2006/main">
              <a:ext uri="{FF2B5EF4-FFF2-40B4-BE49-F238E27FC236}">
                <a16:creationId xmlns:a16="http://schemas.microsoft.com/office/drawing/2014/main" id="{F29F0615-0486-4E24-A21C-9D10A331EEAB}"/>
              </a:ext>
            </a:extLst>
          </p:cNvPr>
          <p:cNvSpPr>
            <a:spLocks xmlns:a="http://schemas.openxmlformats.org/drawingml/2006/main" noGrp="1"/>
          </p:cNvSpPr>
          <p:nvPr/>
        </p:nvSpPr>
        <p:spPr>
          <a:xfrm xmlns:a="http://schemas.openxmlformats.org/drawingml/2006/main">
            <a:off x="5953125" y="28003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0000"/>
                </a:solidFill>
                <a:latin typeface="Pretendard Medium"/>
                <a:ea typeface="Pretendard Medium"/>
                <a:cs typeface="Pretendard Medium"/>
              </a:defRPr>
            </a:pPr>
            <a:r>
              <a:rPr sz="1350" b="1">
                <a:solidFill>
                  <a:srgbClr val="000000"/>
                </a:solidFill>
                <a:latin typeface="Pretendard Medium"/>
                <a:ea typeface="Pretendard Medium"/>
                <a:cs typeface="Pretendard Medium"/>
              </a:rPr>
              <a:t>충전 연구에서 재사용</a:t>
            </a:r>
          </a:p>
        </p:txBody>
      </p:sp>
      <p:sp>
        <p:nvSpPr>
          <p:cNvPr id="19" name="">
            <a:extLst xmlns:a="http://schemas.openxmlformats.org/drawingml/2006/main">
              <a:ext uri="{FF2B5EF4-FFF2-40B4-BE49-F238E27FC236}">
                <a16:creationId xmlns:a16="http://schemas.microsoft.com/office/drawing/2014/main" id="{1CE9A5F5-97B2-4356-8E3B-E40C5F58B676}"/>
              </a:ext>
            </a:extLst>
          </p:cNvPr>
          <p:cNvSpPr>
            <a:spLocks xmlns:a="http://schemas.openxmlformats.org/drawingml/2006/main" noGrp="1"/>
          </p:cNvSpPr>
          <p:nvPr/>
        </p:nvSpPr>
        <p:spPr>
          <a:xfrm xmlns:a="http://schemas.openxmlformats.org/drawingml/2006/main">
            <a:off x="5953125" y="3124200"/>
            <a:ext cx="5476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시간축: </a:t>
            </a:r>
            <a:r>
              <a:rPr sz="1215">
                <a:solidFill>
                  <a:srgbClr val="222222"/>
                </a:solidFill>
                <a:latin typeface="Pretendard"/>
                <a:ea typeface="Pretendard"/>
                <a:cs typeface="Pretendard"/>
              </a:rPr>
              <a:t>예정시각과 실제 도착시각의 차이를 분 단위로 추적</a:t>
            </a:r>
          </a:p>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공간축: </a:t>
            </a:r>
            <a:r>
              <a:rPr sz="1215">
                <a:solidFill>
                  <a:srgbClr val="222222"/>
                </a:solidFill>
                <a:latin typeface="Pretendard"/>
                <a:ea typeface="Pretendard"/>
                <a:cs typeface="Pretendard"/>
              </a:rPr>
              <a:t>도로 링크 경로로 충전소까지의 공차 이동시간 계산</a:t>
            </a:r>
          </a:p>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점유축: </a:t>
            </a:r>
            <a:r>
              <a:rPr sz="1215">
                <a:solidFill>
                  <a:srgbClr val="222222"/>
                </a:solidFill>
                <a:latin typeface="Pretendard"/>
                <a:ea typeface="Pretendard"/>
                <a:cs typeface="Pretendard"/>
              </a:rPr>
              <a:t>충전기별 사용 종료시각을 기록해 공유 충전기의 대기행렬 생성</a:t>
            </a:r>
          </a:p>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운행축: </a:t>
            </a:r>
            <a:r>
              <a:rPr sz="1215">
                <a:solidFill>
                  <a:srgbClr val="222222"/>
                </a:solidFill>
                <a:latin typeface="Pretendard"/>
                <a:ea typeface="Pretendard"/>
                <a:cs typeface="Pretendard"/>
              </a:rPr>
              <a:t>충전 완료시각과 예정 출발시각을 비교해 지연과 전파를 계산</a:t>
            </a:r>
          </a:p>
        </p:txBody>
      </p:sp>
      <p:sp>
        <p:nvSpPr>
          <p:cNvPr id="20" name="">
            <a:extLst xmlns:a="http://schemas.openxmlformats.org/drawingml/2006/main">
              <a:ext uri="{FF2B5EF4-FFF2-40B4-BE49-F238E27FC236}">
                <a16:creationId xmlns:a16="http://schemas.microsoft.com/office/drawing/2014/main" id="{82C9392A-C729-460A-A49C-66BBD77AB70A}"/>
              </a:ext>
            </a:extLst>
          </p:cNvPr>
          <p:cNvSpPr>
            <a:spLocks xmlns:a="http://schemas.openxmlformats.org/drawingml/2006/main" noGrp="1"/>
          </p:cNvSpPr>
          <p:nvPr/>
        </p:nvSpPr>
        <p:spPr>
          <a:xfrm xmlns:a="http://schemas.openxmlformats.org/drawingml/2006/main">
            <a:off x="5953125" y="4714875"/>
            <a:ext cx="5476875" cy="87630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lIns="133350" tIns="76200" rIns="133350" bIns="57150" anchor="ctr">
            <a:noAutofit/>
          </a:bodyPr>
          <a:lstStyle xmlns:a="http://schemas.openxmlformats.org/drawingml/2006/main"/>
          <a:p xmlns:a="http://schemas.openxmlformats.org/drawingml/2006/main">
            <a:pPr>
              <a:lnSpc>
                <a:spcPct val="105000"/>
              </a:lnSpc>
              <a:buNone/>
              <a:defRPr sz="1215">
                <a:solidFill>
                  <a:srgbClr val="222222"/>
                </a:solidFill>
                <a:latin typeface="Pretendard"/>
                <a:ea typeface="Pretendard"/>
                <a:cs typeface="Pretendard"/>
              </a:defRPr>
            </a:pPr>
            <a:r>
              <a:rPr sz="1215" b="1">
                <a:solidFill>
                  <a:srgbClr val="222222"/>
                </a:solidFill>
                <a:latin typeface="Pretendard"/>
                <a:ea typeface="Pretendard"/>
                <a:cs typeface="Pretendard"/>
              </a:rPr>
              <a:t>구현 범위의 경계
</a:t>
            </a:r>
            <a:r>
              <a:rPr sz="1215">
                <a:solidFill>
                  <a:srgbClr val="222222"/>
                </a:solidFill>
                <a:latin typeface="Pretendard"/>
                <a:ea typeface="Pretendard"/>
                <a:cs typeface="Pretendard"/>
              </a:rPr>
              <a:t>현재 구현은 운행·ETA·이벤트 기록까지다. 충전소와 충전기 점유상태, 충전 대기와 출발 지연은 다음 구현 단계이며, SOC는 충전 필요 여부를 판단하는 보조 상태로 추가한다.</a:t>
            </a:r>
          </a:p>
        </p:txBody>
      </p:sp>
      <p:sp>
        <p:nvSpPr>
          <p:cNvPr id="21" name="">
            <a:extLst xmlns:a="http://schemas.openxmlformats.org/drawingml/2006/main">
              <a:ext uri="{FF2B5EF4-FFF2-40B4-BE49-F238E27FC236}">
                <a16:creationId xmlns:a16="http://schemas.microsoft.com/office/drawing/2014/main" id="{8A52EC25-6E40-4B36-90EA-6CD9ABA9D9A9}"/>
              </a:ext>
            </a:extLst>
          </p:cNvPr>
          <p:cNvSpPr>
            <a:spLocks xmlns:a="http://schemas.openxmlformats.org/drawingml/2006/main" noGrp="1"/>
          </p:cNvSpPr>
          <p:nvPr/>
        </p:nvSpPr>
        <p:spPr>
          <a:xfrm xmlns:a="http://schemas.openxmlformats.org/drawingml/2006/main">
            <a:off x="685800" y="58197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425" b="1">
                <a:solidFill>
                  <a:srgbClr val="000000"/>
                </a:solidFill>
                <a:latin typeface="Pretendard Medium"/>
                <a:ea typeface="Pretendard Medium"/>
                <a:cs typeface="Pretendard Medium"/>
              </a:defRPr>
            </a:pPr>
            <a:r>
              <a:rPr sz="1425" b="1">
                <a:solidFill>
                  <a:srgbClr val="000000"/>
                </a:solidFill>
                <a:latin typeface="Pretendard Medium"/>
                <a:ea typeface="Pretendard Medium"/>
                <a:cs typeface="Pretendard Medium"/>
              </a:rPr>
              <a:t>핵심: DTUMOS는 실제 운행시간의 변화를 계산하는 기반까지 구현됐다. 다음 단계에서 충전 결정을 차량 상태 전이와 출발 지연으로 연결한다.</a:t>
            </a:r>
          </a:p>
        </p:txBody>
      </p:sp>
    </p:spTree>
    <p:extLst>
      <p:ext uri="{BB962C8B-B14F-4D97-AF65-F5344CB8AC3E}">
        <p14:creationId xmlns:p14="http://schemas.microsoft.com/office/powerpoint/2010/main" val="667376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2026-10-05T01:08:16.4270000Z</dcterms:created>
  <dcterms:modified xsi:type="dcterms:W3CDTF">2026-10-05T01:08:16.4270000Z</dcterms:modified>
</coreProperties>
</file>