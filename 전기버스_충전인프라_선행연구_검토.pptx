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6"/>
    <p:sldId id="265" r:id="rId5"/>
    <p:sldId id="266" r:id="rId4"/>
    <p:sldId id="267" r:id="rId3"/>
    <p:sldId id="268" r:id="rId2"/>
    <p:sldId id="269" r:id="rId20"/>
    <p:sldId id="270" r:id="rId21"/>
    <p:sldId id="271" r:id="rId22"/>
    <p:sldId id="272" r:id="rId23"/>
    <p:sldId id="273" r:id="rId24"/>
    <p:sldId id="274" r:id="rId25"/>
    <p:sldId id="275" r:id="rId26"/>
    <p:sldId id="276" r:id="rId27"/>
    <p:sldId id="277" r:id="rId28"/>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목차는 표입니다. 섹션 수가 바뀌면 행을 삽입/삭제하세요.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원자료는 아직 구매 전이다. 지금 있는 건 명세서와 각 30행짜리 미리보기뿐인데, 그것만으로 컬럼 구조와 값의 형태는 확인된다. 표기된 740,300원이 분기 1건 값인지 상품 전체 값인지는 상세 페이지에 안 적혀 있어 문의해야 한다. 분기 단위라면 1년치가 300만 원 규모가 되므로, 구매 범위를 정하기 전에 미리보기에서 확인할 수 있는 걸 다 확인해 두려는 게 이 절의 목적이다.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 연구에 필요한 건 사실상 네 가지다. 충전기별 시작·종료 시각(점유 시간), SOC 증분(에너지), 충전소 위경도(입지), 부하 시간대별 전력량(요금). 배차·시각표와 붙이려면 충전소를 정류장·차고지에 매칭해야 하는데, 차량 ID나 노선 ID가 없다는 게 이 명세의 가장 큰 공백이다. 충전기 점유 이력에서 차량 단위 운행을 역추정해야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충전구분코드는 앞자리가 차종이다 — 1x 승용차, 2x 버스, 3x 이륜차. 버스만 7종인데 급속·완속뿐 아니라 비접촉(무선)과 듀얼 커넥터(25·26·27)까지 갈라 놓았다. 충전기 출력과 동시 충전 가능 대수가 여기서 갈리므로, 충전소 용량을 모형에 넣을 때 쓸 구분자다. 충전방식코드 5종은 차종과 무관한 커넥터 종류라 버스 판별에는 못 쓴다. 미리보기 30행이 전부 13·D인 건 그래서 문제다 — 버스 코드 7종 중 하나도 안 나온다.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미리보기 30행은 2023-10-01 00시 00분 00초부터 07초까지, 8초 구간이다. 충전소 8곳·충전기 14대가 잡혔고 경기 21행·경남 6행·인천 3행이다. 세션 길이는 12분에서 2시간 6분까지 벌어지고, SOC 17에서 시작하는 세션과 91에서 시작하는 세션이 섞여 있다. 심야에 길게 채우는 패턴과 짧게 보충하는 패턴이 같이 보인다는 뜻인데, 8초짜리 표본이라 이걸 분포로 주장하지는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개는 구매 전에 반드시 풀어야 한다. 특히 충전구분 13은 상품명과 어긋난다 — 미리보기만 범용 전기차 표본으로 깔아 둔 것인지, 상품 자체가 버스 전용이 아닌 것인지 판매처에 확인해야 한다. 뒤의 두 개는 미리보기 한정일 가능성이 크다. 부하 3종 중 경부하만 값이 있는 건 표본이 자정 구간뿐이라 당연하고, 위경도 절단과 이름 마스킹은 유료 상품의 미리보기 처리로 보인다. 다만 위경도가 원자료에서도 정수라면 입지 분석이 불가능해지므로 이것도 같이 물어야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검토 기준 넷: ① 어떤 데이터를 썼나 ② 우리도 쓸 수 있나 ③ 인용 수와 저널 등급, 여기에 ④ 배차·휴게 같은 운영 변수를 함께 조정했나를 추가했다. 연구논문 9편은 리뷰 2편을 뺀 수이고, 그중 Zeng(2023)은 4쪽 Editorial, 박지영 외(2024)는 2쪽 학회 발표논문이라 둘 다 모형이 없다. 뒤의 결정변수 집계에서는 분모에는 넣되 전 항목 해당 없음으로 처리했다.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절감률이 13%에서 66%까지 벌어지는데, 방법이 틀려서가 아니라 무엇을 고정하고 무엇을 풀었느냐가 달라서다. 특히 Zeng은 충전기가 90% 논다고 하고, 우리 초고는 충전 대기로 배차가 무너진다고 본다. 정반대로 보이지만 인프라 배치와 운영이 따로 논다는 같은 병의 두 증상이다.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결과는 서로 다른 팀이 다른 도시에서 얻었는데 방향이 일치한다. 여기까지는 합의된 셈이고, 논쟁은 그다음에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장의 가동률 10.3%가 유럽 한 노선의 특수 사정인지 확인할 국내 근거가 생겼다. 박지영 외(2024)가 수원여객 북부차고지 1년치 충전 실적을 분석한 국내 유일의 실측 문헌이다. 오른쪽 아래 15~19%는 논문에 없는 값이고, 저자가 제시한 수치로 우리가 계산한 것이다. 충전기 46기에 24시간이면 1,104 충전기·시간인데 차량 점유는 86대 곱하기 145분으로 약 208시간, 18.8%다. 145분이 단일노선 71대 평균이라 분모를 71대로 잡으면 15.5%로 내려간다. 어느 쪽이든 20%를 넘지 않는다. 인용할 때는 반드시 우리 계산이라고 밝혀야 한다. 중요한 건 나라도 다르고 충전 유형도 다른데 결론이 같다는 점이다. 충전기는 모자란 게 아니라 놀고 있다. 그리고 충전 간격이 두세 시간에 몰린다는 건 심야에 한 번에 몰아 충전하는 게 아니라 운행 중간에 들어와 충전한다는 뜻이고, 이게 배차를 얼마나 잡아먹는지는 아무도 계산하지 않았다.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맨 아래가 이번에 새로 넣은 국내 문헌이다. 원자료는 못 받지만 충전이벤트 컬럼 명세가 논문에 그대로 실려 있어서, 우리가 사업자에 자료를 요청할 때 그 표를 명세서로 쓸 수 있다. 나머지 다섯 편 중 He와 Vijay 둘만 원자료 요청 없이 재현된다. 두 논문 다 기관 협조 없이 공개 시각표·공개 GIS·공시 요금만으로 Q1·Q2 저널에 실렸다는 게 중요하다. 데이터 확보 리스크를 없애는 경로가 이미 검증돼 있다는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충전 스케줄링은 Zhou–Meng–Ong 팀이 TR-B와 TR-C를 잡고 있어 여기서 경쟁하면 이기기 어렵다. 반면 시각표와 승무는 아무도 손대지 않았다. 입지와 운영을 같이 푼 건 Liu(2021) 하나인데, 그것도 배차를 시간당 집계 대수로만 다룬다.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Ashkezari(2024) 리뷰가 충전 지연의 결과로 "disruption of subsequent bus dispatches and crew schedules"를 명시하고, 운영 층위에서 시각표를 최적화해야 한다고까지 적었다. 그런데 실제로 그렇게 한 논문이 우리 목록에 없다. 리뷰가 필요하다고 한 걸 아무도 안 한 상태다. 국내도 같다. 박지영 외(2024)가 국내 유일의 실측 분석인데, 결론이 "충전 전략을 고려한 운행노선 재배치가 중요하다"는 제언에서 끝난다. 국책연구기관이 필요하다고 지목해 놓고 아무도 풀지 않은 자리다.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목적은 결과가 아니라 파이프라인 확인이다. 원자료를 DTUMOS 수요 규격으로 바꾸고, 서울 KTDB 도로망 76,701개 링크 위에서 Rust 경로탐색으로 끝까지 도는 것까지 확인했다. 3,000건 2시간이 8초 걸렸다. 세 회차는 차량과 수요를 같이 늘린 것이라 통제된 민감도 분석이 아니다 — 앞의 두 회차는 수요/차량 비가 10으로 같은데 서비스율이 79.5%에서 88.1%로 오르고, 세 번째는 비가 15로 올라가 69.4%로 떨어진다. 규모 효과와 혼잡이 섞여 있어 이걸 결과로 주장하지는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문헌 검색을 시작했고 첫 한 편이 박지영 외(2024)다. 덕분에 주장이 더 정확해졌다. "국내 데이터로 본 연구가 없다"가 아니라, 국내 충전 실태를 기술한 사례분석은 있으나 인프라 배치와 배차·운영을 함께 결정한 연구는 없다는 것이다. 없다고 말하는 것보다 국책연구기관이 필요하다고 지목했는데 아무도 안 했다고 말하는 쪽이 근거가 세다. 다만 한 편 봤다고 검색을 끝냈다고 할 수는 없어서 DBpia·KCI·대한교통학회지·한국ITS학회논문지를 계속 훑어야 한다. 그 논문 참고문헌에서 찾은 김승지 외(2013) 배터리 교환-충전 인프라 배치 최적화가 다음 확인 대상이다.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표지">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40080"/>
            <a:ext cx="237744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과목 코드 · 과목명</a:t>
            </a:r>
            <a:endParaRPr lang="en-US" sz="1100" dirty="0"/>
          </a:p>
        </p:txBody>
      </p:sp>
      <p:sp>
        <p:nvSpPr>
          <p:cNvPr id="3" name="Text 0"/>
          <p:cNvSpPr/>
          <p:nvPr>
            <p:ph idx="101" type="body" hasCustomPrompt="1"/>
          </p:nvPr>
        </p:nvSpPr>
        <p:spPr>
          <a:xfrm>
            <a:off x="685800" y="1965960"/>
            <a:ext cx="5486400" cy="411480"/>
          </a:xfrm>
          <a:prstGeom prst="rect">
            <a:avLst/>
          </a:prstGeom>
          <a:noFill/>
          <a:ln/>
        </p:spPr>
        <p:txBody>
          <a:bodyPr wrap="square" lIns="0" tIns="0" rIns="0" bIns="0" rtlCol="0" anchor="t">
            <a:noAutofit/>
          </a:bodyPr>
          <a:lstStyle>
            <a:lvl1pPr algn="l" indent="0" marL="0">
              <a:buNone/>
              <a:defRPr lang="en-US" sz="1800" dirty="0">
                <a:solidFill>
                  <a:srgbClr val="AFAFAF"/>
                </a:solidFill>
                <a:latin typeface="Pretendard Medium" pitchFamily="34" charset="0"/>
                <a:ea typeface="Pretendard Medium" pitchFamily="34" charset="-122"/>
                <a:cs typeface="Pretendard Medium" pitchFamily="34" charset="-120"/>
              </a:defRPr>
            </a:lvl1pPr>
          </a:lstStyle>
          <a:p>
            <a:pPr indent="0" marL="0">
              <a:buNone/>
            </a:pPr>
            <a:r>
              <a:rPr lang="en-US" sz="1800" dirty="0">
                <a:solidFill>
                  <a:srgbClr val="AFAFAF"/>
                </a:solidFill>
                <a:latin typeface="Pretendard Medium" pitchFamily="34" charset="0"/>
                <a:ea typeface="Pretendard Medium" pitchFamily="34" charset="-122"/>
                <a:cs typeface="Pretendard Medium" pitchFamily="34" charset="-120"/>
              </a:rPr>
              <a:t>N주차</a:t>
            </a:r>
            <a:endParaRPr lang="en-US" sz="1800" dirty="0"/>
          </a:p>
        </p:txBody>
      </p:sp>
      <p:sp>
        <p:nvSpPr>
          <p:cNvPr id="4" name="Text 0"/>
          <p:cNvSpPr/>
          <p:nvPr>
            <p:ph idx="102" type="title" hasCustomPrompt="1"/>
          </p:nvPr>
        </p:nvSpPr>
        <p:spPr>
          <a:xfrm>
            <a:off x="685800" y="2377440"/>
            <a:ext cx="10515600" cy="1097280"/>
          </a:xfrm>
          <a:prstGeom prst="rect">
            <a:avLst/>
          </a:prstGeom>
          <a:noFill/>
          <a:ln/>
        </p:spPr>
        <p:txBody>
          <a:bodyPr wrap="square" lIns="0" tIns="0" rIns="0" bIns="0" rtlCol="0" anchor="ctr">
            <a:noAutofit/>
          </a:bodyPr>
          <a:lstStyle>
            <a:lvl1pPr algn="l" indent="0" marL="0">
              <a:buNone/>
              <a:defRPr lang="en-US" sz="5200" dirty="0">
                <a:solidFill>
                  <a:srgbClr val="000000"/>
                </a:solidFill>
                <a:latin typeface="Pretendard ExtraBold" pitchFamily="34" charset="0"/>
                <a:ea typeface="Pretendard ExtraBold" pitchFamily="34" charset="-122"/>
                <a:cs typeface="Pretendard ExtraBold" pitchFamily="34" charset="-120"/>
              </a:defRPr>
            </a:lvl1pPr>
          </a:lstStyle>
          <a:p>
            <a:pPr indent="0" marL="0">
              <a:buNone/>
            </a:pPr>
            <a:r>
              <a:rPr lang="en-US" sz="5200" dirty="0">
                <a:solidFill>
                  <a:srgbClr val="000000"/>
                </a:solidFill>
                <a:latin typeface="Pretendard ExtraBold" pitchFamily="34" charset="0"/>
                <a:ea typeface="Pretendard ExtraBold" pitchFamily="34" charset="-122"/>
                <a:cs typeface="Pretendard ExtraBold" pitchFamily="34" charset="-120"/>
              </a:rPr>
              <a:t>강의 제목</a:t>
            </a:r>
            <a:endParaRPr lang="en-US" sz="5200" dirty="0"/>
          </a:p>
        </p:txBody>
      </p:sp>
      <p:sp>
        <p:nvSpPr>
          <p:cNvPr id="5" name="Text 0"/>
          <p:cNvSpPr/>
          <p:nvPr>
            <p:ph idx="103" type="body" hasCustomPrompt="1"/>
          </p:nvPr>
        </p:nvSpPr>
        <p:spPr>
          <a:xfrm>
            <a:off x="685800" y="3474720"/>
            <a:ext cx="10058400" cy="548640"/>
          </a:xfrm>
          <a:prstGeom prst="rect">
            <a:avLst/>
          </a:prstGeom>
          <a:noFill/>
          <a:ln/>
        </p:spPr>
        <p:txBody>
          <a:bodyPr wrap="square" lIns="0" tIns="0" rIns="0" bIns="0" rtlCol="0" anchor="t">
            <a:noAutofit/>
          </a:bodyPr>
          <a:lstStyle>
            <a:lvl1pPr algn="l" indent="0" marL="0">
              <a:buNone/>
              <a:defRPr lang="en-US" sz="2200" dirty="0">
                <a:solidFill>
                  <a:srgbClr val="000000"/>
                </a:solidFill>
                <a:latin typeface="Pretendard ExtraLight" pitchFamily="34" charset="0"/>
                <a:ea typeface="Pretendard ExtraLight" pitchFamily="34" charset="-122"/>
                <a:cs typeface="Pretendard ExtraLight" pitchFamily="34" charset="-120"/>
              </a:defRPr>
            </a:lvl1pPr>
          </a:lstStyle>
          <a:p>
            <a:pPr indent="0" marL="0">
              <a:buNone/>
            </a:pPr>
            <a:r>
              <a:rPr lang="en-US" sz="2200" dirty="0">
                <a:solidFill>
                  <a:srgbClr val="000000"/>
                </a:solidFill>
                <a:latin typeface="Pretendard ExtraLight" pitchFamily="34" charset="0"/>
                <a:ea typeface="Pretendard ExtraLight" pitchFamily="34" charset="-122"/>
                <a:cs typeface="Pretendard ExtraLight" pitchFamily="34" charset="-120"/>
              </a:rPr>
              <a:t>부제</a:t>
            </a:r>
            <a:endParaRPr lang="en-US" sz="2200" dirty="0"/>
          </a:p>
        </p:txBody>
      </p:sp>
      <p:sp>
        <p:nvSpPr>
          <p:cNvPr id="6" name="Text 0"/>
          <p:cNvSpPr/>
          <p:nvPr>
            <p:ph idx="104" type="body" hasCustomPrompt="1"/>
          </p:nvPr>
        </p:nvSpPr>
        <p:spPr>
          <a:xfrm>
            <a:off x="685800" y="5577840"/>
            <a:ext cx="6400800" cy="320040"/>
          </a:xfrm>
          <a:prstGeom prst="rect">
            <a:avLst/>
          </a:prstGeom>
          <a:noFill/>
          <a:ln/>
        </p:spPr>
        <p:txBody>
          <a:bodyPr wrap="square" lIns="0" tIns="0" rIns="0" bIns="0" rtlCol="0" anchor="t">
            <a:noAutofit/>
          </a:bodyPr>
          <a:lstStyle>
            <a:lvl1pPr algn="l" indent="0" marL="0">
              <a:buNone/>
              <a:defRPr lang="en-US" sz="1400" dirty="0">
                <a:solidFill>
                  <a:srgbClr val="000000"/>
                </a:solidFill>
                <a:latin typeface="Pretendard Medium" pitchFamily="34" charset="0"/>
                <a:ea typeface="Pretendard Medium" pitchFamily="34" charset="-122"/>
                <a:cs typeface="Pretendard Medium" pitchFamily="34" charset="-120"/>
              </a:defRPr>
            </a:lvl1pPr>
          </a:lstStyle>
          <a:p>
            <a:pPr indent="0" marL="0">
              <a:buNone/>
            </a:pPr>
            <a:r>
              <a:rPr lang="en-US" sz="1400" dirty="0">
                <a:solidFill>
                  <a:srgbClr val="000000"/>
                </a:solidFill>
                <a:latin typeface="Pretendard Medium" pitchFamily="34" charset="0"/>
                <a:ea typeface="Pretendard Medium" pitchFamily="34" charset="-122"/>
                <a:cs typeface="Pretendard Medium" pitchFamily="34" charset="-120"/>
              </a:rPr>
              <a:t>이름 · 소속</a:t>
            </a:r>
            <a:endParaRPr lang="en-US" sz="1400" dirty="0"/>
          </a:p>
        </p:txBody>
      </p:sp>
      <p:sp>
        <p:nvSpPr>
          <p:cNvPr id="7" name="Text 0"/>
          <p:cNvSpPr/>
          <p:nvPr>
            <p:ph idx="105" type="body" hasCustomPrompt="1"/>
          </p:nvPr>
        </p:nvSpPr>
        <p:spPr>
          <a:xfrm>
            <a:off x="685800" y="5897880"/>
            <a:ext cx="6400800" cy="320040"/>
          </a:xfrm>
          <a:prstGeom prst="rect">
            <a:avLst/>
          </a:prstGeom>
          <a:noFill/>
          <a:ln/>
        </p:spPr>
        <p:txBody>
          <a:bodyPr wrap="square" lIns="0" tIns="0" rIns="0" bIns="0" rtlCol="0" anchor="t">
            <a:noAutofit/>
          </a:bodyPr>
          <a:lstStyle>
            <a:lvl1pPr algn="l" indent="0" marL="0">
              <a:buNone/>
              <a:defRPr lang="en-US" sz="1400" dirty="0">
                <a:solidFill>
                  <a:srgbClr val="AFAFAF"/>
                </a:solidFill>
                <a:latin typeface="Pretendard Medium" pitchFamily="34" charset="0"/>
                <a:ea typeface="Pretendard Medium" pitchFamily="34" charset="-122"/>
                <a:cs typeface="Pretendard Medium" pitchFamily="34" charset="-120"/>
              </a:defRPr>
            </a:lvl1pPr>
          </a:lstStyle>
          <a:p>
            <a:pPr indent="0" marL="0">
              <a:buNone/>
            </a:pPr>
            <a:r>
              <a:rPr lang="en-US" sz="1400" dirty="0">
                <a:solidFill>
                  <a:srgbClr val="AFAFAF"/>
                </a:solidFill>
                <a:latin typeface="Pretendard Medium" pitchFamily="34" charset="0"/>
                <a:ea typeface="Pretendard Medium" pitchFamily="34" charset="-122"/>
                <a:cs typeface="Pretendard Medium" pitchFamily="34" charset="-120"/>
              </a:rPr>
              <a:t>날짜</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섹션">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1371600"/>
            <a:ext cx="4572000" cy="2011680"/>
          </a:xfrm>
          <a:prstGeom prst="rect">
            <a:avLst/>
          </a:prstGeom>
          <a:noFill/>
          <a:ln/>
        </p:spPr>
        <p:txBody>
          <a:bodyPr wrap="square" lIns="0" tIns="0" rIns="0" bIns="0" rtlCol="0" anchor="b">
            <a:noAutofit/>
          </a:bodyPr>
          <a:lstStyle>
            <a:lvl1pPr algn="l" indent="0" marL="0">
              <a:buNone/>
              <a:defRPr lang="en-US" sz="12000" dirty="0">
                <a:solidFill>
                  <a:srgbClr val="AFAFAF"/>
                </a:solidFill>
                <a:latin typeface="Pretendard ExtraLight" pitchFamily="34" charset="0"/>
                <a:ea typeface="Pretendard ExtraLight" pitchFamily="34" charset="-122"/>
                <a:cs typeface="Pretendard ExtraLight" pitchFamily="34" charset="-120"/>
              </a:defRPr>
            </a:lvl1pPr>
          </a:lstStyle>
          <a:p>
            <a:pPr indent="0" marL="0">
              <a:buNone/>
            </a:pPr>
            <a:r>
              <a:rPr lang="en-US" sz="12000" dirty="0">
                <a:solidFill>
                  <a:srgbClr val="AFAFAF"/>
                </a:solidFill>
                <a:latin typeface="Pretendard ExtraLight" pitchFamily="34" charset="0"/>
                <a:ea typeface="Pretendard ExtraLight" pitchFamily="34" charset="-122"/>
                <a:cs typeface="Pretendard ExtraLight" pitchFamily="34" charset="-120"/>
              </a:rPr>
              <a:t>01</a:t>
            </a:r>
            <a:endParaRPr lang="en-US" sz="12000" dirty="0"/>
          </a:p>
        </p:txBody>
      </p:sp>
      <p:sp>
        <p:nvSpPr>
          <p:cNvPr id="3" name="Text 0"/>
          <p:cNvSpPr/>
          <p:nvPr>
            <p:ph idx="101" type="title" hasCustomPrompt="1"/>
          </p:nvPr>
        </p:nvSpPr>
        <p:spPr>
          <a:xfrm>
            <a:off x="685800" y="3520440"/>
            <a:ext cx="5486400" cy="822960"/>
          </a:xfrm>
          <a:prstGeom prst="rect">
            <a:avLst/>
          </a:prstGeom>
          <a:noFill/>
          <a:ln/>
        </p:spPr>
        <p:txBody>
          <a:bodyPr wrap="square" lIns="0" tIns="0" rIns="0" bIns="0" rtlCol="0" anchor="t">
            <a:noAutofit/>
          </a:bodyPr>
          <a:lstStyle>
            <a:lvl1pPr algn="l" indent="0" marL="0">
              <a:buNone/>
              <a:defRPr lang="en-US" sz="4400" dirty="0">
                <a:solidFill>
                  <a:srgbClr val="000000"/>
                </a:solidFill>
                <a:latin typeface="Pretendard ExtraBold" pitchFamily="34" charset="0"/>
                <a:ea typeface="Pretendard ExtraBold" pitchFamily="34" charset="-122"/>
                <a:cs typeface="Pretendard ExtraBold" pitchFamily="34" charset="-120"/>
              </a:defRPr>
            </a:lvl1pPr>
          </a:lstStyle>
          <a:p>
            <a:pPr indent="0" marL="0">
              <a:buNone/>
            </a:pPr>
            <a:r>
              <a:rPr lang="en-US" sz="4400" dirty="0">
                <a:solidFill>
                  <a:srgbClr val="000000"/>
                </a:solidFill>
                <a:latin typeface="Pretendard ExtraBold" pitchFamily="34" charset="0"/>
                <a:ea typeface="Pretendard ExtraBold" pitchFamily="34" charset="-122"/>
                <a:cs typeface="Pretendard ExtraBold" pitchFamily="34" charset="-120"/>
              </a:rPr>
              <a:t>섹션 이름</a:t>
            </a:r>
            <a:endParaRPr lang="en-US" sz="4400" dirty="0"/>
          </a:p>
        </p:txBody>
      </p:sp>
      <p:sp>
        <p:nvSpPr>
          <p:cNvPr id="4" name="Text 0"/>
          <p:cNvSpPr/>
          <p:nvPr>
            <p:ph idx="102" type="body" hasCustomPrompt="1"/>
          </p:nvPr>
        </p:nvSpPr>
        <p:spPr>
          <a:xfrm>
            <a:off x="6949440" y="3611880"/>
            <a:ext cx="4572000" cy="2194560"/>
          </a:xfrm>
          <a:prstGeom prst="rect">
            <a:avLst/>
          </a:prstGeom>
          <a:noFill/>
          <a:ln/>
        </p:spPr>
        <p:txBody>
          <a:bodyPr wrap="square" lIns="0" tIns="0" rIns="0" bIns="0" rtlCol="0" anchor="t">
            <a:noAutofit/>
          </a:bodyPr>
          <a:lstStyle>
            <a:lvl1pPr algn="l" indent="0" marL="0">
              <a:buNone/>
              <a:defRPr lang="en-US" sz="1600" dirty="0">
                <a:solidFill>
                  <a:srgbClr val="000000"/>
                </a:solidFill>
                <a:latin typeface="Pretendard Medium" pitchFamily="34" charset="0"/>
                <a:ea typeface="Pretendard Medium" pitchFamily="34" charset="-122"/>
                <a:cs typeface="Pretendard Medium" pitchFamily="34" charset="-120"/>
              </a:defRPr>
            </a:lvl1pPr>
          </a:lstStyle>
          <a:p>
            <a:pPr indent="0" marL="0">
              <a:buNone/>
            </a:pPr>
            <a:r>
              <a:rPr lang="en-US" sz="1600" dirty="0">
                <a:solidFill>
                  <a:srgbClr val="000000"/>
                </a:solidFill>
                <a:latin typeface="Pretendard Medium" pitchFamily="34" charset="0"/>
                <a:ea typeface="Pretendard Medium" pitchFamily="34" charset="-122"/>
                <a:cs typeface="Pretendard Medium" pitchFamily="34" charset="-120"/>
              </a:rPr>
              <a:t>1.1 하위 섹션</a:t>
            </a:r>
            <a:endParaRPr lang="en-US" sz="1600" dirty="0"/>
          </a:p>
        </p:txBody>
      </p:sp>
      <p:sp>
        <p:nvSpPr>
          <p:cNvPr id="5"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본문">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8595360" cy="685800"/>
          </a:xfrm>
          <a:prstGeom prst="rect">
            <a:avLst/>
          </a:prstGeom>
          <a:noFill/>
          <a:ln/>
        </p:spPr>
        <p:txBody>
          <a:bodyPr wrap="square" lIns="0" tIns="0" rIns="0" bIns="0" rtlCol="0" anchor="ctr">
            <a:noAutofit/>
          </a:bodyPr>
          <a:lstStyle>
            <a:lvl1pPr algn="l" indent="0" marL="0">
              <a:buNone/>
              <a:defRPr lang="en-US" sz="2800" b="1" dirty="0">
                <a:solidFill>
                  <a:srgbClr val="000000"/>
                </a:solidFill>
                <a:latin typeface="Pretendard" pitchFamily="34" charset="0"/>
                <a:ea typeface="Pretendard" pitchFamily="34" charset="-122"/>
                <a:cs typeface="Pretendard" pitchFamily="34" charset="-120"/>
              </a:defRPr>
            </a:lvl1pPr>
          </a:lstStyle>
          <a:p>
            <a:pPr indent="0" marL="0">
              <a:buNone/>
            </a:pPr>
            <a:r>
              <a:rPr lang="en-US" sz="2800" b="1" dirty="0">
                <a:solidFill>
                  <a:srgbClr val="000000"/>
                </a:solidFill>
                <a:latin typeface="Pretendard" pitchFamily="34" charset="0"/>
                <a:ea typeface="Pretendard" pitchFamily="34" charset="-122"/>
                <a:cs typeface="Pretendard" pitchFamily="34" charset="-120"/>
              </a:rPr>
              <a:t>1.1 슬라이드 제목</a:t>
            </a:r>
            <a:endParaRPr lang="en-US" sz="2800" dirty="0"/>
          </a:p>
        </p:txBody>
      </p:sp>
      <p:sp>
        <p:nvSpPr>
          <p:cNvPr id="3" name="Text 0"/>
          <p:cNvSpPr/>
          <p:nvPr>
            <p:ph idx="101" type="body" hasCustomPrompt="1"/>
          </p:nvPr>
        </p:nvSpPr>
        <p:spPr>
          <a:xfrm>
            <a:off x="9677095" y="667512"/>
            <a:ext cx="182880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1. 섹션</a:t>
            </a:r>
            <a:endParaRPr lang="en-US" sz="1100" dirty="0"/>
          </a:p>
        </p:txBody>
      </p:sp>
      <p:sp>
        <p:nvSpPr>
          <p:cNvPr id="4" name="Text 0"/>
          <p:cNvSpPr/>
          <p:nvPr>
            <p:ph idx="102" type="body" hasCustomPrompt="1"/>
          </p:nvPr>
        </p:nvSpPr>
        <p:spPr>
          <a:xfrm>
            <a:off x="685800" y="1417320"/>
            <a:ext cx="10820095" cy="4663440"/>
          </a:xfrm>
          <a:prstGeom prst="rect">
            <a:avLst/>
          </a:prstGeom>
          <a:noFill/>
          <a:ln/>
        </p:spPr>
        <p:txBody>
          <a:bodyPr wrap="square" lIns="0" tIns="0" rIns="0" bIns="0" rtlCol="0" anchor="t">
            <a:noAutofit/>
          </a:bodyPr>
          <a:lstStyle>
            <a:lvl1pPr algn="l" marL="228600" indent="-228600">
              <a:lnSpc>
                <a:spcPct val="115000"/>
              </a:lnSpc>
              <a:spcAft>
                <a:spcPts val="1000"/>
              </a:spcAft>
              <a:buClr>
                <a:srgbClr val="000000"/>
              </a:buClr>
              <a:buFont typeface="Arial"/>
              <a:buChar char="•"/>
              <a:defRPr sz="1600">
                <a:solidFill>
                  <a:srgbClr val="000000"/>
                </a:solidFill>
                <a:latin typeface="Pretendard Medium"/>
                <a:ea typeface="Pretendard Medium"/>
                <a:cs typeface="Pretendard Medium"/>
              </a:defRPr>
            </a:lvl1pPr>
            <a:lvl2pPr marL="4064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2pPr>
            <a:lvl3pPr marL="6096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3pPr>
          </a:lstStyle>
          <a:p>
            <a:pPr indent="0" marL="0">
              <a:buNone/>
            </a:pPr>
            <a:r>
              <a:rPr lang="en-US" sz="1600" dirty="0">
                <a:solidFill>
                  <a:srgbClr val="000000"/>
                </a:solidFill>
                <a:latin typeface="Pretendard Medium" pitchFamily="34" charset="0"/>
                <a:ea typeface="Pretendard Medium" pitchFamily="34" charset="-122"/>
                <a:cs typeface="Pretendard Medium" pitchFamily="34" charset="-120"/>
              </a:rPr>
              <a:t>본문 (Tab: 2단계 불릿)</a:t>
            </a:r>
            <a:endParaRPr lang="en-US" sz="1600" dirty="0"/>
          </a:p>
        </p:txBody>
      </p:sp>
      <p:sp>
        <p:nvSpPr>
          <p:cNvPr id="5"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본문+그림">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8595360" cy="685800"/>
          </a:xfrm>
          <a:prstGeom prst="rect">
            <a:avLst/>
          </a:prstGeom>
          <a:noFill/>
          <a:ln/>
        </p:spPr>
        <p:txBody>
          <a:bodyPr wrap="square" lIns="0" tIns="0" rIns="0" bIns="0" rtlCol="0" anchor="ctr">
            <a:noAutofit/>
          </a:bodyPr>
          <a:lstStyle>
            <a:lvl1pPr algn="l" indent="0" marL="0">
              <a:buNone/>
              <a:defRPr lang="en-US" sz="2800" b="1" dirty="0">
                <a:solidFill>
                  <a:srgbClr val="000000"/>
                </a:solidFill>
                <a:latin typeface="Pretendard" pitchFamily="34" charset="0"/>
                <a:ea typeface="Pretendard" pitchFamily="34" charset="-122"/>
                <a:cs typeface="Pretendard" pitchFamily="34" charset="-120"/>
              </a:defRPr>
            </a:lvl1pPr>
          </a:lstStyle>
          <a:p>
            <a:pPr indent="0" marL="0">
              <a:buNone/>
            </a:pPr>
            <a:r>
              <a:rPr lang="en-US" sz="2800" b="1" dirty="0">
                <a:solidFill>
                  <a:srgbClr val="000000"/>
                </a:solidFill>
                <a:latin typeface="Pretendard" pitchFamily="34" charset="0"/>
                <a:ea typeface="Pretendard" pitchFamily="34" charset="-122"/>
                <a:cs typeface="Pretendard" pitchFamily="34" charset="-120"/>
              </a:rPr>
              <a:t>1.1 슬라이드 제목</a:t>
            </a:r>
            <a:endParaRPr lang="en-US" sz="2800" dirty="0"/>
          </a:p>
        </p:txBody>
      </p:sp>
      <p:sp>
        <p:nvSpPr>
          <p:cNvPr id="3" name="Text 0"/>
          <p:cNvSpPr/>
          <p:nvPr>
            <p:ph idx="101" type="body" hasCustomPrompt="1"/>
          </p:nvPr>
        </p:nvSpPr>
        <p:spPr>
          <a:xfrm>
            <a:off x="9677095" y="667512"/>
            <a:ext cx="182880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1. 섹션</a:t>
            </a:r>
            <a:endParaRPr lang="en-US" sz="1100" dirty="0"/>
          </a:p>
        </p:txBody>
      </p:sp>
      <p:sp>
        <p:nvSpPr>
          <p:cNvPr id="4" name="Text 0"/>
          <p:cNvSpPr/>
          <p:nvPr>
            <p:ph idx="102" type="body" hasCustomPrompt="1"/>
          </p:nvPr>
        </p:nvSpPr>
        <p:spPr>
          <a:xfrm>
            <a:off x="685800" y="1417320"/>
            <a:ext cx="3931920" cy="4663440"/>
          </a:xfrm>
          <a:prstGeom prst="rect">
            <a:avLst/>
          </a:prstGeom>
          <a:noFill/>
          <a:ln/>
        </p:spPr>
        <p:txBody>
          <a:bodyPr wrap="square" lIns="0" tIns="0" rIns="0" bIns="0" rtlCol="0" anchor="t">
            <a:noAutofit/>
          </a:bodyPr>
          <a:lstStyle>
            <a:lvl1pPr algn="l" marL="228600" indent="-228600">
              <a:lnSpc>
                <a:spcPct val="115000"/>
              </a:lnSpc>
              <a:spcAft>
                <a:spcPts val="1000"/>
              </a:spcAft>
              <a:buClr>
                <a:srgbClr val="000000"/>
              </a:buClr>
              <a:buFont typeface="Arial"/>
              <a:buChar char="•"/>
              <a:defRPr sz="1600">
                <a:solidFill>
                  <a:srgbClr val="000000"/>
                </a:solidFill>
                <a:latin typeface="Pretendard Medium"/>
                <a:ea typeface="Pretendard Medium"/>
                <a:cs typeface="Pretendard Medium"/>
              </a:defRPr>
            </a:lvl1pPr>
            <a:lvl2pPr marL="4064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2pPr>
            <a:lvl3pPr marL="6096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3pPr>
          </a:lstStyle>
          <a:p>
            <a:pPr indent="0" marL="0">
              <a:buNone/>
            </a:pPr>
            <a:r>
              <a:rPr lang="en-US" sz="1600" dirty="0">
                <a:solidFill>
                  <a:srgbClr val="000000"/>
                </a:solidFill>
                <a:latin typeface="Pretendard Medium" pitchFamily="34" charset="0"/>
                <a:ea typeface="Pretendard Medium" pitchFamily="34" charset="-122"/>
                <a:cs typeface="Pretendard Medium" pitchFamily="34" charset="-120"/>
              </a:rPr>
              <a:t>본문 (Tab: 2단계 불릿)</a:t>
            </a:r>
            <a:endParaRPr lang="en-US" sz="1600" dirty="0"/>
          </a:p>
        </p:txBody>
      </p:sp>
      <p:sp>
        <p:nvSpPr>
          <p:cNvPr id="5" name="Text 0"/>
          <p:cNvSpPr/>
          <p:nvPr>
            <p:ph idx="103" type="pic" hasCustomPrompt="1"/>
          </p:nvPr>
        </p:nvSpPr>
        <p:spPr>
          <a:xfrm>
            <a:off x="4937760" y="1417320"/>
            <a:ext cx="6565392" cy="416052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그림</a:t>
            </a:r>
            <a:endParaRPr lang="en-US" dirty="0"/>
          </a:p>
        </p:txBody>
      </p:sp>
      <p:sp>
        <p:nvSpPr>
          <p:cNvPr id="6" name="Text 0"/>
          <p:cNvSpPr/>
          <p:nvPr>
            <p:ph idx="104" type="body" hasCustomPrompt="1"/>
          </p:nvPr>
        </p:nvSpPr>
        <p:spPr>
          <a:xfrm>
            <a:off x="4937760" y="5715000"/>
            <a:ext cx="6565392" cy="320040"/>
          </a:xfrm>
          <a:prstGeom prst="rect">
            <a:avLst/>
          </a:prstGeom>
          <a:noFill/>
          <a:ln/>
        </p:spPr>
        <p:txBody>
          <a:bodyPr wrap="square" lIns="0" tIns="0" rIns="0" bIns="0" rtlCol="0" anchor="t">
            <a:noAutofit/>
          </a:bodyPr>
          <a:lstStyle>
            <a:lvl1pPr algn="l" indent="0" marL="0">
              <a:buNone/>
              <a:defRPr lang="en-US" sz="1200" dirty="0">
                <a:solidFill>
                  <a:srgbClr val="5E5E5E"/>
                </a:solidFill>
                <a:latin typeface="Pretendard Medium" pitchFamily="34" charset="0"/>
                <a:ea typeface="Pretendard Medium" pitchFamily="34" charset="-122"/>
                <a:cs typeface="Pretendard Medium" pitchFamily="34" charset="-120"/>
              </a:defRPr>
            </a:lvl1pPr>
          </a:lstStyle>
          <a:p>
            <a:pPr indent="0" marL="0">
              <a:buNone/>
            </a:pPr>
            <a:r>
              <a:rPr lang="en-US" sz="1200" dirty="0">
                <a:solidFill>
                  <a:srgbClr val="5E5E5E"/>
                </a:solidFill>
                <a:latin typeface="Pretendard Medium" pitchFamily="34" charset="0"/>
                <a:ea typeface="Pretendard Medium" pitchFamily="34" charset="-122"/>
                <a:cs typeface="Pretendard Medium" pitchFamily="34" charset="-120"/>
              </a:rPr>
              <a:t>그림 1. 캡션</a:t>
            </a:r>
            <a:endParaRPr lang="en-US" sz="1200" dirty="0"/>
          </a:p>
        </p:txBody>
      </p:sp>
      <p:sp>
        <p:nvSpPr>
          <p:cNvPr id="7"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그림">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8595360" cy="685800"/>
          </a:xfrm>
          <a:prstGeom prst="rect">
            <a:avLst/>
          </a:prstGeom>
          <a:noFill/>
          <a:ln/>
        </p:spPr>
        <p:txBody>
          <a:bodyPr wrap="square" lIns="0" tIns="0" rIns="0" bIns="0" rtlCol="0" anchor="ctr">
            <a:noAutofit/>
          </a:bodyPr>
          <a:lstStyle>
            <a:lvl1pPr algn="l" indent="0" marL="0">
              <a:buNone/>
              <a:defRPr lang="en-US" sz="2800" b="1" dirty="0">
                <a:solidFill>
                  <a:srgbClr val="000000"/>
                </a:solidFill>
                <a:latin typeface="Pretendard" pitchFamily="34" charset="0"/>
                <a:ea typeface="Pretendard" pitchFamily="34" charset="-122"/>
                <a:cs typeface="Pretendard" pitchFamily="34" charset="-120"/>
              </a:defRPr>
            </a:lvl1pPr>
          </a:lstStyle>
          <a:p>
            <a:pPr indent="0" marL="0">
              <a:buNone/>
            </a:pPr>
            <a:r>
              <a:rPr lang="en-US" sz="2800" b="1" dirty="0">
                <a:solidFill>
                  <a:srgbClr val="000000"/>
                </a:solidFill>
                <a:latin typeface="Pretendard" pitchFamily="34" charset="0"/>
                <a:ea typeface="Pretendard" pitchFamily="34" charset="-122"/>
                <a:cs typeface="Pretendard" pitchFamily="34" charset="-120"/>
              </a:rPr>
              <a:t>1.1 슬라이드 제목</a:t>
            </a:r>
            <a:endParaRPr lang="en-US" sz="2800" dirty="0"/>
          </a:p>
        </p:txBody>
      </p:sp>
      <p:sp>
        <p:nvSpPr>
          <p:cNvPr id="3" name="Text 0"/>
          <p:cNvSpPr/>
          <p:nvPr>
            <p:ph idx="101" type="body" hasCustomPrompt="1"/>
          </p:nvPr>
        </p:nvSpPr>
        <p:spPr>
          <a:xfrm>
            <a:off x="9677095" y="667512"/>
            <a:ext cx="182880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1. 섹션</a:t>
            </a:r>
            <a:endParaRPr lang="en-US" sz="1100" dirty="0"/>
          </a:p>
        </p:txBody>
      </p:sp>
      <p:sp>
        <p:nvSpPr>
          <p:cNvPr id="4" name="Text 0"/>
          <p:cNvSpPr/>
          <p:nvPr>
            <p:ph idx="102" type="pic" hasCustomPrompt="1"/>
          </p:nvPr>
        </p:nvSpPr>
        <p:spPr>
          <a:xfrm>
            <a:off x="685800" y="1417320"/>
            <a:ext cx="10820095" cy="429768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그림</a:t>
            </a:r>
            <a:endParaRPr lang="en-US" dirty="0"/>
          </a:p>
        </p:txBody>
      </p:sp>
      <p:sp>
        <p:nvSpPr>
          <p:cNvPr id="5" name="Text 0"/>
          <p:cNvSpPr/>
          <p:nvPr>
            <p:ph idx="103" type="body" hasCustomPrompt="1"/>
          </p:nvPr>
        </p:nvSpPr>
        <p:spPr>
          <a:xfrm>
            <a:off x="685800" y="5852160"/>
            <a:ext cx="10820095" cy="320040"/>
          </a:xfrm>
          <a:prstGeom prst="rect">
            <a:avLst/>
          </a:prstGeom>
          <a:noFill/>
          <a:ln/>
        </p:spPr>
        <p:txBody>
          <a:bodyPr wrap="square" lIns="0" tIns="0" rIns="0" bIns="0" rtlCol="0" anchor="t">
            <a:noAutofit/>
          </a:bodyPr>
          <a:lstStyle>
            <a:lvl1pPr algn="l" indent="0" marL="0">
              <a:buNone/>
              <a:defRPr lang="en-US" sz="1200" dirty="0">
                <a:solidFill>
                  <a:srgbClr val="5E5E5E"/>
                </a:solidFill>
                <a:latin typeface="Pretendard Medium" pitchFamily="34" charset="0"/>
                <a:ea typeface="Pretendard Medium" pitchFamily="34" charset="-122"/>
                <a:cs typeface="Pretendard Medium" pitchFamily="34" charset="-120"/>
              </a:defRPr>
            </a:lvl1pPr>
          </a:lstStyle>
          <a:p>
            <a:pPr indent="0" marL="0">
              <a:buNone/>
            </a:pPr>
            <a:r>
              <a:rPr lang="en-US" sz="1200" dirty="0">
                <a:solidFill>
                  <a:srgbClr val="5E5E5E"/>
                </a:solidFill>
                <a:latin typeface="Pretendard Medium" pitchFamily="34" charset="0"/>
                <a:ea typeface="Pretendard Medium" pitchFamily="34" charset="-122"/>
                <a:cs typeface="Pretendard Medium" pitchFamily="34" charset="-120"/>
              </a:rPr>
              <a:t>그림 1. 캡션</a:t>
            </a:r>
            <a:endParaRPr lang="en-US" sz="1200" dirty="0"/>
          </a:p>
        </p:txBody>
      </p:sp>
      <p:sp>
        <p:nvSpPr>
          <p:cNvPr id="6"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표">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8595360" cy="685800"/>
          </a:xfrm>
          <a:prstGeom prst="rect">
            <a:avLst/>
          </a:prstGeom>
          <a:noFill/>
          <a:ln/>
        </p:spPr>
        <p:txBody>
          <a:bodyPr wrap="square" lIns="0" tIns="0" rIns="0" bIns="0" rtlCol="0" anchor="ctr">
            <a:noAutofit/>
          </a:bodyPr>
          <a:lstStyle>
            <a:lvl1pPr algn="l" indent="0" marL="0">
              <a:buNone/>
              <a:defRPr lang="en-US" sz="2800" b="1" dirty="0">
                <a:solidFill>
                  <a:srgbClr val="000000"/>
                </a:solidFill>
                <a:latin typeface="Pretendard" pitchFamily="34" charset="0"/>
                <a:ea typeface="Pretendard" pitchFamily="34" charset="-122"/>
                <a:cs typeface="Pretendard" pitchFamily="34" charset="-120"/>
              </a:defRPr>
            </a:lvl1pPr>
          </a:lstStyle>
          <a:p>
            <a:pPr indent="0" marL="0">
              <a:buNone/>
            </a:pPr>
            <a:r>
              <a:rPr lang="en-US" sz="2800" b="1" dirty="0">
                <a:solidFill>
                  <a:srgbClr val="000000"/>
                </a:solidFill>
                <a:latin typeface="Pretendard" pitchFamily="34" charset="0"/>
                <a:ea typeface="Pretendard" pitchFamily="34" charset="-122"/>
                <a:cs typeface="Pretendard" pitchFamily="34" charset="-120"/>
              </a:rPr>
              <a:t>1.1 슬라이드 제목</a:t>
            </a:r>
            <a:endParaRPr lang="en-US" sz="2800" dirty="0"/>
          </a:p>
        </p:txBody>
      </p:sp>
      <p:sp>
        <p:nvSpPr>
          <p:cNvPr id="3" name="Text 0"/>
          <p:cNvSpPr/>
          <p:nvPr>
            <p:ph idx="101" type="body" hasCustomPrompt="1"/>
          </p:nvPr>
        </p:nvSpPr>
        <p:spPr>
          <a:xfrm>
            <a:off x="9677095" y="667512"/>
            <a:ext cx="182880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1. 섹션</a:t>
            </a:r>
            <a:endParaRPr lang="en-US" sz="1100" dirty="0"/>
          </a:p>
        </p:txBody>
      </p:sp>
      <p:sp>
        <p:nvSpPr>
          <p:cNvPr id="4" name="Text 0"/>
          <p:cNvSpPr/>
          <p:nvPr>
            <p:ph idx="102" type="body" hasCustomPrompt="1"/>
          </p:nvPr>
        </p:nvSpPr>
        <p:spPr>
          <a:xfrm>
            <a:off x="685800" y="1417320"/>
            <a:ext cx="10820095" cy="320040"/>
          </a:xfrm>
          <a:prstGeom prst="rect">
            <a:avLst/>
          </a:prstGeom>
          <a:noFill/>
          <a:ln/>
        </p:spPr>
        <p:txBody>
          <a:bodyPr wrap="square" lIns="0" tIns="0" rIns="0" bIns="0" rtlCol="0" anchor="t">
            <a:noAutofit/>
          </a:bodyPr>
          <a:lstStyle>
            <a:lvl1pPr algn="l" indent="0" marL="0">
              <a:buNone/>
              <a:defRPr lang="en-US" sz="1200" dirty="0">
                <a:solidFill>
                  <a:srgbClr val="5E5E5E"/>
                </a:solidFill>
                <a:latin typeface="Pretendard Medium" pitchFamily="34" charset="0"/>
                <a:ea typeface="Pretendard Medium" pitchFamily="34" charset="-122"/>
                <a:cs typeface="Pretendard Medium" pitchFamily="34" charset="-120"/>
              </a:defRPr>
            </a:lvl1pPr>
          </a:lstStyle>
          <a:p>
            <a:pPr indent="0" marL="0">
              <a:buNone/>
            </a:pPr>
            <a:r>
              <a:rPr lang="en-US" sz="1200" dirty="0">
                <a:solidFill>
                  <a:srgbClr val="5E5E5E"/>
                </a:solidFill>
                <a:latin typeface="Pretendard Medium" pitchFamily="34" charset="0"/>
                <a:ea typeface="Pretendard Medium" pitchFamily="34" charset="-122"/>
                <a:cs typeface="Pretendard Medium" pitchFamily="34" charset="-120"/>
              </a:rPr>
              <a:t>표 1. 캡션</a:t>
            </a:r>
            <a:endParaRPr lang="en-US" sz="1200" dirty="0"/>
          </a:p>
        </p:txBody>
      </p:sp>
      <p:sp>
        <p:nvSpPr>
          <p:cNvPr id="5" name="Text 0"/>
          <p:cNvSpPr/>
          <p:nvPr>
            <p:ph idx="103" type="tbl" hasCustomPrompt="1"/>
          </p:nvPr>
        </p:nvSpPr>
        <p:spPr>
          <a:xfrm>
            <a:off x="685800" y="1828800"/>
            <a:ext cx="10820095" cy="42519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표</a:t>
            </a:r>
            <a:endParaRPr lang="en-US" dirty="0"/>
          </a:p>
        </p:txBody>
      </p:sp>
      <p:sp>
        <p:nvSpPr>
          <p:cNvPr id="6"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본문+표">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8595360" cy="685800"/>
          </a:xfrm>
          <a:prstGeom prst="rect">
            <a:avLst/>
          </a:prstGeom>
          <a:noFill/>
          <a:ln/>
        </p:spPr>
        <p:txBody>
          <a:bodyPr wrap="square" lIns="0" tIns="0" rIns="0" bIns="0" rtlCol="0" anchor="ctr">
            <a:noAutofit/>
          </a:bodyPr>
          <a:lstStyle>
            <a:lvl1pPr algn="l" indent="0" marL="0">
              <a:buNone/>
              <a:defRPr lang="en-US" sz="2800" b="1" dirty="0">
                <a:solidFill>
                  <a:srgbClr val="000000"/>
                </a:solidFill>
                <a:latin typeface="Pretendard" pitchFamily="34" charset="0"/>
                <a:ea typeface="Pretendard" pitchFamily="34" charset="-122"/>
                <a:cs typeface="Pretendard" pitchFamily="34" charset="-120"/>
              </a:defRPr>
            </a:lvl1pPr>
          </a:lstStyle>
          <a:p>
            <a:pPr indent="0" marL="0">
              <a:buNone/>
            </a:pPr>
            <a:r>
              <a:rPr lang="en-US" sz="2800" b="1" dirty="0">
                <a:solidFill>
                  <a:srgbClr val="000000"/>
                </a:solidFill>
                <a:latin typeface="Pretendard" pitchFamily="34" charset="0"/>
                <a:ea typeface="Pretendard" pitchFamily="34" charset="-122"/>
                <a:cs typeface="Pretendard" pitchFamily="34" charset="-120"/>
              </a:rPr>
              <a:t>1.1 슬라이드 제목</a:t>
            </a:r>
            <a:endParaRPr lang="en-US" sz="2800" dirty="0"/>
          </a:p>
        </p:txBody>
      </p:sp>
      <p:sp>
        <p:nvSpPr>
          <p:cNvPr id="3" name="Text 0"/>
          <p:cNvSpPr/>
          <p:nvPr>
            <p:ph idx="101" type="body" hasCustomPrompt="1"/>
          </p:nvPr>
        </p:nvSpPr>
        <p:spPr>
          <a:xfrm>
            <a:off x="9677095" y="667512"/>
            <a:ext cx="182880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1. 섹션</a:t>
            </a:r>
            <a:endParaRPr lang="en-US" sz="1100" dirty="0"/>
          </a:p>
        </p:txBody>
      </p:sp>
      <p:sp>
        <p:nvSpPr>
          <p:cNvPr id="4" name="Text 0"/>
          <p:cNvSpPr/>
          <p:nvPr>
            <p:ph idx="102" type="body" hasCustomPrompt="1"/>
          </p:nvPr>
        </p:nvSpPr>
        <p:spPr>
          <a:xfrm>
            <a:off x="685800" y="1417320"/>
            <a:ext cx="3931920" cy="4663440"/>
          </a:xfrm>
          <a:prstGeom prst="rect">
            <a:avLst/>
          </a:prstGeom>
          <a:noFill/>
          <a:ln/>
        </p:spPr>
        <p:txBody>
          <a:bodyPr wrap="square" lIns="0" tIns="0" rIns="0" bIns="0" rtlCol="0" anchor="t">
            <a:noAutofit/>
          </a:bodyPr>
          <a:lstStyle>
            <a:lvl1pPr algn="l" marL="228600" indent="-228600">
              <a:lnSpc>
                <a:spcPct val="115000"/>
              </a:lnSpc>
              <a:spcAft>
                <a:spcPts val="1000"/>
              </a:spcAft>
              <a:buClr>
                <a:srgbClr val="000000"/>
              </a:buClr>
              <a:buFont typeface="Arial"/>
              <a:buChar char="•"/>
              <a:defRPr sz="1600">
                <a:solidFill>
                  <a:srgbClr val="000000"/>
                </a:solidFill>
                <a:latin typeface="Pretendard Medium"/>
                <a:ea typeface="Pretendard Medium"/>
                <a:cs typeface="Pretendard Medium"/>
              </a:defRPr>
            </a:lvl1pPr>
            <a:lvl2pPr marL="4064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2pPr>
            <a:lvl3pPr marL="6096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3pPr>
          </a:lstStyle>
          <a:p>
            <a:pPr indent="0" marL="0">
              <a:buNone/>
            </a:pPr>
            <a:r>
              <a:rPr lang="en-US" sz="1600" dirty="0">
                <a:solidFill>
                  <a:srgbClr val="000000"/>
                </a:solidFill>
                <a:latin typeface="Pretendard Medium" pitchFamily="34" charset="0"/>
                <a:ea typeface="Pretendard Medium" pitchFamily="34" charset="-122"/>
                <a:cs typeface="Pretendard Medium" pitchFamily="34" charset="-120"/>
              </a:rPr>
              <a:t>본문 (Tab: 2단계 불릿)</a:t>
            </a:r>
            <a:endParaRPr lang="en-US" sz="1600" dirty="0"/>
          </a:p>
        </p:txBody>
      </p:sp>
      <p:sp>
        <p:nvSpPr>
          <p:cNvPr id="5" name="Text 0"/>
          <p:cNvSpPr/>
          <p:nvPr>
            <p:ph idx="103" type="body" hasCustomPrompt="1"/>
          </p:nvPr>
        </p:nvSpPr>
        <p:spPr>
          <a:xfrm>
            <a:off x="4937760" y="1417320"/>
            <a:ext cx="6565392" cy="320040"/>
          </a:xfrm>
          <a:prstGeom prst="rect">
            <a:avLst/>
          </a:prstGeom>
          <a:noFill/>
          <a:ln/>
        </p:spPr>
        <p:txBody>
          <a:bodyPr wrap="square" lIns="0" tIns="0" rIns="0" bIns="0" rtlCol="0" anchor="t">
            <a:noAutofit/>
          </a:bodyPr>
          <a:lstStyle>
            <a:lvl1pPr algn="l" indent="0" marL="0">
              <a:buNone/>
              <a:defRPr lang="en-US" sz="1200" dirty="0">
                <a:solidFill>
                  <a:srgbClr val="5E5E5E"/>
                </a:solidFill>
                <a:latin typeface="Pretendard Medium" pitchFamily="34" charset="0"/>
                <a:ea typeface="Pretendard Medium" pitchFamily="34" charset="-122"/>
                <a:cs typeface="Pretendard Medium" pitchFamily="34" charset="-120"/>
              </a:defRPr>
            </a:lvl1pPr>
          </a:lstStyle>
          <a:p>
            <a:pPr indent="0" marL="0">
              <a:buNone/>
            </a:pPr>
            <a:r>
              <a:rPr lang="en-US" sz="1200" dirty="0">
                <a:solidFill>
                  <a:srgbClr val="5E5E5E"/>
                </a:solidFill>
                <a:latin typeface="Pretendard Medium" pitchFamily="34" charset="0"/>
                <a:ea typeface="Pretendard Medium" pitchFamily="34" charset="-122"/>
                <a:cs typeface="Pretendard Medium" pitchFamily="34" charset="-120"/>
              </a:rPr>
              <a:t>표 1. 캡션</a:t>
            </a:r>
            <a:endParaRPr lang="en-US" sz="1200" dirty="0"/>
          </a:p>
        </p:txBody>
      </p:sp>
      <p:sp>
        <p:nvSpPr>
          <p:cNvPr id="6" name="Text 0"/>
          <p:cNvSpPr/>
          <p:nvPr>
            <p:ph idx="104" type="tbl" hasCustomPrompt="1"/>
          </p:nvPr>
        </p:nvSpPr>
        <p:spPr>
          <a:xfrm>
            <a:off x="4937760" y="1828800"/>
            <a:ext cx="6565392" cy="4251960"/>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표</a:t>
            </a:r>
            <a:endParaRPr lang="en-US" dirty="0"/>
          </a:p>
        </p:txBody>
      </p:sp>
      <p:sp>
        <p:nvSpPr>
          <p:cNvPr id="7" name="Text 0"/>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본문+코드">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8595360" cy="685800"/>
          </a:xfrm>
          <a:prstGeom prst="rect">
            <a:avLst/>
          </a:prstGeom>
          <a:noFill/>
          <a:ln/>
        </p:spPr>
        <p:txBody>
          <a:bodyPr wrap="square" lIns="0" tIns="0" rIns="0" bIns="0" rtlCol="0" anchor="ctr">
            <a:noAutofit/>
          </a:bodyPr>
          <a:lstStyle>
            <a:lvl1pPr algn="l" indent="0" marL="0">
              <a:buNone/>
              <a:defRPr lang="en-US" sz="2800" b="1" dirty="0">
                <a:solidFill>
                  <a:srgbClr val="000000"/>
                </a:solidFill>
                <a:latin typeface="Pretendard" pitchFamily="34" charset="0"/>
                <a:ea typeface="Pretendard" pitchFamily="34" charset="-122"/>
                <a:cs typeface="Pretendard" pitchFamily="34" charset="-120"/>
              </a:defRPr>
            </a:lvl1pPr>
          </a:lstStyle>
          <a:p>
            <a:pPr indent="0" marL="0">
              <a:buNone/>
            </a:pPr>
            <a:r>
              <a:rPr lang="en-US" sz="2800" b="1" dirty="0">
                <a:solidFill>
                  <a:srgbClr val="000000"/>
                </a:solidFill>
                <a:latin typeface="Pretendard" pitchFamily="34" charset="0"/>
                <a:ea typeface="Pretendard" pitchFamily="34" charset="-122"/>
                <a:cs typeface="Pretendard" pitchFamily="34" charset="-120"/>
              </a:rPr>
              <a:t>1.1 슬라이드 제목</a:t>
            </a:r>
            <a:endParaRPr lang="en-US" sz="2800" dirty="0"/>
          </a:p>
        </p:txBody>
      </p:sp>
      <p:sp>
        <p:nvSpPr>
          <p:cNvPr id="3" name="Text 0"/>
          <p:cNvSpPr/>
          <p:nvPr>
            <p:ph idx="101" type="body" hasCustomPrompt="1"/>
          </p:nvPr>
        </p:nvSpPr>
        <p:spPr>
          <a:xfrm>
            <a:off x="9677095" y="667512"/>
            <a:ext cx="1828800" cy="365760"/>
          </a:xfrm>
          <a:prstGeom prst="roundRect">
            <a:avLst>
              <a:gd name="adj" fmla="val 50000"/>
            </a:avLst>
          </a:prstGeom>
          <a:solidFill>
            <a:srgbClr val="EFEFEF"/>
          </a:solidFill>
          <a:ln/>
        </p:spPr>
        <p:txBody>
          <a:bodyPr wrap="square" lIns="0" tIns="0" rIns="0" bIns="0" rtlCol="0" anchor="ctr">
            <a:noAutofit/>
          </a:bodyPr>
          <a:lstStyle>
            <a:lvl1pPr algn="ctr" indent="0" marL="0">
              <a:buNone/>
              <a:defRPr lang="en-US" sz="1100" dirty="0">
                <a:solidFill>
                  <a:srgbClr val="000000"/>
                </a:solidFill>
                <a:latin typeface="Pretendard Medium" pitchFamily="34" charset="0"/>
                <a:ea typeface="Pretendard Medium" pitchFamily="34" charset="-122"/>
                <a:cs typeface="Pretendard Medium" pitchFamily="34" charset="-120"/>
              </a:defRPr>
            </a:lvl1pPr>
          </a:lstStyle>
          <a:p>
            <a:pPr algn="ctr" indent="0" marL="0">
              <a:buNone/>
            </a:pPr>
            <a:r>
              <a:rPr lang="en-US" sz="1100" dirty="0">
                <a:solidFill>
                  <a:srgbClr val="000000"/>
                </a:solidFill>
                <a:latin typeface="Pretendard Medium" pitchFamily="34" charset="0"/>
                <a:ea typeface="Pretendard Medium" pitchFamily="34" charset="-122"/>
                <a:cs typeface="Pretendard Medium" pitchFamily="34" charset="-120"/>
              </a:rPr>
              <a:t>1. 섹션</a:t>
            </a:r>
            <a:endParaRPr lang="en-US" sz="1100" dirty="0"/>
          </a:p>
        </p:txBody>
      </p:sp>
      <p:sp>
        <p:nvSpPr>
          <p:cNvPr id="4" name="Text 0"/>
          <p:cNvSpPr/>
          <p:nvPr>
            <p:ph idx="102" type="body" hasCustomPrompt="1"/>
          </p:nvPr>
        </p:nvSpPr>
        <p:spPr>
          <a:xfrm>
            <a:off x="685800" y="1417320"/>
            <a:ext cx="3931920" cy="4663440"/>
          </a:xfrm>
          <a:prstGeom prst="rect">
            <a:avLst/>
          </a:prstGeom>
          <a:noFill/>
          <a:ln/>
        </p:spPr>
        <p:txBody>
          <a:bodyPr wrap="square" lIns="0" tIns="0" rIns="0" bIns="0" rtlCol="0" anchor="t">
            <a:noAutofit/>
          </a:bodyPr>
          <a:lstStyle>
            <a:lvl1pPr algn="l" marL="228600" indent="-228600">
              <a:lnSpc>
                <a:spcPct val="115000"/>
              </a:lnSpc>
              <a:spcAft>
                <a:spcPts val="1000"/>
              </a:spcAft>
              <a:buClr>
                <a:srgbClr val="000000"/>
              </a:buClr>
              <a:buFont typeface="Arial"/>
              <a:buChar char="•"/>
              <a:defRPr sz="1600">
                <a:solidFill>
                  <a:srgbClr val="000000"/>
                </a:solidFill>
                <a:latin typeface="Pretendard Medium"/>
                <a:ea typeface="Pretendard Medium"/>
                <a:cs typeface="Pretendard Medium"/>
              </a:defRPr>
            </a:lvl1pPr>
            <a:lvl2pPr marL="4064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2pPr>
            <a:lvl3pPr marL="609600" indent="-203200">
              <a:lnSpc>
                <a:spcPct val="115000"/>
              </a:lnSpc>
              <a:spcAft>
                <a:spcPts val="600"/>
              </a:spcAft>
              <a:buClr>
                <a:srgbClr val="5E5E5E"/>
              </a:buClr>
              <a:buFont typeface="Arial"/>
              <a:buChar char="–"/>
              <a:defRPr sz="1400">
                <a:solidFill>
                  <a:srgbClr val="5E5E5E"/>
                </a:solidFill>
                <a:latin typeface="Pretendard Medium"/>
                <a:ea typeface="Pretendard Medium"/>
                <a:cs typeface="Pretendard Medium"/>
              </a:defRPr>
            </a:lvl3pPr>
          </a:lstStyle>
          <a:p>
            <a:pPr indent="0" marL="0">
              <a:buNone/>
            </a:pPr>
            <a:r>
              <a:rPr lang="en-US" sz="1600" dirty="0">
                <a:solidFill>
                  <a:srgbClr val="000000"/>
                </a:solidFill>
                <a:latin typeface="Pretendard Medium" pitchFamily="34" charset="0"/>
                <a:ea typeface="Pretendard Medium" pitchFamily="34" charset="-122"/>
                <a:cs typeface="Pretendard Medium" pitchFamily="34" charset="-120"/>
              </a:rPr>
              <a:t>본문 (Tab: 2단계 불릿)</a:t>
            </a:r>
            <a:endParaRPr lang="en-US" sz="1600" dirty="0"/>
          </a:p>
        </p:txBody>
      </p:sp>
      <p:sp>
        <p:nvSpPr>
          <p:cNvPr id="5" name="Text 0"/>
          <p:cNvSpPr/>
          <p:nvPr>
            <p:ph idx="103" type="body" hasCustomPrompt="1"/>
          </p:nvPr>
        </p:nvSpPr>
        <p:spPr>
          <a:xfrm>
            <a:off x="4937760" y="1417320"/>
            <a:ext cx="6565392" cy="4663440"/>
          </a:xfrm>
          <a:prstGeom prst="roundRect">
            <a:avLst>
              <a:gd name="adj" fmla="val 3268"/>
            </a:avLst>
          </a:prstGeom>
          <a:solidFill>
            <a:srgbClr val="EFEFEF"/>
          </a:solidFill>
          <a:ln/>
        </p:spPr>
        <p:txBody>
          <a:bodyPr wrap="square" lIns="228600" tIns="384048" rIns="228600" bIns="137160" rtlCol="0" anchor="t">
            <a:noAutofit/>
          </a:bodyPr>
          <a:lstStyle>
            <a:lvl1pPr algn="l" marL="0" indent="0">
              <a:lnSpc>
                <a:spcPct val="100000"/>
              </a:lnSpc>
              <a:spcAft>
                <a:spcPts val="0"/>
              </a:spcAft>
              <a:buNone/>
              <a:defRPr sz="1100">
                <a:solidFill>
                  <a:srgbClr val="000000"/>
                </a:solidFill>
                <a:latin typeface="Consolas"/>
                <a:ea typeface="Consolas"/>
                <a:cs typeface="Consolas"/>
              </a:defRPr>
            </a:lvl1pPr>
          </a:lstStyle>
          <a:p>
            <a:pPr indent="0" marL="0">
              <a:buNone/>
            </a:pPr>
            <a:r>
              <a:rPr lang="en-US" sz="1100" dirty="0">
                <a:solidFill>
                  <a:srgbClr val="000000"/>
                </a:solidFill>
                <a:latin typeface="Consolas" pitchFamily="34" charset="0"/>
                <a:ea typeface="Consolas" pitchFamily="34" charset="-122"/>
                <a:cs typeface="Consolas" pitchFamily="34" charset="-120"/>
              </a:rPr>
              <a:t>Python 코드</a:t>
            </a:r>
            <a:endParaRPr lang="en-US" sz="1100" dirty="0"/>
          </a:p>
        </p:txBody>
      </p:sp>
      <p:sp>
        <p:nvSpPr>
          <p:cNvPr id="6" name="Text 0"/>
          <p:cNvSpPr/>
          <p:nvPr/>
        </p:nvSpPr>
        <p:spPr>
          <a:xfrm>
            <a:off x="5166360" y="1527048"/>
            <a:ext cx="1828800" cy="228600"/>
          </a:xfrm>
          <a:prstGeom prst="rect">
            <a:avLst/>
          </a:prstGeom>
          <a:noFill/>
          <a:ln/>
        </p:spPr>
        <p:txBody>
          <a:bodyPr wrap="square" lIns="0" tIns="0" rIns="0" bIns="0" rtlCol="0" anchor="ctr"/>
          <a:lstStyle/>
          <a:p>
            <a:pPr indent="0" marL="0">
              <a:buNone/>
            </a:pPr>
            <a:r>
              <a:rPr lang="en-US" sz="900" dirty="0">
                <a:solidFill>
                  <a:srgbClr val="AFAFAF"/>
                </a:solidFill>
                <a:latin typeface="Consolas" pitchFamily="34" charset="0"/>
                <a:ea typeface="Consolas" pitchFamily="34" charset="-122"/>
                <a:cs typeface="Consolas" pitchFamily="34" charset="-120"/>
              </a:rPr>
              <a:t>In [ ]</a:t>
            </a:r>
            <a:endParaRPr lang="en-US" sz="900" dirty="0"/>
          </a:p>
        </p:txBody>
      </p:sp>
      <p:sp>
        <p:nvSpPr>
          <p:cNvPr id="7" name="Text 1"/>
          <p:cNvSpPr/>
          <p:nvPr/>
        </p:nvSpPr>
        <p:spPr>
          <a:xfrm>
            <a:off x="685800" y="6355080"/>
            <a:ext cx="5486400" cy="274320"/>
          </a:xfrm>
          <a:prstGeom prst="rect">
            <a:avLst/>
          </a:prstGeom>
          <a:noFill/>
          <a:ln/>
        </p:spPr>
        <p:txBody>
          <a:bodyPr wrap="square" lIns="0" tIns="0" rIns="0" bIns="0" rtlCol="0" anchor="ctr"/>
          <a:lstStyle/>
          <a:p>
            <a:pPr indent="0" marL="0">
              <a:buNone/>
            </a:pPr>
            <a:r>
              <a:rPr lang="en-US" sz="1000" dirty="0">
                <a:solidFill>
                  <a:srgbClr val="AFAFAF"/>
                </a:solidFill>
                <a:latin typeface="Pretendard Medium" pitchFamily="34" charset="0"/>
                <a:ea typeface="Pretendard Medium" pitchFamily="34" charset="-122"/>
                <a:cs typeface="Pretendard Medium" pitchFamily="34" charset="-120"/>
              </a:rPr>
              <a:t>전기버스 충전 인프라 · 선행연구 검토</a:t>
            </a:r>
            <a:endParaRPr lang="en-US" sz="1000" dirty="0"/>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마무리">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194560"/>
            <a:ext cx="10058400" cy="1005840"/>
          </a:xfrm>
          <a:prstGeom prst="rect">
            <a:avLst/>
          </a:prstGeom>
          <a:noFill/>
          <a:ln/>
        </p:spPr>
        <p:txBody>
          <a:bodyPr wrap="square" lIns="0" tIns="0" rIns="0" bIns="0" rtlCol="0" anchor="ctr">
            <a:noAutofit/>
          </a:bodyPr>
          <a:lstStyle>
            <a:lvl1pPr algn="l" indent="0" marL="0">
              <a:buNone/>
              <a:defRPr lang="en-US" sz="5200" dirty="0">
                <a:solidFill>
                  <a:srgbClr val="000000"/>
                </a:solidFill>
                <a:latin typeface="Pretendard ExtraBold" pitchFamily="34" charset="0"/>
                <a:ea typeface="Pretendard ExtraBold" pitchFamily="34" charset="-122"/>
                <a:cs typeface="Pretendard ExtraBold" pitchFamily="34" charset="-120"/>
              </a:defRPr>
            </a:lvl1pPr>
          </a:lstStyle>
          <a:p>
            <a:pPr indent="0" marL="0">
              <a:buNone/>
            </a:pPr>
            <a:r>
              <a:rPr lang="en-US" sz="5200" dirty="0">
                <a:solidFill>
                  <a:srgbClr val="000000"/>
                </a:solidFill>
                <a:latin typeface="Pretendard ExtraBold" pitchFamily="34" charset="0"/>
                <a:ea typeface="Pretendard ExtraBold" pitchFamily="34" charset="-122"/>
                <a:cs typeface="Pretendard ExtraBold" pitchFamily="34" charset="-120"/>
              </a:rPr>
              <a:t>감사합니다</a:t>
            </a:r>
            <a:endParaRPr lang="en-US" sz="5200" dirty="0"/>
          </a:p>
        </p:txBody>
      </p:sp>
      <p:sp>
        <p:nvSpPr>
          <p:cNvPr id="3" name="Text 0"/>
          <p:cNvSpPr/>
          <p:nvPr>
            <p:ph idx="101" type="body" hasCustomPrompt="1"/>
          </p:nvPr>
        </p:nvSpPr>
        <p:spPr>
          <a:xfrm>
            <a:off x="685800" y="3246120"/>
            <a:ext cx="10058400" cy="548640"/>
          </a:xfrm>
          <a:prstGeom prst="rect">
            <a:avLst/>
          </a:prstGeom>
          <a:noFill/>
          <a:ln/>
        </p:spPr>
        <p:txBody>
          <a:bodyPr wrap="square" lIns="0" tIns="0" rIns="0" bIns="0" rtlCol="0" anchor="t">
            <a:noAutofit/>
          </a:bodyPr>
          <a:lstStyle>
            <a:lvl1pPr algn="l" indent="0" marL="0">
              <a:buNone/>
              <a:defRPr lang="en-US" sz="2200" dirty="0">
                <a:solidFill>
                  <a:srgbClr val="000000"/>
                </a:solidFill>
                <a:latin typeface="Pretendard ExtraLight" pitchFamily="34" charset="0"/>
                <a:ea typeface="Pretendard ExtraLight" pitchFamily="34" charset="-122"/>
                <a:cs typeface="Pretendard ExtraLight" pitchFamily="34" charset="-120"/>
              </a:defRPr>
            </a:lvl1pPr>
          </a:lstStyle>
          <a:p>
            <a:pPr indent="0" marL="0">
              <a:buNone/>
            </a:pPr>
            <a:r>
              <a:rPr lang="en-US" sz="2200" dirty="0">
                <a:solidFill>
                  <a:srgbClr val="000000"/>
                </a:solidFill>
                <a:latin typeface="Pretendard ExtraLight" pitchFamily="34" charset="0"/>
                <a:ea typeface="Pretendard ExtraLight" pitchFamily="34" charset="-122"/>
                <a:cs typeface="Pretendard ExtraLight" pitchFamily="34" charset="-120"/>
              </a:rPr>
              <a:t>부제</a:t>
            </a:r>
            <a:endParaRPr lang="en-US" sz="2200" dirty="0"/>
          </a:p>
        </p:txBody>
      </p:sp>
      <p:sp>
        <p:nvSpPr>
          <p:cNvPr id="4" name="Text 0"/>
          <p:cNvSpPr/>
          <p:nvPr>
            <p:ph idx="102" type="body" hasCustomPrompt="1"/>
          </p:nvPr>
        </p:nvSpPr>
        <p:spPr>
          <a:xfrm>
            <a:off x="685800" y="5577840"/>
            <a:ext cx="8229600" cy="320040"/>
          </a:xfrm>
          <a:prstGeom prst="rect">
            <a:avLst/>
          </a:prstGeom>
          <a:noFill/>
          <a:ln/>
        </p:spPr>
        <p:txBody>
          <a:bodyPr wrap="square" lIns="0" tIns="0" rIns="0" bIns="0" rtlCol="0" anchor="t">
            <a:noAutofit/>
          </a:bodyPr>
          <a:lstStyle>
            <a:lvl1pPr algn="l" indent="0" marL="0">
              <a:buNone/>
              <a:defRPr lang="en-US" sz="1400" dirty="0">
                <a:solidFill>
                  <a:srgbClr val="AFAFAF"/>
                </a:solidFill>
                <a:latin typeface="Pretendard Medium" pitchFamily="34" charset="0"/>
                <a:ea typeface="Pretendard Medium" pitchFamily="34" charset="-122"/>
                <a:cs typeface="Pretendard Medium" pitchFamily="34" charset="-120"/>
              </a:defRPr>
            </a:lvl1pPr>
          </a:lstStyle>
          <a:p>
            <a:pPr indent="0" marL="0">
              <a:buNone/>
            </a:pPr>
            <a:r>
              <a:rPr lang="en-US" sz="1400" dirty="0">
                <a:solidFill>
                  <a:srgbClr val="AFAFAF"/>
                </a:solidFill>
                <a:latin typeface="Pretendard Medium" pitchFamily="34" charset="0"/>
                <a:ea typeface="Pretendard Medium" pitchFamily="34" charset="-122"/>
                <a:cs typeface="Pretendard Medium" pitchFamily="34" charset="-120"/>
              </a:rPr>
              <a:t>연락처</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전기버스 충전 인프라 연구</a:t>
            </a:r>
          </a:p>
        </p:txBody>
      </p:sp>
      <p:sp>
        <p:nvSpPr>
          <p:cNvPr id="3" name="Text Placeholder 2"/>
          <p:cNvSpPr>
            <a:spLocks noGrp="1"/>
          </p:cNvSpPr>
          <p:nvPr>
            <p:ph type="body" idx="101"/>
          </p:nvPr>
        </p:nvSpPr>
        <p:spPr/>
        <p:txBody>
          <a:bodyPr/>
          <a:lstStyle/>
          <a:p>
            <a:r>
              <a:t>선행연구 검토</a:t>
            </a:r>
          </a:p>
        </p:txBody>
      </p:sp>
      <p:sp>
        <p:nvSpPr>
          <p:cNvPr id="4" name="Title 3"/>
          <p:cNvSpPr>
            <a:spLocks noGrp="1"/>
          </p:cNvSpPr>
          <p:nvPr>
            <p:ph type="title" idx="102"/>
          </p:nvPr>
        </p:nvSpPr>
        <p:spPr/>
        <p:txBody>
          <a:bodyPr/>
          <a:lstStyle/>
          <a:p>
            <a:r>
              <a:t>전기버스 충전 인프라 선행연구 11편</a:t>
            </a:r>
          </a:p>
        </p:txBody>
      </p:sp>
      <p:sp>
        <p:nvSpPr>
          <p:cNvPr id="5" name="Text Placeholder 4"/>
          <p:cNvSpPr>
            <a:spLocks noGrp="1"/>
          </p:cNvSpPr>
          <p:nvPr>
            <p:ph type="body" idx="103"/>
          </p:nvPr>
        </p:nvSpPr>
        <p:spPr/>
        <p:txBody>
          <a:bodyPr/>
          <a:lstStyle/>
          <a:p>
            <a:r>
              <a:t>무엇이 밝혀졌고, 무엇이 비어 있는가</a:t>
            </a:r>
          </a:p>
        </p:txBody>
      </p:sp>
      <p:sp>
        <p:nvSpPr>
          <p:cNvPr id="6" name="Text Placeholder 5"/>
          <p:cNvSpPr>
            <a:spLocks noGrp="1"/>
          </p:cNvSpPr>
          <p:nvPr>
            <p:ph type="body" idx="104"/>
          </p:nvPr>
        </p:nvSpPr>
        <p:spPr/>
        <p:txBody>
          <a:bodyPr/>
          <a:lstStyle/>
          <a:p>
            <a:r>
              <a:t>김주원</a:t>
            </a:r>
          </a:p>
        </p:txBody>
      </p:sp>
      <p:sp>
        <p:nvSpPr>
          <p:cNvPr id="7" name="Text Placeholder 6"/>
          <p:cNvSpPr>
            <a:spLocks noGrp="1"/>
          </p:cNvSpPr>
          <p:nvPr>
            <p:ph type="body" idx="105"/>
          </p:nvPr>
        </p:nvSpPr>
        <p:spPr/>
        <p:txBody>
          <a:bodyPr/>
          <a:lstStyle/>
          <a:p>
            <a:r>
              <a:t>2026년 9월 8일 (화)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강의 목차</a:t>
            </a:r>
          </a:p>
        </p:txBody>
      </p:sp>
      <p:sp>
        <p:nvSpPr>
          <p:cNvPr id="3" name="Text Placeholder 2"/>
          <p:cNvSpPr>
            <a:spLocks noGrp="1"/>
          </p:cNvSpPr>
          <p:nvPr>
            <p:ph type="body" idx="101"/>
          </p:nvPr>
        </p:nvSpPr>
        <p:spPr/>
        <p:txBody>
          <a:bodyPr/>
          <a:lstStyle/>
          <a:p>
            <a:r>
              <a:t>선행연구 검토</a:t>
            </a:r>
          </a:p>
        </p:txBody>
      </p:sp>
      <p:graphicFrame>
        <p:nvGraphicFramePr>
          <p:cNvPr id="5" name="Table Placeholder 4"/>
          <p:cNvGraphicFramePr>
            <a:graphicFrameLocks noGrp="1"/>
          </p:cNvGraphicFramePr>
          <p:nvPr>
            <p:ph type="tbl" idx="103"/>
          </p:nvPr>
        </p:nvGraphicFramePr>
        <p:xfrm>
          <a:off x="685800" y="1828800"/>
          <a:ext cx="10820093" cy="3683000"/>
        </p:xfrm>
        <a:graphic>
          <a:graphicData uri="http://schemas.openxmlformats.org/drawingml/2006/table">
            <a:tbl>
              <a:tblPr firstRow="0" bandRow="0" firstCol="0" lastRow="0" lastCol="0" bandCol="0"/>
              <a:tblGrid>
                <a:gridCol w="914631"/>
                <a:gridCol w="2560969"/>
                <a:gridCol w="7344493"/>
              </a:tblGrid>
              <a:tr h="736600">
                <a:tc>
                  <a:txBody>
                    <a:bodyPr/>
                    <a:lstStyle/>
                    <a:p>
                      <a:r>
                        <a:rPr sz="2600" b="0">
                          <a:solidFill>
                            <a:srgbClr val="000000"/>
                          </a:solidFill>
                          <a:latin typeface="Pretendard ExtraBold"/>
                        </a:rPr>
                        <a:t>01</a:t>
                      </a:r>
                    </a:p>
                  </a:txBody>
                  <a:tcPr marL="0" marR="101600" marT="127000" marB="127000" anchor="ctr">
                    <a:solidFill>
                      <a:srgbClr val="FFFFFF"/>
                    </a:solidFill>
                    <a:lnL w="0">
                      <a:noFill/>
                    </a:lnL>
                    <a:lnR w="0">
                      <a:noFill/>
                    </a:lnR>
                    <a:lnT w="0">
                      <a:noFill/>
                    </a:lnT>
                    <a:lnB w="9525">
                      <a:solidFill>
                        <a:srgbClr val="E2E2E2"/>
                      </a:solidFill>
                    </a:lnB>
                  </a:tcPr>
                </a:tc>
                <a:tc>
                  <a:txBody>
                    <a:bodyPr/>
                    <a:lstStyle/>
                    <a:p>
                      <a:r>
                        <a:rPr sz="1800" b="1">
                          <a:solidFill>
                            <a:srgbClr val="000000"/>
                          </a:solidFill>
                          <a:latin typeface="Pretendard"/>
                        </a:rPr>
                        <a:t>확보한 데이터</a:t>
                      </a:r>
                    </a:p>
                  </a:txBody>
                  <a:tcPr marL="101600" marR="101600" marT="127000" marB="1270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1.1 데이터 출처와 이용 조건  ·  1.2 테이블 명세 — 컬럼 24개  ·  1.3 코드 체계 — 버스 7종  ·  1.4 예시 데이터 — 2023년 4분기  ·  1.5 미리보기에서 확인한 제약</a:t>
                      </a:r>
                    </a:p>
                  </a:txBody>
                  <a:tcPr marL="101600" marR="101600" marT="127000" marB="127000" anchor="ctr">
                    <a:solidFill>
                      <a:srgbClr val="FFFFFF"/>
                    </a:solidFill>
                    <a:lnL w="0">
                      <a:noFill/>
                    </a:lnL>
                    <a:lnR w="0">
                      <a:noFill/>
                    </a:lnR>
                    <a:lnT w="0">
                      <a:noFill/>
                    </a:lnT>
                    <a:lnB w="9525">
                      <a:solidFill>
                        <a:srgbClr val="E2E2E2"/>
                      </a:solidFill>
                    </a:lnB>
                  </a:tcPr>
                </a:tc>
              </a:tr>
              <a:tr h="736600">
                <a:tc>
                  <a:txBody>
                    <a:bodyPr/>
                    <a:lstStyle/>
                    <a:p>
                      <a:r>
                        <a:rPr sz="2600" b="0">
                          <a:solidFill>
                            <a:srgbClr val="000000"/>
                          </a:solidFill>
                          <a:latin typeface="Pretendard ExtraBold"/>
                        </a:rPr>
                        <a:t>02</a:t>
                      </a:r>
                    </a:p>
                  </a:txBody>
                  <a:tcPr marL="0" marR="101600" marT="127000" marB="127000" anchor="ctr">
                    <a:solidFill>
                      <a:srgbClr val="FFFFFF"/>
                    </a:solidFill>
                    <a:lnL w="0">
                      <a:noFill/>
                    </a:lnL>
                    <a:lnR w="0">
                      <a:noFill/>
                    </a:lnR>
                    <a:lnT w="0">
                      <a:noFill/>
                    </a:lnT>
                    <a:lnB w="9525">
                      <a:solidFill>
                        <a:srgbClr val="E2E2E2"/>
                      </a:solidFill>
                    </a:lnB>
                  </a:tcPr>
                </a:tc>
                <a:tc>
                  <a:txBody>
                    <a:bodyPr/>
                    <a:lstStyle/>
                    <a:p>
                      <a:r>
                        <a:rPr sz="1800" b="1">
                          <a:solidFill>
                            <a:srgbClr val="000000"/>
                          </a:solidFill>
                          <a:latin typeface="Pretendard"/>
                        </a:rPr>
                        <a:t>논문별 결과 차이</a:t>
                      </a:r>
                    </a:p>
                  </a:txBody>
                  <a:tcPr marL="101600" marR="101600" marT="127000" marB="1270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2.1 검토 대상 11편  ·  2.2 같은 문제, 갈리는 결론</a:t>
                      </a:r>
                    </a:p>
                  </a:txBody>
                  <a:tcPr marL="101600" marR="101600" marT="127000" marB="127000" anchor="ctr">
                    <a:solidFill>
                      <a:srgbClr val="FFFFFF"/>
                    </a:solidFill>
                    <a:lnL w="0">
                      <a:noFill/>
                    </a:lnL>
                    <a:lnR w="0">
                      <a:noFill/>
                    </a:lnR>
                    <a:lnT w="0">
                      <a:noFill/>
                    </a:lnT>
                    <a:lnB w="9525">
                      <a:solidFill>
                        <a:srgbClr val="E2E2E2"/>
                      </a:solidFill>
                    </a:lnB>
                  </a:tcPr>
                </a:tc>
              </a:tr>
              <a:tr h="736600">
                <a:tc>
                  <a:txBody>
                    <a:bodyPr/>
                    <a:lstStyle/>
                    <a:p>
                      <a:r>
                        <a:rPr sz="2600" b="0">
                          <a:solidFill>
                            <a:srgbClr val="000000"/>
                          </a:solidFill>
                          <a:latin typeface="Pretendard ExtraBold"/>
                        </a:rPr>
                        <a:t>03</a:t>
                      </a:r>
                    </a:p>
                  </a:txBody>
                  <a:tcPr marL="0" marR="101600" marT="127000" marB="127000" anchor="ctr">
                    <a:solidFill>
                      <a:srgbClr val="FFFFFF"/>
                    </a:solidFill>
                    <a:lnL w="0">
                      <a:noFill/>
                    </a:lnL>
                    <a:lnR w="0">
                      <a:noFill/>
                    </a:lnR>
                    <a:lnT w="0">
                      <a:noFill/>
                    </a:lnT>
                    <a:lnB w="9525">
                      <a:solidFill>
                        <a:srgbClr val="E2E2E2"/>
                      </a:solidFill>
                    </a:lnB>
                  </a:tcPr>
                </a:tc>
                <a:tc>
                  <a:txBody>
                    <a:bodyPr/>
                    <a:lstStyle/>
                    <a:p>
                      <a:r>
                        <a:rPr sz="1800" b="1">
                          <a:solidFill>
                            <a:srgbClr val="000000"/>
                          </a:solidFill>
                          <a:latin typeface="Pretendard"/>
                        </a:rPr>
                        <a:t>지금까지 밝혀진 것</a:t>
                      </a:r>
                    </a:p>
                  </a:txBody>
                  <a:tcPr marL="101600" marR="101600" marT="127000" marB="1270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3.1 합의된 결과 세 가지  ·  3.2 국내 실측 — 수원여객 차고지  ·  3.3 데이터와 국내 재현 가능성</a:t>
                      </a:r>
                    </a:p>
                  </a:txBody>
                  <a:tcPr marL="101600" marR="101600" marT="127000" marB="127000" anchor="ctr">
                    <a:solidFill>
                      <a:srgbClr val="FFFFFF"/>
                    </a:solidFill>
                    <a:lnL w="0">
                      <a:noFill/>
                    </a:lnL>
                    <a:lnR w="0">
                      <a:noFill/>
                    </a:lnR>
                    <a:lnT w="0">
                      <a:noFill/>
                    </a:lnT>
                    <a:lnB w="9525">
                      <a:solidFill>
                        <a:srgbClr val="E2E2E2"/>
                      </a:solidFill>
                    </a:lnB>
                  </a:tcPr>
                </a:tc>
              </a:tr>
              <a:tr h="736600">
                <a:tc>
                  <a:txBody>
                    <a:bodyPr/>
                    <a:lstStyle/>
                    <a:p>
                      <a:r>
                        <a:rPr sz="2600" b="0">
                          <a:solidFill>
                            <a:srgbClr val="000000"/>
                          </a:solidFill>
                          <a:latin typeface="Pretendard ExtraBold"/>
                        </a:rPr>
                        <a:t>04</a:t>
                      </a:r>
                    </a:p>
                  </a:txBody>
                  <a:tcPr marL="0" marR="101600" marT="127000" marB="127000" anchor="ctr">
                    <a:solidFill>
                      <a:srgbClr val="FFFFFF"/>
                    </a:solidFill>
                    <a:lnL w="0">
                      <a:noFill/>
                    </a:lnL>
                    <a:lnR w="0">
                      <a:noFill/>
                    </a:lnR>
                    <a:lnT w="0">
                      <a:noFill/>
                    </a:lnT>
                    <a:lnB w="9525">
                      <a:solidFill>
                        <a:srgbClr val="E2E2E2"/>
                      </a:solidFill>
                    </a:lnB>
                  </a:tcPr>
                </a:tc>
                <a:tc>
                  <a:txBody>
                    <a:bodyPr/>
                    <a:lstStyle/>
                    <a:p>
                      <a:r>
                        <a:rPr sz="1800" b="1">
                          <a:solidFill>
                            <a:srgbClr val="000000"/>
                          </a:solidFill>
                          <a:latin typeface="Pretendard"/>
                        </a:rPr>
                        <a:t>현재 연구의 한계</a:t>
                      </a:r>
                    </a:p>
                  </a:txBody>
                  <a:tcPr marL="101600" marR="101600" marT="127000" marB="1270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4.1 운영 변수의 공백  ·  4.2 공통 한계 네 가지</a:t>
                      </a:r>
                    </a:p>
                  </a:txBody>
                  <a:tcPr marL="101600" marR="101600" marT="127000" marB="127000" anchor="ctr">
                    <a:solidFill>
                      <a:srgbClr val="FFFFFF"/>
                    </a:solidFill>
                    <a:lnL w="0">
                      <a:noFill/>
                    </a:lnL>
                    <a:lnR w="0">
                      <a:noFill/>
                    </a:lnR>
                    <a:lnT w="0">
                      <a:noFill/>
                    </a:lnT>
                    <a:lnB w="9525">
                      <a:solidFill>
                        <a:srgbClr val="E2E2E2"/>
                      </a:solidFill>
                    </a:lnB>
                  </a:tcPr>
                </a:tc>
              </a:tr>
              <a:tr h="736600">
                <a:tc>
                  <a:txBody>
                    <a:bodyPr/>
                    <a:lstStyle/>
                    <a:p>
                      <a:r>
                        <a:rPr sz="2600" b="0">
                          <a:solidFill>
                            <a:srgbClr val="000000"/>
                          </a:solidFill>
                          <a:latin typeface="Pretendard ExtraBold"/>
                        </a:rPr>
                        <a:t>05</a:t>
                      </a:r>
                    </a:p>
                  </a:txBody>
                  <a:tcPr marL="0" marR="101600" marT="127000" marB="127000" anchor="ctr">
                    <a:solidFill>
                      <a:srgbClr val="FFFFFF"/>
                    </a:solidFill>
                    <a:lnL w="0">
                      <a:noFill/>
                    </a:lnL>
                    <a:lnR w="0">
                      <a:noFill/>
                    </a:lnR>
                    <a:lnT w="0">
                      <a:noFill/>
                    </a:lnT>
                    <a:lnB w="9525">
                      <a:solidFill>
                        <a:srgbClr val="E2E2E2"/>
                      </a:solidFill>
                    </a:lnB>
                  </a:tcPr>
                </a:tc>
                <a:tc>
                  <a:txBody>
                    <a:bodyPr/>
                    <a:lstStyle/>
                    <a:p>
                      <a:r>
                        <a:rPr sz="1800" b="1">
                          <a:solidFill>
                            <a:srgbClr val="000000"/>
                          </a:solidFill>
                          <a:latin typeface="Pretendard"/>
                        </a:rPr>
                        <a:t>앞으로 필요한 것</a:t>
                      </a:r>
                    </a:p>
                  </a:txBody>
                  <a:tcPr marL="101600" marR="101600" marT="127000" marB="1270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5.1 예비 실행 — DTUMOS  ·  5.2 다음 단계</a:t>
                      </a:r>
                    </a:p>
                  </a:txBody>
                  <a:tcPr marL="101600" marR="101600" marT="127000" marB="1270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1007</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01</a:t>
            </a:r>
          </a:p>
        </p:txBody>
      </p:sp>
      <p:sp>
        <p:nvSpPr>
          <p:cNvPr id="3" name="Title 2"/>
          <p:cNvSpPr>
            <a:spLocks noGrp="1"/>
          </p:cNvSpPr>
          <p:nvPr>
            <p:ph type="title" idx="101"/>
          </p:nvPr>
        </p:nvSpPr>
        <p:spPr/>
        <p:txBody>
          <a:bodyPr/>
          <a:lstStyle/>
          <a:p>
            <a:r>
              <a:t>확보한 데이터</a:t>
            </a:r>
          </a:p>
        </p:txBody>
      </p:sp>
      <p:sp>
        <p:nvSpPr>
          <p:cNvPr id="4" name="Text Placeholder 3"/>
          <p:cNvSpPr>
            <a:spLocks noGrp="1"/>
          </p:cNvSpPr>
          <p:nvPr>
            <p:ph type="body" idx="102"/>
          </p:nvPr>
        </p:nvSpPr>
        <p:spPr/>
        <p:txBody>
          <a:bodyPr/>
          <a:lstStyle/>
          <a:p>
            <a:pPr>
              <a:spcAft>
                <a:spcPts val="1000"/>
              </a:spcAft>
            </a:pPr>
            <a:r>
              <a:rPr>
                <a:solidFill>
                  <a:srgbClr val="AFAFAF"/>
                </a:solidFill>
              </a:rPr>
              <a:t>1.1  </a:t>
            </a:r>
            <a:r>
              <a:t>데이터 출처와 이용 조건</a:t>
            </a:r>
          </a:p>
          <a:p>
            <a:pPr>
              <a:spcAft>
                <a:spcPts val="1000"/>
              </a:spcAft>
            </a:pPr>
            <a:r>
              <a:rPr>
                <a:solidFill>
                  <a:srgbClr val="AFAFAF"/>
                </a:solidFill>
              </a:rPr>
              <a:t>1.2  </a:t>
            </a:r>
            <a:r>
              <a:t>테이블 명세 — 컬럼 24개</a:t>
            </a:r>
          </a:p>
          <a:p>
            <a:pPr>
              <a:spcAft>
                <a:spcPts val="1000"/>
              </a:spcAft>
            </a:pPr>
            <a:r>
              <a:rPr>
                <a:solidFill>
                  <a:srgbClr val="AFAFAF"/>
                </a:solidFill>
              </a:rPr>
              <a:t>1.3  </a:t>
            </a:r>
            <a:r>
              <a:t>코드 체계 — 버스 7종</a:t>
            </a:r>
          </a:p>
          <a:p>
            <a:pPr>
              <a:spcAft>
                <a:spcPts val="1000"/>
              </a:spcAft>
            </a:pPr>
            <a:r>
              <a:rPr>
                <a:solidFill>
                  <a:srgbClr val="AFAFAF"/>
                </a:solidFill>
              </a:rPr>
              <a:t>1.4  </a:t>
            </a:r>
            <a:r>
              <a:t>예시 데이터 — 2023년 4분기</a:t>
            </a:r>
          </a:p>
          <a:p>
            <a:pPr>
              <a:spcAft>
                <a:spcPts val="1000"/>
              </a:spcAft>
            </a:pPr>
            <a:r>
              <a:rPr>
                <a:solidFill>
                  <a:srgbClr val="AFAFAF"/>
                </a:solidFill>
              </a:rPr>
              <a:t>1.5  </a:t>
            </a:r>
            <a:r>
              <a:t>미리보기에서 확인한 제약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1.1 데이터 출처와 이용 조건</a:t>
            </a:r>
          </a:p>
        </p:txBody>
      </p:sp>
      <p:sp>
        <p:nvSpPr>
          <p:cNvPr id="3" name="Text Placeholder 2"/>
          <p:cNvSpPr>
            <a:spLocks noGrp="1"/>
          </p:cNvSpPr>
          <p:nvPr>
            <p:ph type="body" idx="101"/>
          </p:nvPr>
        </p:nvSpPr>
        <p:spPr/>
        <p:txBody>
          <a:bodyPr/>
          <a:lstStyle/>
          <a:p>
            <a:r>
              <a:t>1. 확보한 데이터</a:t>
            </a:r>
          </a:p>
        </p:txBody>
      </p:sp>
      <p:sp>
        <p:nvSpPr>
          <p:cNvPr id="4" name="Text Placeholder 3"/>
          <p:cNvSpPr>
            <a:spLocks noGrp="1"/>
          </p:cNvSpPr>
          <p:nvPr>
            <p:ph type="body" idx="102"/>
          </p:nvPr>
        </p:nvSpPr>
        <p:spPr/>
        <p:txBody>
          <a:bodyPr/>
          <a:lstStyle/>
          <a:p>
            <a:pPr/>
            <a:r>
              <a:t>국가교통데이터 오픈마켓 — 유료 상품, 분기 단위 갱신</a:t>
            </a:r>
          </a:p>
          <a:p>
            <a:pPr lvl="1"/>
            <a:r>
              <a:t>bigdata-transportation.kr, 상품 ID PRDTNUM_000000020545</a:t>
            </a:r>
          </a:p>
          <a:p>
            <a:pPr/>
            <a:r>
              <a:t>제공기관: 주식회사 펌프킨 — 상품코드 PPK-BUS-CHNGH-0001</a:t>
            </a:r>
          </a:p>
          <a:p>
            <a:pPr lvl="1"/>
            <a:r>
              <a:t>전기버스 충전 인프라 운영사, 문의 bigdata@pumpkinev.co.kr</a:t>
            </a:r>
          </a:p>
          <a:p>
            <a:pPr/>
            <a:r>
              <a:t>기본 이용료: 740,300원</a:t>
            </a:r>
          </a:p>
          <a:p>
            <a:pPr/>
            <a:r>
              <a:t>현재 확보: 테이블정의서 + 미리보기 30행 (2022·2023년)</a:t>
            </a:r>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1.2 테이블 명세 — 컬럼 24개</a:t>
            </a:r>
          </a:p>
        </p:txBody>
      </p:sp>
      <p:sp>
        <p:nvSpPr>
          <p:cNvPr id="3" name="Text Placeholder 2"/>
          <p:cNvSpPr>
            <a:spLocks noGrp="1"/>
          </p:cNvSpPr>
          <p:nvPr>
            <p:ph type="body" idx="101"/>
          </p:nvPr>
        </p:nvSpPr>
        <p:spPr/>
        <p:txBody>
          <a:bodyPr/>
          <a:lstStyle/>
          <a:p>
            <a:r>
              <a:t>1. 확보한 데이터</a:t>
            </a:r>
          </a:p>
        </p:txBody>
      </p:sp>
      <p:sp>
        <p:nvSpPr>
          <p:cNvPr id="4" name="Text Placeholder 3"/>
          <p:cNvSpPr>
            <a:spLocks noGrp="1"/>
          </p:cNvSpPr>
          <p:nvPr>
            <p:ph type="body" idx="102"/>
          </p:nvPr>
        </p:nvSpPr>
        <p:spPr/>
        <p:txBody>
          <a:bodyPr/>
          <a:lstStyle/>
          <a:p>
            <a:r>
              <a:t>표 1. TC_ELCTY_ATMBL_ELCTC_RECD 컬럼 구성과 미리보기 값</a:t>
            </a:r>
          </a:p>
        </p:txBody>
      </p:sp>
      <p:graphicFrame>
        <p:nvGraphicFramePr>
          <p:cNvPr id="5" name="Table Placeholder 4"/>
          <p:cNvGraphicFramePr>
            <a:graphicFrameLocks noGrp="1"/>
          </p:cNvGraphicFramePr>
          <p:nvPr>
            <p:ph type="tbl" idx="103"/>
          </p:nvPr>
        </p:nvGraphicFramePr>
        <p:xfrm>
          <a:off x="685800" y="1828800"/>
          <a:ext cx="10820095" cy="3581400"/>
        </p:xfrm>
        <a:graphic>
          <a:graphicData uri="http://schemas.openxmlformats.org/drawingml/2006/table">
            <a:tbl>
              <a:tblPr firstRow="0" bandRow="0" firstCol="0" lastRow="0" lastCol="0" bandCol="0"/>
              <a:tblGrid>
                <a:gridCol w="2705023"/>
                <a:gridCol w="2705023"/>
                <a:gridCol w="2705023"/>
                <a:gridCol w="2705026"/>
              </a:tblGrid>
              <a:tr h="406400">
                <a:tc>
                  <a:txBody>
                    <a:bodyPr/>
                    <a:lstStyle/>
                    <a:p>
                      <a:r>
                        <a:rPr sz="1300" b="0">
                          <a:solidFill>
                            <a:srgbClr val="FFFFFF"/>
                          </a:solidFill>
                          <a:latin typeface="Pretendard Medium"/>
                        </a:rPr>
                        <a:t>그룹</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컬럼 (영문)</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개수</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미리보기 값</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충전소·충전기</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CHRSTN_ID, CHRGR_ID, CHRSTN_NM</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KRPPKCP0741</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위치</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CTPR_CD/NM, SIGNGU_CD/NM, LA, LO</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6</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인천광역시 연수구</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시각</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ELCTC_DTM, STRT_DTM, END_DTM</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00:00:00 → 02:05:56</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충전 상태</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ELCTC_DV, ELCTC_MTHD, SOC 3종</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5</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13 · D · 48 → 91</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전력·관리</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PWRER_USQNT, ELCTC_TM, 부하 3종, RM, PRDCT_DTM</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7</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164 · 경부하 164</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1007</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1.3 코드 체계 — 버스 7종</a:t>
            </a:r>
          </a:p>
        </p:txBody>
      </p:sp>
      <p:sp>
        <p:nvSpPr>
          <p:cNvPr id="3" name="Text Placeholder 2"/>
          <p:cNvSpPr>
            <a:spLocks noGrp="1"/>
          </p:cNvSpPr>
          <p:nvPr>
            <p:ph type="body" idx="101"/>
          </p:nvPr>
        </p:nvSpPr>
        <p:spPr/>
        <p:txBody>
          <a:bodyPr/>
          <a:lstStyle/>
          <a:p>
            <a:r>
              <a:t>1. 확보한 데이터</a:t>
            </a:r>
          </a:p>
        </p:txBody>
      </p:sp>
      <p:sp>
        <p:nvSpPr>
          <p:cNvPr id="4" name="Text Placeholder 3"/>
          <p:cNvSpPr>
            <a:spLocks noGrp="1"/>
          </p:cNvSpPr>
          <p:nvPr>
            <p:ph type="body" idx="102"/>
          </p:nvPr>
        </p:nvSpPr>
        <p:spPr/>
        <p:txBody>
          <a:bodyPr/>
          <a:lstStyle/>
          <a:p>
            <a:pPr/>
            <a:r>
              <a:t>충전구분코드 15종</a:t>
            </a:r>
          </a:p>
          <a:p>
            <a:pPr lvl="1"/>
            <a:r>
              <a:t>승용차 6 · 버스 7 · 이륜차 2</a:t>
            </a:r>
          </a:p>
          <a:p>
            <a:pPr/>
            <a:r>
              <a:t>충전방식코드 5종 — 커넥터만</a:t>
            </a:r>
          </a:p>
          <a:p>
            <a:pPr/>
            <a:r>
              <a:t>미리보기 30행: 버스 0건</a:t>
            </a:r>
          </a:p>
          <a:p>
            <a:pPr lvl="1"/>
            <a:r>
              <a:t>충전구분 13 · 충전방식 D</a:t>
            </a:r>
          </a:p>
        </p:txBody>
      </p:sp>
      <p:sp>
        <p:nvSpPr>
          <p:cNvPr id="5" name="Text Placeholder 4"/>
          <p:cNvSpPr>
            <a:spLocks noGrp="1"/>
          </p:cNvSpPr>
          <p:nvPr>
            <p:ph type="body" idx="103"/>
          </p:nvPr>
        </p:nvSpPr>
        <p:spPr/>
        <p:txBody>
          <a:bodyPr/>
          <a:lstStyle/>
          <a:p>
            <a:r>
              <a:t>표 2. 충전구분코드 중 버스 코드 7종 (21~27)</a:t>
            </a:r>
          </a:p>
        </p:txBody>
      </p:sp>
      <p:graphicFrame>
        <p:nvGraphicFramePr>
          <p:cNvPr id="6" name="Table Placeholder 5"/>
          <p:cNvGraphicFramePr>
            <a:graphicFrameLocks noGrp="1"/>
          </p:cNvGraphicFramePr>
          <p:nvPr>
            <p:ph type="tbl" idx="104"/>
          </p:nvPr>
        </p:nvGraphicFramePr>
        <p:xfrm>
          <a:off x="4937760" y="1828800"/>
          <a:ext cx="6565392" cy="2946400"/>
        </p:xfrm>
        <a:graphic>
          <a:graphicData uri="http://schemas.openxmlformats.org/drawingml/2006/table">
            <a:tbl>
              <a:tblPr firstRow="0" bandRow="0" firstCol="0" lastRow="0" lastCol="0" bandCol="0"/>
              <a:tblGrid>
                <a:gridCol w="1641348"/>
                <a:gridCol w="1641348"/>
                <a:gridCol w="1641348"/>
                <a:gridCol w="1641348"/>
              </a:tblGrid>
              <a:tr h="406400">
                <a:tc>
                  <a:txBody>
                    <a:bodyPr/>
                    <a:lstStyle/>
                    <a:p>
                      <a:r>
                        <a:rPr sz="1300" b="0">
                          <a:solidFill>
                            <a:srgbClr val="FFFFFF"/>
                          </a:solidFill>
                          <a:latin typeface="Pretendard Medium"/>
                        </a:rPr>
                        <a:t>코드</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내용</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코드</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내용</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21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DC급속</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25</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DC콤보+DC콤보</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22</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AC완속</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26</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DC차데모+DC차데모</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비접촉</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27</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DC GBT+DC+GBT</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24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AC급속</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1008</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1.4 예시 데이터 — 2023년 4분기</a:t>
            </a:r>
          </a:p>
        </p:txBody>
      </p:sp>
      <p:sp>
        <p:nvSpPr>
          <p:cNvPr id="3" name="Text Placeholder 2"/>
          <p:cNvSpPr>
            <a:spLocks noGrp="1"/>
          </p:cNvSpPr>
          <p:nvPr>
            <p:ph type="body" idx="101"/>
          </p:nvPr>
        </p:nvSpPr>
        <p:spPr/>
        <p:txBody>
          <a:bodyPr/>
          <a:lstStyle/>
          <a:p>
            <a:r>
              <a:t>1. 확보한 데이터</a:t>
            </a:r>
          </a:p>
        </p:txBody>
      </p:sp>
      <p:sp>
        <p:nvSpPr>
          <p:cNvPr id="4" name="Text Placeholder 3"/>
          <p:cNvSpPr>
            <a:spLocks noGrp="1"/>
          </p:cNvSpPr>
          <p:nvPr>
            <p:ph type="body" idx="102"/>
          </p:nvPr>
        </p:nvSpPr>
        <p:spPr/>
        <p:txBody>
          <a:bodyPr/>
          <a:lstStyle/>
          <a:p>
            <a:r>
              <a:t>표 3. 미리보기 30행에서 뽑은 충전 세션 5건 (2023-10-01 00시)</a:t>
            </a:r>
          </a:p>
        </p:txBody>
      </p:sp>
      <p:graphicFrame>
        <p:nvGraphicFramePr>
          <p:cNvPr id="5" name="Table Placeholder 4"/>
          <p:cNvGraphicFramePr>
            <a:graphicFrameLocks noGrp="1"/>
          </p:cNvGraphicFramePr>
          <p:nvPr>
            <p:ph type="tbl" idx="103"/>
          </p:nvPr>
        </p:nvGraphicFramePr>
        <p:xfrm>
          <a:off x="685800" y="1828800"/>
          <a:ext cx="10820095" cy="3581400"/>
        </p:xfrm>
        <a:graphic>
          <a:graphicData uri="http://schemas.openxmlformats.org/drawingml/2006/table">
            <a:tbl>
              <a:tblPr firstRow="0" bandRow="0" firstCol="0" lastRow="0" lastCol="0" bandCol="0"/>
              <a:tblGrid>
                <a:gridCol w="1803349"/>
                <a:gridCol w="1803349"/>
                <a:gridCol w="1803349"/>
                <a:gridCol w="1803349"/>
                <a:gridCol w="1803349"/>
                <a:gridCol w="1803350"/>
              </a:tblGrid>
              <a:tr h="406400">
                <a:tc>
                  <a:txBody>
                    <a:bodyPr/>
                    <a:lstStyle/>
                    <a:p>
                      <a:r>
                        <a:rPr sz="1300" b="0">
                          <a:solidFill>
                            <a:srgbClr val="FFFFFF"/>
                          </a:solidFill>
                          <a:latin typeface="Pretendard Medium"/>
                        </a:rPr>
                        <a:t>충전기</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시군구</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시작 → 종료</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SOC</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전력량</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충전시간</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CP0741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인천 연수</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00:00:00 → 02:05:56</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48 → 91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164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CP0113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경기 오산</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00:00:03 → 01:26:32</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35 → 90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144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CP0413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경기 수원</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00:00:06 → 01:54:11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17 → 95</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161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CP0795</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경남 창원</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00:00:02 → 00:14:00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89 → 100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1400</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CP0323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경남 창원</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00:00:05 → 00:21:50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87 → 100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2150</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1.5 미리보기에서 확인한 제약</a:t>
            </a:r>
          </a:p>
        </p:txBody>
      </p:sp>
      <p:sp>
        <p:nvSpPr>
          <p:cNvPr id="3" name="Text Placeholder 2"/>
          <p:cNvSpPr>
            <a:spLocks noGrp="1"/>
          </p:cNvSpPr>
          <p:nvPr>
            <p:ph type="body" idx="101"/>
          </p:nvPr>
        </p:nvSpPr>
        <p:spPr/>
        <p:txBody>
          <a:bodyPr/>
          <a:lstStyle/>
          <a:p>
            <a:r>
              <a:t>1. 확보한 데이터</a:t>
            </a:r>
          </a:p>
        </p:txBody>
      </p:sp>
      <p:sp>
        <p:nvSpPr>
          <p:cNvPr id="4" name="Text Placeholder 3"/>
          <p:cNvSpPr>
            <a:spLocks noGrp="1"/>
          </p:cNvSpPr>
          <p:nvPr>
            <p:ph type="body" idx="102"/>
          </p:nvPr>
        </p:nvSpPr>
        <p:spPr/>
        <p:txBody>
          <a:bodyPr/>
          <a:lstStyle/>
          <a:p>
            <a:pPr/>
            <a:r>
              <a:t>30행 = 세션 14건 — 같은 세션이 초 단위로 최대 3회 반복</a:t>
            </a:r>
          </a:p>
          <a:p>
            <a:pPr lvl="1"/>
            <a:r>
              <a:t>(충전기 ID, 시작일시) 기준 중복 제거 선행</a:t>
            </a:r>
          </a:p>
          <a:p>
            <a:pPr/>
            <a:r>
              <a:t>버스 코드 0건 — 비고 컬럼도 "전기차 충전 이력" 표기</a:t>
            </a:r>
          </a:p>
          <a:p>
            <a:pPr lvl="1"/>
            <a:r>
              <a:t>미리보기 한정인지 상품 자체인지 판매처 확인</a:t>
            </a:r>
          </a:p>
          <a:p>
            <a:pPr/>
            <a:r>
              <a:t>충전시간 22/30이 0 — 나머지는 초가 아닌 mmss 정수 (00:14:00 → 1400)</a:t>
            </a:r>
          </a:p>
          <a:p>
            <a:pPr/>
            <a:r>
              <a:t>위경도 정수 절단(37, 126) · 충전소명 마스킹 · 부하 3종 중 경부하만</a:t>
            </a:r>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1004</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02</a:t>
            </a:r>
          </a:p>
        </p:txBody>
      </p:sp>
      <p:sp>
        <p:nvSpPr>
          <p:cNvPr id="3" name="Title 2"/>
          <p:cNvSpPr>
            <a:spLocks noGrp="1"/>
          </p:cNvSpPr>
          <p:nvPr>
            <p:ph type="title" idx="101"/>
          </p:nvPr>
        </p:nvSpPr>
        <p:spPr/>
        <p:txBody>
          <a:bodyPr/>
          <a:lstStyle/>
          <a:p>
            <a:r>
              <a:t>논문별 결과 차이</a:t>
            </a:r>
          </a:p>
        </p:txBody>
      </p:sp>
      <p:sp>
        <p:nvSpPr>
          <p:cNvPr id="4" name="Text Placeholder 3"/>
          <p:cNvSpPr>
            <a:spLocks noGrp="1"/>
          </p:cNvSpPr>
          <p:nvPr>
            <p:ph type="body" idx="102"/>
          </p:nvPr>
        </p:nvSpPr>
        <p:spPr/>
        <p:txBody>
          <a:bodyPr/>
          <a:lstStyle/>
          <a:p>
            <a:pPr>
              <a:spcAft>
                <a:spcPts val="1000"/>
              </a:spcAft>
            </a:pPr>
            <a:r>
              <a:rPr>
                <a:solidFill>
                  <a:srgbClr val="AFAFAF"/>
                </a:solidFill>
              </a:rPr>
              <a:t>2.1  </a:t>
            </a:r>
            <a:r>
              <a:t>검토 대상 11편</a:t>
            </a:r>
          </a:p>
          <a:p>
            <a:pPr>
              <a:spcAft>
                <a:spcPts val="1000"/>
              </a:spcAft>
            </a:pPr>
            <a:r>
              <a:rPr>
                <a:solidFill>
                  <a:srgbClr val="AFAFAF"/>
                </a:solidFill>
              </a:rPr>
              <a:t>2.2  </a:t>
            </a:r>
            <a:r>
              <a:t>같은 문제, 갈리는 결론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2.1 검토 대상 11편</a:t>
            </a:r>
          </a:p>
        </p:txBody>
      </p:sp>
      <p:sp>
        <p:nvSpPr>
          <p:cNvPr id="3" name="Text Placeholder 2"/>
          <p:cNvSpPr>
            <a:spLocks noGrp="1"/>
          </p:cNvSpPr>
          <p:nvPr>
            <p:ph type="body" idx="101"/>
          </p:nvPr>
        </p:nvSpPr>
        <p:spPr/>
        <p:txBody>
          <a:bodyPr/>
          <a:lstStyle/>
          <a:p>
            <a:r>
              <a:t>2. 논문별 결과 차이</a:t>
            </a:r>
          </a:p>
        </p:txBody>
      </p:sp>
      <p:sp>
        <p:nvSpPr>
          <p:cNvPr id="4" name="Text Placeholder 3"/>
          <p:cNvSpPr>
            <a:spLocks noGrp="1"/>
          </p:cNvSpPr>
          <p:nvPr>
            <p:ph type="body" idx="102"/>
          </p:nvPr>
        </p:nvSpPr>
        <p:spPr/>
        <p:txBody>
          <a:bodyPr/>
          <a:lstStyle/>
          <a:p>
            <a:pPr/>
            <a:r>
              <a:t>연구논문 9편 · 리뷰 2편</a:t>
            </a:r>
          </a:p>
          <a:p>
            <a:pPr/>
            <a:r>
              <a:t>인용 6~218회로 편차 큼 (국내 학회논문 1편은 지표 없음)</a:t>
            </a:r>
          </a:p>
          <a:p>
            <a:pPr/>
            <a:r>
              <a:t>최적화형 6편이 다수</a:t>
            </a:r>
          </a:p>
          <a:p>
            <a:pPr/>
            <a:r>
              <a:t>리뷰 2편은 문제 지목만</a:t>
            </a:r>
          </a:p>
        </p:txBody>
      </p:sp>
      <p:sp>
        <p:nvSpPr>
          <p:cNvPr id="5" name="Text Placeholder 4"/>
          <p:cNvSpPr>
            <a:spLocks noGrp="1"/>
          </p:cNvSpPr>
          <p:nvPr>
            <p:ph type="body" idx="103"/>
          </p:nvPr>
        </p:nvSpPr>
        <p:spPr/>
        <p:txBody>
          <a:bodyPr/>
          <a:lstStyle/>
          <a:p>
            <a:r>
              <a:t>표 4. 유형별 논문 편수와 대표 논문의 인용 수</a:t>
            </a:r>
          </a:p>
        </p:txBody>
      </p:sp>
      <p:graphicFrame>
        <p:nvGraphicFramePr>
          <p:cNvPr id="6" name="Table Placeholder 5"/>
          <p:cNvGraphicFramePr>
            <a:graphicFrameLocks noGrp="1"/>
          </p:cNvGraphicFramePr>
          <p:nvPr>
            <p:ph type="tbl" idx="104"/>
          </p:nvPr>
        </p:nvGraphicFramePr>
        <p:xfrm>
          <a:off x="4937760" y="1828800"/>
          <a:ext cx="6565392" cy="2946400"/>
        </p:xfrm>
        <a:graphic>
          <a:graphicData uri="http://schemas.openxmlformats.org/drawingml/2006/table">
            <a:tbl>
              <a:tblPr firstRow="0" bandRow="0" firstCol="0" lastRow="0" lastCol="0" bandCol="0"/>
              <a:tblGrid>
                <a:gridCol w="1641348"/>
                <a:gridCol w="1641348"/>
                <a:gridCol w="1641348"/>
                <a:gridCol w="1641348"/>
              </a:tblGrid>
              <a:tr h="406400">
                <a:tc>
                  <a:txBody>
                    <a:bodyPr/>
                    <a:lstStyle/>
                    <a:p>
                      <a:r>
                        <a:rPr sz="1300" b="0">
                          <a:solidFill>
                            <a:srgbClr val="FFFFFF"/>
                          </a:solidFill>
                          <a:latin typeface="Pretendard Medium"/>
                        </a:rPr>
                        <a:t>유형</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편수</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대표 논문</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인용</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A 최적화</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6</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He (2020)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218</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B 평가</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Vijay (2023)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6</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C 의견</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Zeng (2023)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37</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D 리뷰</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Deng (2021)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71</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1008</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2.2 같은 문제, 갈리는 결론</a:t>
            </a:r>
          </a:p>
        </p:txBody>
      </p:sp>
      <p:sp>
        <p:nvSpPr>
          <p:cNvPr id="3" name="Text Placeholder 2"/>
          <p:cNvSpPr>
            <a:spLocks noGrp="1"/>
          </p:cNvSpPr>
          <p:nvPr>
            <p:ph type="body" idx="101"/>
          </p:nvPr>
        </p:nvSpPr>
        <p:spPr/>
        <p:txBody>
          <a:bodyPr/>
          <a:lstStyle/>
          <a:p>
            <a:r>
              <a:t>2. 논문별 결과 차이</a:t>
            </a:r>
          </a:p>
        </p:txBody>
      </p:sp>
      <p:sp>
        <p:nvSpPr>
          <p:cNvPr id="4" name="Text Placeholder 3"/>
          <p:cNvSpPr>
            <a:spLocks noGrp="1"/>
          </p:cNvSpPr>
          <p:nvPr>
            <p:ph type="body" idx="102"/>
          </p:nvPr>
        </p:nvSpPr>
        <p:spPr/>
        <p:txBody>
          <a:bodyPr/>
          <a:lstStyle/>
          <a:p>
            <a:r>
              <a:t>표 5. 논문별 핵심 결과와 그 결과가 서 있는 전제</a:t>
            </a:r>
          </a:p>
        </p:txBody>
      </p:sp>
      <p:graphicFrame>
        <p:nvGraphicFramePr>
          <p:cNvPr id="5" name="Table Placeholder 4"/>
          <p:cNvGraphicFramePr>
            <a:graphicFrameLocks noGrp="1"/>
          </p:cNvGraphicFramePr>
          <p:nvPr>
            <p:ph type="tbl" idx="103"/>
          </p:nvPr>
        </p:nvGraphicFramePr>
        <p:xfrm>
          <a:off x="685800" y="1828800"/>
          <a:ext cx="10820095" cy="3581400"/>
        </p:xfrm>
        <a:graphic>
          <a:graphicData uri="http://schemas.openxmlformats.org/drawingml/2006/table">
            <a:tbl>
              <a:tblPr firstRow="0" bandRow="0" firstCol="0" lastRow="0" lastCol="0" bandCol="0"/>
              <a:tblGrid>
                <a:gridCol w="3606698"/>
                <a:gridCol w="3606698"/>
                <a:gridCol w="3606699"/>
              </a:tblGrid>
              <a:tr h="406400">
                <a:tc>
                  <a:txBody>
                    <a:bodyPr/>
                    <a:lstStyle/>
                    <a:p>
                      <a:r>
                        <a:rPr sz="1300" b="0">
                          <a:solidFill>
                            <a:srgbClr val="FFFFFF"/>
                          </a:solidFill>
                          <a:latin typeface="Pretendard Medium"/>
                        </a:rPr>
                        <a:t>논문</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핵심 결과</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무엇을 고정했나</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He (2020)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충전 시각·출력만 조정해 충전비 34~66% 절감</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시각표, 충전기 위치</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Liu (2021)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계절 무시 시 충전소 5→4곳, 겨울 SOC 하한 위반</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개별 차량 운행표</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Zhou (2022)</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배차 8→30분에 필요 버스 11→3대</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공표 시각표</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Zeng (2023)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종점 급속충전기 가동률 10.3%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모형 없음 (사설)</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Vijay (2023)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TCO 보스턴 상승 · 밀라노 하락</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배차, 충전기 대수</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1007</a:t>
            </a:fld>
            <a:endParaRPr lang="en-US"/>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03</a:t>
            </a:r>
          </a:p>
        </p:txBody>
      </p:sp>
      <p:sp>
        <p:nvSpPr>
          <p:cNvPr id="3" name="Title 2"/>
          <p:cNvSpPr>
            <a:spLocks noGrp="1"/>
          </p:cNvSpPr>
          <p:nvPr>
            <p:ph type="title" idx="101"/>
          </p:nvPr>
        </p:nvSpPr>
        <p:spPr/>
        <p:txBody>
          <a:bodyPr/>
          <a:lstStyle/>
          <a:p>
            <a:r>
              <a:t>지금까지 밝혀진 것</a:t>
            </a:r>
          </a:p>
        </p:txBody>
      </p:sp>
      <p:sp>
        <p:nvSpPr>
          <p:cNvPr id="4" name="Text Placeholder 3"/>
          <p:cNvSpPr>
            <a:spLocks noGrp="1"/>
          </p:cNvSpPr>
          <p:nvPr>
            <p:ph type="body" idx="102"/>
          </p:nvPr>
        </p:nvSpPr>
        <p:spPr/>
        <p:txBody>
          <a:bodyPr/>
          <a:lstStyle/>
          <a:p>
            <a:pPr>
              <a:spcAft>
                <a:spcPts val="1000"/>
              </a:spcAft>
            </a:pPr>
            <a:r>
              <a:rPr>
                <a:solidFill>
                  <a:srgbClr val="AFAFAF"/>
                </a:solidFill>
              </a:rPr>
              <a:t>3.1  </a:t>
            </a:r>
            <a:r>
              <a:t>합의된 결과 세 가지</a:t>
            </a:r>
          </a:p>
          <a:p>
            <a:pPr>
              <a:spcAft>
                <a:spcPts val="1000"/>
              </a:spcAft>
            </a:pPr>
            <a:r>
              <a:rPr>
                <a:solidFill>
                  <a:srgbClr val="AFAFAF"/>
                </a:solidFill>
              </a:rPr>
              <a:t>3.2  </a:t>
            </a:r>
            <a:r>
              <a:t>국내 실측 — 수원여객 차고지</a:t>
            </a:r>
          </a:p>
          <a:p>
            <a:pPr>
              <a:spcAft>
                <a:spcPts val="1000"/>
              </a:spcAft>
            </a:pPr>
            <a:r>
              <a:rPr>
                <a:solidFill>
                  <a:srgbClr val="AFAFAF"/>
                </a:solidFill>
              </a:rPr>
              <a:t>3.3  </a:t>
            </a:r>
            <a:r>
              <a:t>데이터와 국내 재현 가능성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3.1 합의된 결과 세 가지</a:t>
            </a:r>
          </a:p>
        </p:txBody>
      </p:sp>
      <p:sp>
        <p:nvSpPr>
          <p:cNvPr id="3" name="Text Placeholder 2"/>
          <p:cNvSpPr>
            <a:spLocks noGrp="1"/>
          </p:cNvSpPr>
          <p:nvPr>
            <p:ph type="body" idx="101"/>
          </p:nvPr>
        </p:nvSpPr>
        <p:spPr/>
        <p:txBody>
          <a:bodyPr/>
          <a:lstStyle/>
          <a:p>
            <a:r>
              <a:t>3. 지금까지 밝혀진 것</a:t>
            </a:r>
          </a:p>
        </p:txBody>
      </p:sp>
      <p:sp>
        <p:nvSpPr>
          <p:cNvPr id="4" name="Text Placeholder 3"/>
          <p:cNvSpPr>
            <a:spLocks noGrp="1"/>
          </p:cNvSpPr>
          <p:nvPr>
            <p:ph type="body" idx="102"/>
          </p:nvPr>
        </p:nvSpPr>
        <p:spPr/>
        <p:txBody>
          <a:bodyPr/>
          <a:lstStyle/>
          <a:p>
            <a:pPr/>
            <a:r>
              <a:t>운영 조정만으로 충전비 절감 — 인프라 증설 없이</a:t>
            </a:r>
          </a:p>
          <a:p>
            <a:pPr lvl="1"/>
            <a:r>
              <a:t>He (2020) 34~66% · Rupp (2020) 비용 13.6%, CO₂ 14.9%</a:t>
            </a:r>
          </a:p>
          <a:p>
            <a:pPr/>
            <a:r>
              <a:t>충전기 부족이 아니라 활용 실패</a:t>
            </a:r>
          </a:p>
          <a:p>
            <a:pPr lvl="1"/>
            <a:r>
              <a:t>Zeng (2023) 예테보리 16번 종점 충전기 가동률 10.3%</a:t>
            </a:r>
          </a:p>
          <a:p>
            <a:pPr/>
            <a:r>
              <a:t>물리·환경 조건 누락 시 실행 불가능한 해</a:t>
            </a:r>
          </a:p>
          <a:p>
            <a:pPr lvl="1"/>
            <a:r>
              <a:t>Liu (2021) 겨울 전비 36→43 kWh/h, 계절 무시하면 SOC 하한 위반</a:t>
            </a:r>
          </a:p>
          <a:p>
            <a:pPr lvl="1"/>
            <a:r>
              <a:t>Zhou (2022) SOC 0.75 이상 열화비 0.79 USD/kWh → 부분 충전 근거</a:t>
            </a:r>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1004</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3.2 국내 실측 — 수원여객 차고지</a:t>
            </a:r>
          </a:p>
        </p:txBody>
      </p:sp>
      <p:sp>
        <p:nvSpPr>
          <p:cNvPr id="3" name="Text Placeholder 2"/>
          <p:cNvSpPr>
            <a:spLocks noGrp="1"/>
          </p:cNvSpPr>
          <p:nvPr>
            <p:ph type="body" idx="101"/>
          </p:nvPr>
        </p:nvSpPr>
        <p:spPr/>
        <p:txBody>
          <a:bodyPr/>
          <a:lstStyle/>
          <a:p>
            <a:r>
              <a:t>3. 지금까지 밝혀진 것</a:t>
            </a:r>
          </a:p>
        </p:txBody>
      </p:sp>
      <p:sp>
        <p:nvSpPr>
          <p:cNvPr id="4" name="Text Placeholder 3"/>
          <p:cNvSpPr>
            <a:spLocks noGrp="1"/>
          </p:cNvSpPr>
          <p:nvPr>
            <p:ph type="body" idx="102"/>
          </p:nvPr>
        </p:nvSpPr>
        <p:spPr/>
        <p:txBody>
          <a:bodyPr/>
          <a:lstStyle/>
          <a:p>
            <a:pPr/>
            <a:r>
              <a:t>2023년 1년 · 충전이벤트 78,928건</a:t>
            </a:r>
          </a:p>
          <a:p>
            <a:pPr lvl="1"/>
            <a:r>
              <a:t>전기버스 86대 · 200kW 충전기 46기</a:t>
            </a:r>
          </a:p>
          <a:p>
            <a:pPr/>
            <a:r>
              <a:t>1일 3.6회 · 248kWh · 145분 충전</a:t>
            </a:r>
          </a:p>
          <a:p>
            <a:pPr/>
            <a:r>
              <a:t>충전 간격 최빈 2~3시간 — 심야 일괄이 아님</a:t>
            </a:r>
          </a:p>
        </p:txBody>
      </p:sp>
      <p:sp>
        <p:nvSpPr>
          <p:cNvPr id="5" name="Text Placeholder 4"/>
          <p:cNvSpPr>
            <a:spLocks noGrp="1"/>
          </p:cNvSpPr>
          <p:nvPr>
            <p:ph type="body" idx="103"/>
          </p:nvPr>
        </p:nvSpPr>
        <p:spPr/>
        <p:txBody>
          <a:bodyPr/>
          <a:lstStyle/>
          <a:p>
            <a:r>
              <a:t>표 6. 충전기 가동률 — 해외 종점충전과 국내 차고지충전</a:t>
            </a:r>
          </a:p>
        </p:txBody>
      </p:sp>
      <p:graphicFrame>
        <p:nvGraphicFramePr>
          <p:cNvPr id="6" name="Table Placeholder 5"/>
          <p:cNvGraphicFramePr>
            <a:graphicFrameLocks noGrp="1"/>
          </p:cNvGraphicFramePr>
          <p:nvPr>
            <p:ph type="tbl" idx="104"/>
          </p:nvPr>
        </p:nvGraphicFramePr>
        <p:xfrm>
          <a:off x="4937760" y="1828800"/>
          <a:ext cx="6565392" cy="1676400"/>
        </p:xfrm>
        <a:graphic>
          <a:graphicData uri="http://schemas.openxmlformats.org/drawingml/2006/table">
            <a:tbl>
              <a:tblPr firstRow="0" bandRow="0" firstCol="0" lastRow="0" lastCol="0" bandCol="0"/>
              <a:tblGrid>
                <a:gridCol w="2188464"/>
                <a:gridCol w="2188464"/>
                <a:gridCol w="2188464"/>
              </a:tblGrid>
              <a:tr h="406400">
                <a:tc>
                  <a:txBody>
                    <a:bodyPr/>
                    <a:lstStyle/>
                    <a:p>
                      <a:r>
                        <a:rPr sz="1300" b="0">
                          <a:solidFill>
                            <a:srgbClr val="FFFFFF"/>
                          </a:solidFill>
                          <a:latin typeface="Pretendard Medium"/>
                        </a:rPr>
                        <a:t>사례</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충전기</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가동률</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예테보리 16번 (Zeng 2023)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종점 급속 2기</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10.3%</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수원여객 북부 (박지영 2024)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차고지 200kW 46기</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15~19% (계산)</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1008</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3.3 데이터와 국내 재현 가능성</a:t>
            </a:r>
          </a:p>
        </p:txBody>
      </p:sp>
      <p:sp>
        <p:nvSpPr>
          <p:cNvPr id="3" name="Text Placeholder 2"/>
          <p:cNvSpPr>
            <a:spLocks noGrp="1"/>
          </p:cNvSpPr>
          <p:nvPr>
            <p:ph type="body" idx="101"/>
          </p:nvPr>
        </p:nvSpPr>
        <p:spPr/>
        <p:txBody>
          <a:bodyPr/>
          <a:lstStyle/>
          <a:p>
            <a:r>
              <a:t>3. 지금까지 밝혀진 것</a:t>
            </a:r>
          </a:p>
        </p:txBody>
      </p:sp>
      <p:sp>
        <p:nvSpPr>
          <p:cNvPr id="4" name="Text Placeholder 3"/>
          <p:cNvSpPr>
            <a:spLocks noGrp="1"/>
          </p:cNvSpPr>
          <p:nvPr>
            <p:ph type="body" idx="102"/>
          </p:nvPr>
        </p:nvSpPr>
        <p:spPr/>
        <p:txBody>
          <a:bodyPr/>
          <a:lstStyle/>
          <a:p>
            <a:r>
              <a:t>표 7. 논문별 데이터 출처·공개 수준과 국내 대응 자료</a:t>
            </a:r>
          </a:p>
        </p:txBody>
      </p:sp>
      <p:graphicFrame>
        <p:nvGraphicFramePr>
          <p:cNvPr id="5" name="Table Placeholder 4"/>
          <p:cNvGraphicFramePr>
            <a:graphicFrameLocks noGrp="1"/>
          </p:cNvGraphicFramePr>
          <p:nvPr>
            <p:ph type="tbl" idx="103"/>
          </p:nvPr>
        </p:nvGraphicFramePr>
        <p:xfrm>
          <a:off x="685800" y="1828800"/>
          <a:ext cx="10820095" cy="3581400"/>
        </p:xfrm>
        <a:graphic>
          <a:graphicData uri="http://schemas.openxmlformats.org/drawingml/2006/table">
            <a:tbl>
              <a:tblPr firstRow="0" bandRow="0" firstCol="0" lastRow="0" lastCol="0" bandCol="0"/>
              <a:tblGrid>
                <a:gridCol w="2705023"/>
                <a:gridCol w="2705023"/>
                <a:gridCol w="2705023"/>
                <a:gridCol w="2705026"/>
              </a:tblGrid>
              <a:tr h="406400">
                <a:tc>
                  <a:txBody>
                    <a:bodyPr/>
                    <a:lstStyle/>
                    <a:p>
                      <a:r>
                        <a:rPr sz="1300" b="0">
                          <a:solidFill>
                            <a:srgbClr val="FFFFFF"/>
                          </a:solidFill>
                          <a:latin typeface="Pretendard Medium"/>
                        </a:rPr>
                        <a:t>논문</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데이터</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공개</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국내 대응</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He (2020)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유타 GIS + 시각표 + 공시 요금</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전부 공개</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국가공간정보포털, TAGO, 한전 요금표</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Vijay (2023)</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GTFS + 승객 오픈데이터 + Google API</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전부 공개</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TAGO GTFS, 교통카드 통계</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Zhou (2024)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Tower Transit 400대 · 차고지 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인스턴스만 (부록 D)</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벤치마크 30세트 그대로 활용</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Liu (2021)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베이징 스마트카드 + GPS</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비공개</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교통카드 자료, BIS 운행기록</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박지영 외 (2024)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수원여객 북부차고지 충전 78,928건</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비공개 (컬럼 명세는 공개)</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국내 실측 그 자체 — 표 1이 요청 명세서</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1007</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04</a:t>
            </a:r>
          </a:p>
        </p:txBody>
      </p:sp>
      <p:sp>
        <p:nvSpPr>
          <p:cNvPr id="3" name="Title 2"/>
          <p:cNvSpPr>
            <a:spLocks noGrp="1"/>
          </p:cNvSpPr>
          <p:nvPr>
            <p:ph type="title" idx="101"/>
          </p:nvPr>
        </p:nvSpPr>
        <p:spPr/>
        <p:txBody>
          <a:bodyPr/>
          <a:lstStyle/>
          <a:p>
            <a:r>
              <a:t>현재 연구의 한계</a:t>
            </a:r>
          </a:p>
        </p:txBody>
      </p:sp>
      <p:sp>
        <p:nvSpPr>
          <p:cNvPr id="4" name="Text Placeholder 3"/>
          <p:cNvSpPr>
            <a:spLocks noGrp="1"/>
          </p:cNvSpPr>
          <p:nvPr>
            <p:ph type="body" idx="102"/>
          </p:nvPr>
        </p:nvSpPr>
        <p:spPr/>
        <p:txBody>
          <a:bodyPr/>
          <a:lstStyle/>
          <a:p>
            <a:pPr>
              <a:spcAft>
                <a:spcPts val="1000"/>
              </a:spcAft>
            </a:pPr>
            <a:r>
              <a:rPr>
                <a:solidFill>
                  <a:srgbClr val="AFAFAF"/>
                </a:solidFill>
              </a:rPr>
              <a:t>4.1  </a:t>
            </a:r>
            <a:r>
              <a:t>운영 변수의 공백</a:t>
            </a:r>
          </a:p>
          <a:p>
            <a:pPr>
              <a:spcAft>
                <a:spcPts val="1000"/>
              </a:spcAft>
            </a:pPr>
            <a:r>
              <a:rPr>
                <a:solidFill>
                  <a:srgbClr val="AFAFAF"/>
                </a:solidFill>
              </a:rPr>
              <a:t>4.2  </a:t>
            </a:r>
            <a:r>
              <a:t>공통 한계 네 가지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4.1 운영 변수의 공백</a:t>
            </a:r>
          </a:p>
        </p:txBody>
      </p:sp>
      <p:sp>
        <p:nvSpPr>
          <p:cNvPr id="3" name="Text Placeholder 2"/>
          <p:cNvSpPr>
            <a:spLocks noGrp="1"/>
          </p:cNvSpPr>
          <p:nvPr>
            <p:ph type="body" idx="101"/>
          </p:nvPr>
        </p:nvSpPr>
        <p:spPr/>
        <p:txBody>
          <a:bodyPr/>
          <a:lstStyle/>
          <a:p>
            <a:r>
              <a:t>4. 현재 연구의 한계</a:t>
            </a:r>
          </a:p>
        </p:txBody>
      </p:sp>
      <p:sp>
        <p:nvSpPr>
          <p:cNvPr id="4" name="Text Placeholder 3"/>
          <p:cNvSpPr>
            <a:spLocks noGrp="1"/>
          </p:cNvSpPr>
          <p:nvPr>
            <p:ph type="body" idx="102"/>
          </p:nvPr>
        </p:nvSpPr>
        <p:spPr/>
        <p:txBody>
          <a:bodyPr/>
          <a:lstStyle/>
          <a:p>
            <a:pPr/>
            <a:r>
              <a:t>연구논문 9편 기준</a:t>
            </a:r>
          </a:p>
          <a:p>
            <a:pPr/>
            <a:r>
              <a:t>충전 스케줄 6편 — 포화</a:t>
            </a:r>
          </a:p>
          <a:p>
            <a:pPr/>
            <a:r>
              <a:t>입지+운영 동시 1편</a:t>
            </a:r>
          </a:p>
          <a:p>
            <a:pPr/>
            <a:r>
              <a:t>시각표·승무 0편</a:t>
            </a:r>
          </a:p>
        </p:txBody>
      </p:sp>
      <p:sp>
        <p:nvSpPr>
          <p:cNvPr id="6" name="Text Placeholder 5"/>
          <p:cNvSpPr>
            <a:spLocks noGrp="1"/>
          </p:cNvSpPr>
          <p:nvPr>
            <p:ph type="body" idx="104"/>
          </p:nvPr>
        </p:nvSpPr>
        <p:spPr/>
        <p:txBody>
          <a:bodyPr/>
          <a:lstStyle/>
          <a:p>
            <a:r>
              <a:t>그림 1. 결정변수로 다룬 논문 수 (연구논문 9편 기준)</a:t>
            </a:r>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1005</a:t>
            </a:fld>
            <a:endParaRPr lang="en-US"/>
          </a:p>
        </p:txBody>
      </p:sp>
      <p:pic>
        <p:nvPicPr>
          <p:cNvPr id="26" name="Picture 25" descr="fig1.png"/>
          <p:cNvPicPr>
            <a:picLocks noChangeAspect="1"/>
          </p:cNvPicPr>
          <p:nvPr/>
        </p:nvPicPr>
        <p:blipFill>
          <a:blip r:embed="rId2"/>
          <a:stretch>
            <a:fillRect/>
          </a:stretch>
        </p:blipFill>
        <p:spPr>
          <a:xfrm>
            <a:off x="4937760" y="1417320"/>
            <a:ext cx="6565392" cy="410337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4.2 공통 한계 네 가지</a:t>
            </a:r>
          </a:p>
        </p:txBody>
      </p:sp>
      <p:sp>
        <p:nvSpPr>
          <p:cNvPr id="3" name="Text Placeholder 2"/>
          <p:cNvSpPr>
            <a:spLocks noGrp="1"/>
          </p:cNvSpPr>
          <p:nvPr>
            <p:ph type="body" idx="101"/>
          </p:nvPr>
        </p:nvSpPr>
        <p:spPr/>
        <p:txBody>
          <a:bodyPr/>
          <a:lstStyle/>
          <a:p>
            <a:r>
              <a:t>4. 현재 연구의 한계</a:t>
            </a:r>
          </a:p>
        </p:txBody>
      </p:sp>
      <p:sp>
        <p:nvSpPr>
          <p:cNvPr id="4" name="Text Placeholder 3"/>
          <p:cNvSpPr>
            <a:spLocks noGrp="1"/>
          </p:cNvSpPr>
          <p:nvPr>
            <p:ph type="body" idx="102"/>
          </p:nvPr>
        </p:nvSpPr>
        <p:spPr/>
        <p:txBody>
          <a:bodyPr/>
          <a:lstStyle/>
          <a:p>
            <a:pPr/>
            <a:r>
              <a:t>시각표를 입력으로 받음 — 연구논문 9편 전부</a:t>
            </a:r>
          </a:p>
          <a:p>
            <a:pPr lvl="1"/>
            <a:r>
              <a:t>He (2020) "already established timetable" · Zhou (2024) "published timetable"</a:t>
            </a:r>
          </a:p>
          <a:p>
            <a:pPr/>
            <a:r>
              <a:t>충전 지연 → 후속 배차·승무 교란의 되먹임 부재</a:t>
            </a:r>
          </a:p>
          <a:p>
            <a:pPr lvl="1"/>
            <a:r>
              <a:t>Bao (2023) layover를 시각표에서 파생된 입력값으로 사용</a:t>
            </a:r>
          </a:p>
          <a:p>
            <a:pPr/>
            <a:r>
              <a:t>승객 대기시간·서비스 수준이 목적함수에 없음 — Liu (2021) 제외</a:t>
            </a:r>
          </a:p>
          <a:p>
            <a:pPr/>
            <a:r>
              <a:t>결정론적 모형 — 지연·수요 변동 미반영</a:t>
            </a:r>
          </a:p>
          <a:p>
            <a:pPr/>
            <a:r>
              <a:t>국내 사례 1편뿐, 그마저 기술통계 — 최적화 연구는 0편</a:t>
            </a:r>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1004</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05</a:t>
            </a:r>
          </a:p>
        </p:txBody>
      </p:sp>
      <p:sp>
        <p:nvSpPr>
          <p:cNvPr id="3" name="Title 2"/>
          <p:cNvSpPr>
            <a:spLocks noGrp="1"/>
          </p:cNvSpPr>
          <p:nvPr>
            <p:ph type="title" idx="101"/>
          </p:nvPr>
        </p:nvSpPr>
        <p:spPr/>
        <p:txBody>
          <a:bodyPr/>
          <a:lstStyle/>
          <a:p>
            <a:r>
              <a:t>앞으로 필요한 것</a:t>
            </a:r>
          </a:p>
        </p:txBody>
      </p:sp>
      <p:sp>
        <p:nvSpPr>
          <p:cNvPr id="4" name="Text Placeholder 3"/>
          <p:cNvSpPr>
            <a:spLocks noGrp="1"/>
          </p:cNvSpPr>
          <p:nvPr>
            <p:ph type="body" idx="102"/>
          </p:nvPr>
        </p:nvSpPr>
        <p:spPr/>
        <p:txBody>
          <a:bodyPr/>
          <a:lstStyle/>
          <a:p>
            <a:pPr>
              <a:spcAft>
                <a:spcPts val="1000"/>
              </a:spcAft>
            </a:pPr>
            <a:r>
              <a:rPr>
                <a:solidFill>
                  <a:srgbClr val="AFAFAF"/>
                </a:solidFill>
              </a:rPr>
              <a:t>5.1  </a:t>
            </a:r>
            <a:r>
              <a:t>예비 실행 — DTUMOS</a:t>
            </a:r>
          </a:p>
          <a:p>
            <a:pPr>
              <a:spcAft>
                <a:spcPts val="1000"/>
              </a:spcAft>
            </a:pPr>
            <a:r>
              <a:rPr>
                <a:solidFill>
                  <a:srgbClr val="AFAFAF"/>
                </a:solidFill>
              </a:rPr>
              <a:t>5.2  </a:t>
            </a:r>
            <a:r>
              <a:t>다음 단계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5.1 예비 실행 — DTUMOS</a:t>
            </a:r>
          </a:p>
        </p:txBody>
      </p:sp>
      <p:sp>
        <p:nvSpPr>
          <p:cNvPr id="3" name="Text Placeholder 2"/>
          <p:cNvSpPr>
            <a:spLocks noGrp="1"/>
          </p:cNvSpPr>
          <p:nvPr>
            <p:ph type="body" idx="101"/>
          </p:nvPr>
        </p:nvSpPr>
        <p:spPr/>
        <p:txBody>
          <a:bodyPr/>
          <a:lstStyle/>
          <a:p>
            <a:r>
              <a:t>5. 앞으로 필요한 것</a:t>
            </a:r>
          </a:p>
        </p:txBody>
      </p:sp>
      <p:sp>
        <p:nvSpPr>
          <p:cNvPr id="4" name="Text Placeholder 3"/>
          <p:cNvSpPr>
            <a:spLocks noGrp="1"/>
          </p:cNvSpPr>
          <p:nvPr>
            <p:ph type="body" idx="102"/>
          </p:nvPr>
        </p:nvSpPr>
        <p:spPr/>
        <p:txBody>
          <a:bodyPr/>
          <a:lstStyle/>
          <a:p>
            <a:pPr/>
            <a:r>
              <a:t>서울 택시 실측 수요 투입</a:t>
            </a:r>
          </a:p>
          <a:p>
            <a:pPr/>
            <a:r>
              <a:t>2018-04-18 18–20시</a:t>
            </a:r>
          </a:p>
          <a:p>
            <a:pPr/>
            <a:r>
              <a:t>규모 세 단계로 실행</a:t>
            </a:r>
          </a:p>
          <a:p>
            <a:pPr/>
            <a:r>
              <a:t>충전 제약은 아직 없음</a:t>
            </a:r>
          </a:p>
        </p:txBody>
      </p:sp>
      <p:sp>
        <p:nvSpPr>
          <p:cNvPr id="5" name="Text Placeholder 4"/>
          <p:cNvSpPr>
            <a:spLocks noGrp="1"/>
          </p:cNvSpPr>
          <p:nvPr>
            <p:ph type="body" idx="103"/>
          </p:nvPr>
        </p:nvSpPr>
        <p:spPr/>
        <p:txBody>
          <a:bodyPr/>
          <a:lstStyle/>
          <a:p>
            <a:r>
              <a:t>표 8. DTUMOS 예비 실행 3회차 (서울, 18–20시)</a:t>
            </a:r>
          </a:p>
        </p:txBody>
      </p:sp>
      <p:graphicFrame>
        <p:nvGraphicFramePr>
          <p:cNvPr id="6" name="Table Placeholder 5"/>
          <p:cNvGraphicFramePr>
            <a:graphicFrameLocks noGrp="1"/>
          </p:cNvGraphicFramePr>
          <p:nvPr>
            <p:ph type="tbl" idx="104"/>
          </p:nvPr>
        </p:nvGraphicFramePr>
        <p:xfrm>
          <a:off x="4937760" y="1828800"/>
          <a:ext cx="6565392" cy="2311400"/>
        </p:xfrm>
        <a:graphic>
          <a:graphicData uri="http://schemas.openxmlformats.org/drawingml/2006/table">
            <a:tbl>
              <a:tblPr firstRow="0" bandRow="0" firstCol="0" lastRow="0" lastCol="0" bandCol="0"/>
              <a:tblGrid>
                <a:gridCol w="1641348"/>
                <a:gridCol w="1641348"/>
                <a:gridCol w="1641348"/>
                <a:gridCol w="1641348"/>
              </a:tblGrid>
              <a:tr h="406400">
                <a:tc>
                  <a:txBody>
                    <a:bodyPr/>
                    <a:lstStyle/>
                    <a:p>
                      <a:r>
                        <a:rPr sz="1300" b="0">
                          <a:solidFill>
                            <a:srgbClr val="FFFFFF"/>
                          </a:solidFill>
                          <a:latin typeface="Pretendard Medium"/>
                        </a:rPr>
                        <a:t>차량</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수요</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서비스율</a:t>
                      </a:r>
                    </a:p>
                  </a:txBody>
                  <a:tcPr marL="101600" marR="101600" marT="76200" marB="76200" anchor="ctr">
                    <a:solidFill>
                      <a:srgbClr val="000000"/>
                    </a:solidFill>
                    <a:lnL w="0">
                      <a:noFill/>
                    </a:lnL>
                    <a:lnR w="0">
                      <a:noFill/>
                    </a:lnR>
                    <a:lnT w="0">
                      <a:noFill/>
                    </a:lnT>
                    <a:lnB w="0">
                      <a:noFill/>
                    </a:lnB>
                  </a:tcPr>
                </a:tc>
                <a:tc>
                  <a:txBody>
                    <a:bodyPr/>
                    <a:lstStyle/>
                    <a:p>
                      <a:r>
                        <a:rPr sz="1300" b="0">
                          <a:solidFill>
                            <a:srgbClr val="FFFFFF"/>
                          </a:solidFill>
                          <a:latin typeface="Pretendard Medium"/>
                        </a:rPr>
                        <a:t>평균 대기</a:t>
                      </a:r>
                    </a:p>
                  </a:txBody>
                  <a:tcPr marL="101600" marR="101600" marT="76200" marB="76200" anchor="ctr">
                    <a:solidFill>
                      <a:srgbClr val="000000"/>
                    </a:solidFill>
                    <a:lnL w="0">
                      <a:noFill/>
                    </a:lnL>
                    <a:lnR w="0">
                      <a:noFill/>
                    </a:lnR>
                    <a:lnT w="0">
                      <a:noFill/>
                    </a:lnT>
                    <a:lnB w="0">
                      <a:noFill/>
                    </a:lnB>
                  </a:tcPr>
                </a:tc>
              </a:tr>
              <a:tr h="635000">
                <a:tc>
                  <a:txBody>
                    <a:bodyPr/>
                    <a:lstStyle/>
                    <a:p>
                      <a:r>
                        <a:rPr sz="1300" b="1">
                          <a:solidFill>
                            <a:srgbClr val="000000"/>
                          </a:solidFill>
                          <a:latin typeface="Pretendard"/>
                        </a:rPr>
                        <a:t>300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3,000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79.5%</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5.7분</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1,200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12,000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88.1%</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4.0분</a:t>
                      </a:r>
                    </a:p>
                  </a:txBody>
                  <a:tcPr marL="101600" marR="101600" marT="101600" marB="101600" anchor="ctr">
                    <a:solidFill>
                      <a:srgbClr val="FFFFFF"/>
                    </a:solidFill>
                    <a:lnL w="0">
                      <a:noFill/>
                    </a:lnL>
                    <a:lnR w="0">
                      <a:noFill/>
                    </a:lnR>
                    <a:lnT w="0">
                      <a:noFill/>
                    </a:lnT>
                    <a:lnB w="9525">
                      <a:solidFill>
                        <a:srgbClr val="E2E2E2"/>
                      </a:solidFill>
                    </a:lnB>
                  </a:tcPr>
                </a:tc>
              </a:tr>
              <a:tr h="635000">
                <a:tc>
                  <a:txBody>
                    <a:bodyPr/>
                    <a:lstStyle/>
                    <a:p>
                      <a:r>
                        <a:rPr sz="1300" b="1">
                          <a:solidFill>
                            <a:srgbClr val="000000"/>
                          </a:solidFill>
                          <a:latin typeface="Pretendard"/>
                        </a:rPr>
                        <a:t>6,000</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90,872</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69.4%</a:t>
                      </a:r>
                    </a:p>
                  </a:txBody>
                  <a:tcPr marL="101600" marR="101600" marT="101600" marB="101600" anchor="ctr">
                    <a:solidFill>
                      <a:srgbClr val="FFFFFF"/>
                    </a:solidFill>
                    <a:lnL w="0">
                      <a:noFill/>
                    </a:lnL>
                    <a:lnR w="0">
                      <a:noFill/>
                    </a:lnR>
                    <a:lnT w="0">
                      <a:noFill/>
                    </a:lnT>
                    <a:lnB w="9525">
                      <a:solidFill>
                        <a:srgbClr val="E2E2E2"/>
                      </a:solidFill>
                    </a:lnB>
                  </a:tcPr>
                </a:tc>
                <a:tc>
                  <a:txBody>
                    <a:bodyPr/>
                    <a:lstStyle/>
                    <a:p>
                      <a:r>
                        <a:rPr sz="1300" b="0">
                          <a:solidFill>
                            <a:srgbClr val="5E5E5E"/>
                          </a:solidFill>
                          <a:latin typeface="Pretendard Medium"/>
                        </a:rPr>
                        <a:t>2.7분</a:t>
                      </a:r>
                    </a:p>
                  </a:txBody>
                  <a:tcPr marL="101600" marR="101600" marT="101600" marB="101600" anchor="ctr">
                    <a:solidFill>
                      <a:srgbClr val="FFFFFF"/>
                    </a:solidFill>
                    <a:lnL w="0">
                      <a:noFill/>
                    </a:lnL>
                    <a:lnR w="0">
                      <a:noFill/>
                    </a:lnR>
                    <a:lnT w="0">
                      <a:noFill/>
                    </a:lnT>
                    <a:lnB w="9525">
                      <a:solidFill>
                        <a:srgbClr val="E2E2E2"/>
                      </a:solidFill>
                    </a:lnB>
                  </a:tcPr>
                </a:tc>
              </a:tr>
            </a:tbl>
          </a:graphicData>
        </a:graphic>
      </p:graphicFrame>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1008</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5.2 다음 단계</a:t>
            </a:r>
          </a:p>
        </p:txBody>
      </p:sp>
      <p:sp>
        <p:nvSpPr>
          <p:cNvPr id="3" name="Text Placeholder 2"/>
          <p:cNvSpPr>
            <a:spLocks noGrp="1"/>
          </p:cNvSpPr>
          <p:nvPr>
            <p:ph type="body" idx="101"/>
          </p:nvPr>
        </p:nvSpPr>
        <p:spPr/>
        <p:txBody>
          <a:bodyPr/>
          <a:lstStyle/>
          <a:p>
            <a:r>
              <a:t>5. 앞으로 필요한 것</a:t>
            </a:r>
          </a:p>
        </p:txBody>
      </p:sp>
      <p:sp>
        <p:nvSpPr>
          <p:cNvPr id="4" name="Text Placeholder 3"/>
          <p:cNvSpPr>
            <a:spLocks noGrp="1"/>
          </p:cNvSpPr>
          <p:nvPr>
            <p:ph type="body" idx="102"/>
          </p:nvPr>
        </p:nvSpPr>
        <p:spPr/>
        <p:txBody>
          <a:bodyPr/>
          <a:lstStyle/>
          <a:p>
            <a:pPr/>
            <a:r>
              <a:t>결정변수 확장: 충전소 입지 + 배차·시각표·운전자 휴게 동시</a:t>
            </a:r>
          </a:p>
          <a:p>
            <a:pPr lvl="1"/>
            <a:r>
              <a:t>Ashkezari (2024)가 방향까지 제시, 수행 사례 없음</a:t>
            </a:r>
          </a:p>
          <a:p>
            <a:pPr/>
            <a:r>
              <a:t>해상도 전환: 시간당 집계 대수 → 개별 차량 운행표</a:t>
            </a:r>
          </a:p>
          <a:p>
            <a:pPr lvl="1"/>
            <a:r>
              <a:t>Liu (2021)의 flow 수준을 block 수준으로</a:t>
            </a:r>
          </a:p>
          <a:p>
            <a:pPr/>
            <a:r>
              <a:t>시뮬레이터: DTUMOS에 배터리·충전소 모델 부재 → 구현 대상</a:t>
            </a:r>
          </a:p>
          <a:p>
            <a:pPr lvl="1"/>
            <a:r>
              <a:t>충전 지연 → 배차 교란의 되먹임은 최적화보다 시뮬레이션에 적합</a:t>
            </a:r>
          </a:p>
          <a:p>
            <a:pPr/>
            <a:r>
              <a:t>검토 잔여: 미검토 4편 · 국내 문헌 추가 검색 · 버스 GTFS 확보</a:t>
            </a:r>
          </a:p>
        </p:txBody>
      </p:sp>
      <p:sp>
        <p:nvSpPr>
          <p:cNvPr id="25" name="Slide Number Placeholder 0"/>
          <p:cNvSpPr>
            <a:spLocks noGrp="1"/>
          </p:cNvSpPr>
          <p:nvPr>
            <p:ph type="sldNum" sz="quarter" idx="4294967295"/>
          </p:nvPr>
        </p:nvSpPr>
        <p:spPr>
          <a:xfrm>
            <a:off x="10591495"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FAFAF"/>
                </a:solidFill>
                <a:latin typeface="Pretendard Medium"/>
                <a:ea typeface="Pretendard Medium"/>
                <a:cs typeface="Pretendard Medium"/>
              </a:defRPr>
            </a:lvl1pPr>
          </a:lstStyle>
          <a:p>
            <a:pPr algn="r"/>
            <a:fld id="{F7021451-1387-4CA6-816F-3879F97B5CBC}" type="slidenum">
              <a:rPr b="0" lang="en-US"/>
              <a:t>1004</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감사합니다</a:t>
            </a:r>
          </a:p>
        </p:txBody>
      </p:sp>
      <p:sp>
        <p:nvSpPr>
          <p:cNvPr id="3" name="Text Placeholder 2"/>
          <p:cNvSpPr>
            <a:spLocks noGrp="1"/>
          </p:cNvSpPr>
          <p:nvPr>
            <p:ph type="body" idx="101"/>
          </p:nvPr>
        </p:nvSpPr>
        <p:spPr/>
        <p:txBody>
          <a:bodyPr/>
          <a:lstStyle/>
          <a:p>
            <a:r>
              <a:t>질문과 토론을 환영합니다</a:t>
            </a:r>
          </a:p>
        </p:txBody>
      </p:sp>
      <p:sp>
        <p:nvSpPr>
          <p:cNvPr id="4" name="Text Placeholder 3"/>
          <p:cNvSpPr>
            <a:spLocks noGrp="1"/>
          </p:cNvSpPr>
          <p:nvPr>
            <p:ph type="body" idx="102"/>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2026-08-31T14:39:01Z</dcterms:created>
  <dcterms:modified xsi:type="dcterms:W3CDTF">2026-08-31T14:39:01Z</dcterms:modified>
</cp:coreProperties>
</file>