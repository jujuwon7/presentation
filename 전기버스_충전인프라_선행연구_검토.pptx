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6"/>
    <p:sldId id="265" r:id="rId5"/>
    <p:sldId id="266" r:id="rId4"/>
    <p:sldId id="267" r:id="rId3"/>
    <p:sldId id="268" r:id="rId2"/>
    <p:sldId id="269" r:id="rId20"/>
    <p:sldId id="270" r:id="rId21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3.xml"/><Relationship Id="rId3" Type="http://schemas.openxmlformats.org/officeDocument/2006/relationships/slide" Target="slides/slide12.xml"/><Relationship Id="rId4" Type="http://schemas.openxmlformats.org/officeDocument/2006/relationships/slide" Target="slides/slide11.xml"/><Relationship Id="rId5" Type="http://schemas.openxmlformats.org/officeDocument/2006/relationships/slide" Target="slides/slide10.xml"/><Relationship Id="rId6" Type="http://schemas.openxmlformats.org/officeDocument/2006/relationships/slide" Target="slides/slide9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목차는 표입니다. 섹션 수가 바뀌면 행을 삽입/삭제하세요.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검토 기준 넷: ① 어떤 데이터를 썼나 ② 우리도 쓸 수 있나 ③ 인용 수와 저널 등급, 여기에 ④ 배차·휴게 같은 운영 변수를 함께 조정했나를 추가했다. Zeng(2023)은 4쪽 Editorial이므로 연구논문으로 세지 않았다.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절감률이 13%에서 66%까지 벌어지는데, 방법이 틀려서가 아니라 무엇을 고정하고 무엇을 풀었느냐가 달라서다. 특히 Zeng은 충전기가 90% 논다고 하고, 우리 초고는 충전 대기로 배차가 무너진다고 본다. 정반대로 보이지만 인프라 배치와 운영이 따로 논다는 같은 병의 두 증상이다.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세 결과는 서로 다른 팀이 다른 도시에서 얻었는데 방향이 일치한다. 여기까지는 합의된 셈이고, 논쟁은 그다음에 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He와 Vijay 둘만 원자료 요청 없이 재현된다. 두 논문 다 기관 협조 없이 공개 시각표·공개 GIS·공시 요금만으로 Q1·Q2 저널에 실렸다는 게 중요하다. 데이터 확보 리스크를 없애는 경로가 이미 검증돼 있다는 뜻이다.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충전 스케줄링은 Zhou–Meng–Ong 팀이 TR-B와 TR-C를 잡고 있어 여기서 경쟁하면 이기기 어렵다. 반면 시각표와 승무는 아무도 손대지 않았다. 입지와 운영을 같이 푼 건 Liu(2021) 하나인데, 그것도 배차를 시간당 집계 대수로만 다룬다.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Ashkezari(2024) 리뷰가 충전 지연의 결과로 "disruption of subsequent bus dispatches and crew schedules"를 명시하고, 운영 층위에서 시각표를 최적화해야 한다고까지 적었다. 그런데 실제로 그렇게 한 논문이 우리 목록에 없다. 리뷰가 필요하다고 한 걸 아무도 안 한 상태다.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목적은 결과가 아니라 파이프라인 확인이다. 원자료를 DTUMOS 수요 규격으로 바꾸고, 서울 KTDB 도로망 76,701개 링크 위에서 Rust 경로탐색으로 끝까지 도는 것까지 확인했다. 3,000건 2시간이 8초 걸렸다. 세 회차는 차량과 수요를 같이 늘린 것이라 통제된 민감도 분석이 아니다 — 앞의 두 회차는 수요/차량 비가 10으로 같은데 서비스율이 79.5%에서 88.1%로 오르고, 세 번째는 비가 15로 올라가 69.4%로 떨어진다. 규모 효과와 혼잡이 섞여 있어 이걸 결과로 주장하지는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국내 문헌 검색이 실무적으로 급하다. "국내 데이터로 본 연구가 없다"고 쓰려면 없다는 걸 확인한 기록이 필요하다. DBpia·KCI·대한교통학회지·한국ITS학회논문지를 훑어야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표지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400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과목 코드 · 과목명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19659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8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8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N주차</a:t>
            </a:r>
            <a:endParaRPr lang="en-US" sz="18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685800" y="23774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52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defRPr>
            </a:lvl1pPr>
          </a:lstStyle>
          <a:p>
            <a:pPr indent="0" marL="0">
              <a:buNone/>
            </a:pPr>
            <a:r>
              <a:rPr lang="en-US" sz="52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강의 제목</a:t>
            </a:r>
            <a:endParaRPr lang="en-US" sz="5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34747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2200" dirty="0">
                <a:solidFill>
                  <a:srgbClr val="000000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defRPr>
            </a:lvl1pPr>
          </a:lstStyle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rPr>
              <a:t>부제</a:t>
            </a:r>
            <a:endParaRPr lang="en-US" sz="2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557784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4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이름 · 소속</a:t>
            </a:r>
            <a:endParaRPr lang="en-US" sz="14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685800" y="58978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4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4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날짜</a:t>
            </a:r>
            <a:endParaRPr lang="en-US" sz="1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섹션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Autofit/>
          </a:bodyPr>
          <a:lstStyle>
            <a:lvl1pPr algn="l" indent="0" marL="0">
              <a:buNone/>
              <a:defRPr lang="en-US" sz="12000" dirty="0">
                <a:solidFill>
                  <a:srgbClr val="AFAFAF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defRPr>
            </a:lvl1pPr>
          </a:lstStyle>
          <a:p>
            <a:pPr indent="0" marL="0">
              <a:buNone/>
            </a:pPr>
            <a:r>
              <a:rPr lang="en-US" sz="12000" dirty="0">
                <a:solidFill>
                  <a:srgbClr val="AFAFAF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rPr>
              <a:t>01</a:t>
            </a:r>
            <a:endParaRPr lang="en-US" sz="1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35204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44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defRPr>
            </a:lvl1pPr>
          </a:lstStyle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섹션 이름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949440" y="3611880"/>
            <a:ext cx="4572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1.1 하위 섹션</a:t>
            </a: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전기버스 충전 인프라 · 선행연구 검토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본문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10820095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marL="228600" indent="-228600">
              <a:lnSpc>
                <a:spcPct val="115000"/>
              </a:lnSpc>
              <a:spcAft>
                <a:spcPts val="1000"/>
              </a:spcAft>
              <a:buClr>
                <a:srgbClr val="000000"/>
              </a:buClr>
              <a:buFont typeface="Arial"/>
              <a:buChar char="•"/>
              <a:defRPr sz="160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lvl1pPr>
            <a:lvl2pPr marL="4064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2pPr>
            <a:lvl3pPr marL="6096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3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본문 (Tab: 2단계 불릿)</a:t>
            </a: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전기버스 충전 인프라 · 선행연구 검토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본문+그림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393192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marL="228600" indent="-228600">
              <a:lnSpc>
                <a:spcPct val="115000"/>
              </a:lnSpc>
              <a:spcAft>
                <a:spcPts val="1000"/>
              </a:spcAft>
              <a:buClr>
                <a:srgbClr val="000000"/>
              </a:buClr>
              <a:buFont typeface="Arial"/>
              <a:buChar char="•"/>
              <a:defRPr sz="160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lvl1pPr>
            <a:lvl2pPr marL="4064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2pPr>
            <a:lvl3pPr marL="6096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3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본문 (Tab: 2단계 불릿)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pic" hasCustomPrompt="1"/>
          </p:nvPr>
        </p:nvSpPr>
        <p:spPr>
          <a:xfrm>
            <a:off x="4937760" y="1417320"/>
            <a:ext cx="6565392" cy="4160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그림</a:t>
            </a:r>
            <a:endParaRPr lang="en-US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4937760" y="5715000"/>
            <a:ext cx="65653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그림 1. 캡션</a:t>
            </a:r>
            <a:endParaRPr lang="en-US" sz="1200" dirty="0"/>
          </a:p>
        </p:txBody>
      </p:sp>
      <p:sp>
        <p:nvSpPr>
          <p:cNvPr id="7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전기버스 충전 인프라 · 선행연구 검토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그림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pic" hasCustomPrompt="1"/>
          </p:nvPr>
        </p:nvSpPr>
        <p:spPr>
          <a:xfrm>
            <a:off x="685800" y="1417320"/>
            <a:ext cx="10820095" cy="4297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그림</a:t>
            </a:r>
            <a:endParaRPr lang="en-US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5852160"/>
            <a:ext cx="10820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그림 1. 캡션</a:t>
            </a:r>
            <a:endParaRPr lang="en-US" sz="1200" dirty="0"/>
          </a:p>
        </p:txBody>
      </p:sp>
      <p:sp>
        <p:nvSpPr>
          <p:cNvPr id="6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전기버스 충전 인프라 · 선행연구 검토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표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10820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표 1. 캡션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tbl" hasCustomPrompt="1"/>
          </p:nvPr>
        </p:nvSpPr>
        <p:spPr>
          <a:xfrm>
            <a:off x="685800" y="1828800"/>
            <a:ext cx="10820095" cy="4251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표</a:t>
            </a:r>
            <a:endParaRPr lang="en-US" dirty="0"/>
          </a:p>
        </p:txBody>
      </p:sp>
      <p:sp>
        <p:nvSpPr>
          <p:cNvPr id="6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전기버스 충전 인프라 · 선행연구 검토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본문+표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393192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marL="228600" indent="-228600">
              <a:lnSpc>
                <a:spcPct val="115000"/>
              </a:lnSpc>
              <a:spcAft>
                <a:spcPts val="1000"/>
              </a:spcAft>
              <a:buClr>
                <a:srgbClr val="000000"/>
              </a:buClr>
              <a:buFont typeface="Arial"/>
              <a:buChar char="•"/>
              <a:defRPr sz="160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lvl1pPr>
            <a:lvl2pPr marL="4064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2pPr>
            <a:lvl3pPr marL="6096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3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본문 (Tab: 2단계 불릿)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937760" y="1417320"/>
            <a:ext cx="65653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표 1. 캡션</a:t>
            </a:r>
            <a:endParaRPr lang="en-US" sz="1200" dirty="0"/>
          </a:p>
        </p:txBody>
      </p:sp>
      <p:sp>
        <p:nvSpPr>
          <p:cNvPr id="6" name="Text 0"/>
          <p:cNvSpPr/>
          <p:nvPr>
            <p:ph idx="104" type="tbl" hasCustomPrompt="1"/>
          </p:nvPr>
        </p:nvSpPr>
        <p:spPr>
          <a:xfrm>
            <a:off x="4937760" y="1828800"/>
            <a:ext cx="6565392" cy="4251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표</a:t>
            </a:r>
            <a:endParaRPr lang="en-US" dirty="0"/>
          </a:p>
        </p:txBody>
      </p:sp>
      <p:sp>
        <p:nvSpPr>
          <p:cNvPr id="7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전기버스 충전 인프라 · 선행연구 검토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본문+코드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393192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marL="228600" indent="-228600">
              <a:lnSpc>
                <a:spcPct val="115000"/>
              </a:lnSpc>
              <a:spcAft>
                <a:spcPts val="1000"/>
              </a:spcAft>
              <a:buClr>
                <a:srgbClr val="000000"/>
              </a:buClr>
              <a:buFont typeface="Arial"/>
              <a:buChar char="•"/>
              <a:defRPr sz="160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lvl1pPr>
            <a:lvl2pPr marL="4064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2pPr>
            <a:lvl3pPr marL="6096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3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본문 (Tab: 2단계 불릿)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937760" y="1417320"/>
            <a:ext cx="6565392" cy="4663440"/>
          </a:xfrm>
          <a:prstGeom prst="roundRect">
            <a:avLst>
              <a:gd name="adj" fmla="val 3268"/>
            </a:avLst>
          </a:prstGeom>
          <a:solidFill>
            <a:srgbClr val="EFEFEF"/>
          </a:solidFill>
          <a:ln/>
        </p:spPr>
        <p:txBody>
          <a:bodyPr wrap="square" lIns="228600" tIns="384048" rIns="228600" bIns="137160" rtlCol="0" anchor="t">
            <a:noAutofit/>
          </a:bodyPr>
          <a:lstStyle>
            <a:lvl1pPr algn="l" marL="0" indent="0">
              <a:lnSpc>
                <a:spcPct val="100000"/>
              </a:lnSpc>
              <a:spcAft>
                <a:spcPts val="0"/>
              </a:spcAft>
              <a:buNone/>
              <a:defRPr sz="1100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코드</a:t>
            </a:r>
            <a:endParaRPr lang="en-US" sz="1100" dirty="0"/>
          </a:p>
        </p:txBody>
      </p:sp>
      <p:sp>
        <p:nvSpPr>
          <p:cNvPr id="6" name="Text 0"/>
          <p:cNvSpPr/>
          <p:nvPr/>
        </p:nvSpPr>
        <p:spPr>
          <a:xfrm>
            <a:off x="5166360" y="15270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FAF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 [ ]</a:t>
            </a:r>
            <a:endParaRPr lang="en-US" sz="900" dirty="0"/>
          </a:p>
        </p:txBody>
      </p:sp>
      <p:sp>
        <p:nvSpPr>
          <p:cNvPr id="7" name="Text 1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전기버스 충전 인프라 · 선행연구 검토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마무리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219456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52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defRPr>
            </a:lvl1pPr>
          </a:lstStyle>
          <a:p>
            <a:pPr indent="0" marL="0">
              <a:buNone/>
            </a:pPr>
            <a:r>
              <a:rPr lang="en-US" sz="52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감사합니다</a:t>
            </a:r>
            <a:endParaRPr lang="en-US" sz="5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32461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2200" dirty="0">
                <a:solidFill>
                  <a:srgbClr val="000000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defRPr>
            </a:lvl1pPr>
          </a:lstStyle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rPr>
              <a:t>부제</a:t>
            </a:r>
            <a:endParaRPr lang="en-US" sz="2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5577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4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4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연락처</a:t>
            </a:r>
            <a:endParaRPr lang="en-US" sz="14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전기버스 충전 인프라 연구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선행연구 검토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t>전기버스 충전 인프라 선행연구 10편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t>무엇이 밝혀졌고, 무엇이 비어 있는가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r>
              <a:t>김주원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05"/>
          </p:nvPr>
        </p:nvSpPr>
        <p:spPr/>
        <p:txBody>
          <a:bodyPr/>
          <a:lstStyle/>
          <a:p>
            <a:r>
              <a:t>2026년 9월 4일 (금)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강의 목차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선행연구 검토</a:t>
            </a:r>
          </a:p>
        </p:txBody>
      </p:sp>
      <p:graphicFrame>
        <p:nvGraphicFramePr>
          <p:cNvPr id="5" name="Table Placeholder 4"/>
          <p:cNvGraphicFramePr>
            <a:graphicFrameLocks noGrp="1"/>
          </p:cNvGraphicFramePr>
          <p:nvPr>
            <p:ph type="tbl" idx="103"/>
          </p:nvPr>
        </p:nvGraphicFramePr>
        <p:xfrm>
          <a:off x="685800" y="1828800"/>
          <a:ext cx="10820093" cy="29464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914631"/>
                <a:gridCol w="2560969"/>
                <a:gridCol w="7344493"/>
              </a:tblGrid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01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논문별 결과 차이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1.1 검토 대상 10편  ·  1.2 같은 문제, 갈리는 결론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02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지금까지 밝혀진 것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2.1 합의된 결과 세 가지  ·  2.2 데이터와 국내 재현 가능성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03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현재 연구의 한계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3.1 운영 변수의 공백  ·  3.2 공통 한계 네 가지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04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앞으로 필요한 것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4.1 예비 실행 — DTUMOS  ·  4.2 다음 단계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01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논문별 결과 차이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1.1  </a:t>
            </a:r>
            <a:r>
              <a:t>검토 대상 10편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1.2  </a:t>
            </a:r>
            <a:r>
              <a:t>같은 문제, 갈리는 결론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1.1 검토 대상 10편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1. 논문별 결과 차이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연구논문 8편 · 리뷰 2편</a:t>
            </a:r>
          </a:p>
          <a:p>
            <a:pPr/>
            <a:r>
              <a:t>인용 6~218회로 편차 큼</a:t>
            </a:r>
          </a:p>
          <a:p>
            <a:pPr/>
            <a:r>
              <a:t>최적화형 6편이 다수</a:t>
            </a:r>
          </a:p>
          <a:p>
            <a:pPr/>
            <a:r>
              <a:t>리뷰 2편은 문제 지목만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t>표 1. 유형별 논문 편수와 대표 논문의 인용 수</a:t>
            </a:r>
          </a:p>
        </p:txBody>
      </p:sp>
      <p:graphicFrame>
        <p:nvGraphicFramePr>
          <p:cNvPr id="6" name="Table Placeholder 5"/>
          <p:cNvGraphicFramePr>
            <a:graphicFrameLocks noGrp="1"/>
          </p:cNvGraphicFramePr>
          <p:nvPr>
            <p:ph type="tbl" idx="104"/>
          </p:nvPr>
        </p:nvGraphicFramePr>
        <p:xfrm>
          <a:off x="4937760" y="1828800"/>
          <a:ext cx="6565392" cy="29464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1641348"/>
                <a:gridCol w="1641348"/>
                <a:gridCol w="1641348"/>
                <a:gridCol w="1641348"/>
              </a:tblGrid>
              <a:tr h="4064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유형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편수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대표 논문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인용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A 최적화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6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He (2020)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218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B 평가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1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Vijay (2023)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6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C 의견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1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Zeng (2023)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37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D 리뷰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2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Deng (2021)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71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1.2 같은 문제, 갈리는 결론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1. 논문별 결과 차이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표 2. 논문별 핵심 결과와 그 결과가 서 있는 전제</a:t>
            </a:r>
          </a:p>
        </p:txBody>
      </p:sp>
      <p:graphicFrame>
        <p:nvGraphicFramePr>
          <p:cNvPr id="5" name="Table Placeholder 4"/>
          <p:cNvGraphicFramePr>
            <a:graphicFrameLocks noGrp="1"/>
          </p:cNvGraphicFramePr>
          <p:nvPr>
            <p:ph type="tbl" idx="103"/>
          </p:nvPr>
        </p:nvGraphicFramePr>
        <p:xfrm>
          <a:off x="685800" y="1828800"/>
          <a:ext cx="10820095" cy="35814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3606698"/>
                <a:gridCol w="3606698"/>
                <a:gridCol w="3606699"/>
              </a:tblGrid>
              <a:tr h="4064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논문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핵심 결과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무엇을 고정했나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He (2020)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충전 시각·출력만 조정해 충전비 34~66% 절감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시각표, 충전기 위치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Liu (2021)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계절 무시 시 충전소 5→4곳, 겨울 SOC 하한 위반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개별 차량 운행표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Zhou (2022)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배차 8→30분에 필요 버스 11→3대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공표 시각표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Zeng (2023)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종점 급속충전기 가동률 10.3%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모형 없음 (사설)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Vijay (2023)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TCO 보스턴 상승 · 밀라노 하락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배차, 충전기 대수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지금까지 밝혀진 것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2.1  </a:t>
            </a:r>
            <a:r>
              <a:t>합의된 결과 세 가지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2.2  </a:t>
            </a:r>
            <a:r>
              <a:t>데이터와 국내 재현 가능성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2.1 합의된 결과 세 가지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2. 지금까지 밝혀진 것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운영 조정만으로 충전비 절감 — 인프라 증설 없이</a:t>
            </a:r>
          </a:p>
          <a:p>
            <a:pPr lvl="1"/>
            <a:r>
              <a:t>He (2020) 34~66% · Rupp (2020) 비용 13.6%, CO₂ 14.9%</a:t>
            </a:r>
          </a:p>
          <a:p>
            <a:pPr/>
            <a:r>
              <a:t>충전기 부족이 아니라 활용 실패</a:t>
            </a:r>
          </a:p>
          <a:p>
            <a:pPr lvl="1"/>
            <a:r>
              <a:t>Zeng (2023) 예테보리 16번 종점 충전기 가동률 10.3%</a:t>
            </a:r>
          </a:p>
          <a:p>
            <a:pPr/>
            <a:r>
              <a:t>물리·환경 조건 누락 시 실행 불가능한 해</a:t>
            </a:r>
          </a:p>
          <a:p>
            <a:pPr lvl="1"/>
            <a:r>
              <a:t>Liu (2021) 겨울 전비 36→43 kWh/h, 계절 무시하면 SOC 하한 위반</a:t>
            </a:r>
          </a:p>
          <a:p>
            <a:pPr lvl="1"/>
            <a:r>
              <a:t>Zhou (2022) SOC 0.75 이상 열화비 0.79 USD/kWh → 부분 충전 근거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2.2 데이터와 국내 재현 가능성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2. 지금까지 밝혀진 것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표 3. 논문별 데이터 출처·공개 수준과 국내 대응 자료</a:t>
            </a:r>
          </a:p>
        </p:txBody>
      </p:sp>
      <p:graphicFrame>
        <p:nvGraphicFramePr>
          <p:cNvPr id="5" name="Table Placeholder 4"/>
          <p:cNvGraphicFramePr>
            <a:graphicFrameLocks noGrp="1"/>
          </p:cNvGraphicFramePr>
          <p:nvPr>
            <p:ph type="tbl" idx="103"/>
          </p:nvPr>
        </p:nvGraphicFramePr>
        <p:xfrm>
          <a:off x="685800" y="1828800"/>
          <a:ext cx="10820095" cy="35814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2705023"/>
                <a:gridCol w="2705023"/>
                <a:gridCol w="2705023"/>
                <a:gridCol w="2705026"/>
              </a:tblGrid>
              <a:tr h="4064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논문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데이터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공개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국내 대응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He (2020)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유타 GIS + 시각표 + 공시 요금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전부 공개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국가공간정보포털, TAGO, 한전 요금표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Vijay (2023)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GTFS + 승객 오픈데이터 + Google API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전부 공개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TAGO GTFS, 교통카드 통계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Zhou (2024)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Tower Transit 400대 · 차고지 4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인스턴스만 (부록 D)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벤치마크 30세트 그대로 활용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Bao (2023)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상하이 자딩 10노선 · 128대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요청 시 제공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규모가 국내 중소도시급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Liu (2021)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베이징 스마트카드 + GPS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비공개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교통카드 자료, BIS 운행기록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03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현재 연구의 한계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3.1  </a:t>
            </a:r>
            <a:r>
              <a:t>운영 변수의 공백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3.2  </a:t>
            </a:r>
            <a:r>
              <a:t>공통 한계 네 가지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3.1 운영 변수의 공백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3. 현재 연구의 한계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연구논문 8편 기준</a:t>
            </a:r>
          </a:p>
          <a:p>
            <a:pPr/>
            <a:r>
              <a:t>충전 스케줄 6편 — 포화</a:t>
            </a:r>
          </a:p>
          <a:p>
            <a:pPr/>
            <a:r>
              <a:t>입지+운영 동시 1편</a:t>
            </a:r>
          </a:p>
          <a:p>
            <a:pPr/>
            <a:r>
              <a:t>시각표·승무 0편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r>
              <a:t>그림 1. 결정변수로 다룬 논문 수 (연구논문 8편 기준)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  <p:pic>
        <p:nvPicPr>
          <p:cNvPr id="26" name="Picture 25" descr="fi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417320"/>
            <a:ext cx="6565392" cy="414896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3.2 공통 한계 네 가지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3. 현재 연구의 한계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시각표를 입력으로 받음 — 연구논문 8편 전부</a:t>
            </a:r>
          </a:p>
          <a:p>
            <a:pPr lvl="1"/>
            <a:r>
              <a:t>He (2020) "already established timetable" · Zhou (2024) "published timetable"</a:t>
            </a:r>
          </a:p>
          <a:p>
            <a:pPr/>
            <a:r>
              <a:t>충전 지연 → 후속 배차·승무 교란의 되먹임 부재</a:t>
            </a:r>
          </a:p>
          <a:p>
            <a:pPr lvl="1"/>
            <a:r>
              <a:t>Bao (2023) layover를 시각표에서 파생된 입력값으로 사용</a:t>
            </a:r>
          </a:p>
          <a:p>
            <a:pPr/>
            <a:r>
              <a:t>승객 대기시간·서비스 수준이 목적함수에 없음 — Liu (2021) 제외</a:t>
            </a:r>
          </a:p>
          <a:p>
            <a:pPr/>
            <a:r>
              <a:t>결정론적 모형 — 지연·수요 변동 미반영. 국내 사례 0편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04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앞으로 필요한 것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4.1  </a:t>
            </a:r>
            <a:r>
              <a:t>예비 실행 — DTUMOS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4.2  </a:t>
            </a:r>
            <a:r>
              <a:t>다음 단계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4.1 예비 실행 — DTUMOS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4. 앞으로 필요한 것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서울 택시 실측 수요 투입</a:t>
            </a:r>
          </a:p>
          <a:p>
            <a:pPr/>
            <a:r>
              <a:t>2018-04-18 18–20시</a:t>
            </a:r>
          </a:p>
          <a:p>
            <a:pPr/>
            <a:r>
              <a:t>규모 세 단계로 실행</a:t>
            </a:r>
          </a:p>
          <a:p>
            <a:pPr/>
            <a:r>
              <a:t>충전 제약은 아직 없음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t>표 4. DTUMOS 예비 실행 3회차 (서울, 18–20시)</a:t>
            </a:r>
          </a:p>
        </p:txBody>
      </p:sp>
      <p:graphicFrame>
        <p:nvGraphicFramePr>
          <p:cNvPr id="6" name="Table Placeholder 5"/>
          <p:cNvGraphicFramePr>
            <a:graphicFrameLocks noGrp="1"/>
          </p:cNvGraphicFramePr>
          <p:nvPr>
            <p:ph type="tbl" idx="104"/>
          </p:nvPr>
        </p:nvGraphicFramePr>
        <p:xfrm>
          <a:off x="4937760" y="1828800"/>
          <a:ext cx="6565392" cy="23114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1641348"/>
                <a:gridCol w="1641348"/>
                <a:gridCol w="1641348"/>
                <a:gridCol w="1641348"/>
              </a:tblGrid>
              <a:tr h="4064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차량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수요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서비스율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평균 대기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300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3,000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79.5%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5.7분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1,200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12,000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88.1%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4.0분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6,000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90,872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69.4%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2.7분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4.2 다음 단계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4. 앞으로 필요한 것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결정변수 확장: 충전소 입지 + 배차·시각표·운전자 휴게 동시</a:t>
            </a:r>
          </a:p>
          <a:p>
            <a:pPr lvl="1"/>
            <a:r>
              <a:t>Ashkezari (2024)가 방향까지 제시, 수행 사례 없음</a:t>
            </a:r>
          </a:p>
          <a:p>
            <a:pPr/>
            <a:r>
              <a:t>해상도 전환: 시간당 집계 대수 → 개별 차량 운행표</a:t>
            </a:r>
          </a:p>
          <a:p>
            <a:pPr lvl="1"/>
            <a:r>
              <a:t>Liu (2021)의 flow 수준을 block 수준으로</a:t>
            </a:r>
          </a:p>
          <a:p>
            <a:pPr/>
            <a:r>
              <a:t>시뮬레이터: DTUMOS에 배터리·충전소 모델 부재 → 구현 대상</a:t>
            </a:r>
          </a:p>
          <a:p>
            <a:pPr lvl="1"/>
            <a:r>
              <a:t>충전 지연 → 배차 교란의 되먹임은 최적화보다 시뮬레이션에 적합</a:t>
            </a:r>
          </a:p>
          <a:p>
            <a:pPr/>
            <a:r>
              <a:t>검토 잔여: 미검토 5편 · 국내 문헌 0편 · 버스 GTFS 확보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감사합니다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질문과 토론을 환영합니다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2026-08-31T14:39:01Z</dcterms:created>
  <dcterms:modified xsi:type="dcterms:W3CDTF">2026-08-31T14:39:01Z</dcterms:modified>
</cp:coreProperties>
</file>