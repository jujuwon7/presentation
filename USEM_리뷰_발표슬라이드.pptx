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주원 김" userId="35032f258bd5070f" providerId="LiveId" clId="{7BCFEC3D-3794-412C-8007-0E81485D5907}"/>
    <pc:docChg chg="modSld">
      <pc:chgData name="주원 김" userId="35032f258bd5070f" providerId="LiveId" clId="{7BCFEC3D-3794-412C-8007-0E81485D5907}" dt="2026-07-27T15:31:30.770" v="71" actId="20577"/>
      <pc:docMkLst>
        <pc:docMk/>
      </pc:docMkLst>
      <pc:sldChg chg="addSp delSp modSp mod">
        <pc:chgData name="주원 김" userId="35032f258bd5070f" providerId="LiveId" clId="{7BCFEC3D-3794-412C-8007-0E81485D5907}" dt="2026-07-27T15:31:30.770" v="71" actId="20577"/>
        <pc:sldMkLst>
          <pc:docMk/>
          <pc:sldMk cId="0" sldId="256"/>
        </pc:sldMkLst>
        <pc:spChg chg="mod">
          <ac:chgData name="주원 김" userId="35032f258bd5070f" providerId="LiveId" clId="{7BCFEC3D-3794-412C-8007-0E81485D5907}" dt="2026-07-27T09:02:32.757" v="40" actId="20577"/>
          <ac:spMkLst>
            <pc:docMk/>
            <pc:sldMk cId="0" sldId="256"/>
            <ac:spMk id="6" creationId="{00000000-0000-0000-0000-000000000000}"/>
          </ac:spMkLst>
        </pc:spChg>
        <pc:spChg chg="mod">
          <ac:chgData name="주원 김" userId="35032f258bd5070f" providerId="LiveId" clId="{7BCFEC3D-3794-412C-8007-0E81485D5907}" dt="2026-07-27T15:31:30.770" v="71" actId="20577"/>
          <ac:spMkLst>
            <pc:docMk/>
            <pc:sldMk cId="0" sldId="256"/>
            <ac:spMk id="11" creationId="{00000000-0000-0000-0000-000000000000}"/>
          </ac:spMkLst>
        </pc:spChg>
        <pc:spChg chg="add del mod">
          <ac:chgData name="주원 김" userId="35032f258bd5070f" providerId="LiveId" clId="{7BCFEC3D-3794-412C-8007-0E81485D5907}" dt="2026-07-27T09:03:07.554" v="45"/>
          <ac:spMkLst>
            <pc:docMk/>
            <pc:sldMk cId="0" sldId="256"/>
            <ac:spMk id="12" creationId="{3C9031F1-CEEB-8ECE-56D4-3C698AC02E1E}"/>
          </ac:spMkLst>
        </pc:spChg>
        <pc:spChg chg="add mod">
          <ac:chgData name="주원 김" userId="35032f258bd5070f" providerId="LiveId" clId="{7BCFEC3D-3794-412C-8007-0E81485D5907}" dt="2026-07-27T09:06:37.583" v="48"/>
          <ac:spMkLst>
            <pc:docMk/>
            <pc:sldMk cId="0" sldId="256"/>
            <ac:spMk id="13" creationId="{28808B7B-7C71-F57F-CA12-C3CDBCE94F90}"/>
          </ac:spMkLst>
        </pc:spChg>
      </pc:sldChg>
      <pc:sldChg chg="addSp modSp">
        <pc:chgData name="주원 김" userId="35032f258bd5070f" providerId="LiveId" clId="{7BCFEC3D-3794-412C-8007-0E81485D5907}" dt="2026-07-27T09:06:41.149" v="49"/>
        <pc:sldMkLst>
          <pc:docMk/>
          <pc:sldMk cId="0" sldId="257"/>
        </pc:sldMkLst>
        <pc:spChg chg="add mod">
          <ac:chgData name="주원 김" userId="35032f258bd5070f" providerId="LiveId" clId="{7BCFEC3D-3794-412C-8007-0E81485D5907}" dt="2026-07-27T09:06:41.149" v="49"/>
          <ac:spMkLst>
            <pc:docMk/>
            <pc:sldMk cId="0" sldId="257"/>
            <ac:spMk id="22" creationId="{BF8BE2DB-E57B-2C3F-4E7B-FE5098B2B84D}"/>
          </ac:spMkLst>
        </pc:spChg>
      </pc:sldChg>
      <pc:sldChg chg="addSp modSp">
        <pc:chgData name="주원 김" userId="35032f258bd5070f" providerId="LiveId" clId="{7BCFEC3D-3794-412C-8007-0E81485D5907}" dt="2026-07-27T09:06:43.814" v="50"/>
        <pc:sldMkLst>
          <pc:docMk/>
          <pc:sldMk cId="0" sldId="258"/>
        </pc:sldMkLst>
        <pc:spChg chg="add mod">
          <ac:chgData name="주원 김" userId="35032f258bd5070f" providerId="LiveId" clId="{7BCFEC3D-3794-412C-8007-0E81485D5907}" dt="2026-07-27T09:06:43.814" v="50"/>
          <ac:spMkLst>
            <pc:docMk/>
            <pc:sldMk cId="0" sldId="258"/>
            <ac:spMk id="23" creationId="{2A045ED9-C45D-BDE0-424F-DF3543E1A82C}"/>
          </ac:spMkLst>
        </pc:spChg>
      </pc:sldChg>
      <pc:sldChg chg="addSp modSp mod">
        <pc:chgData name="주원 김" userId="35032f258bd5070f" providerId="LiveId" clId="{7BCFEC3D-3794-412C-8007-0E81485D5907}" dt="2026-07-27T09:06:46.566" v="51"/>
        <pc:sldMkLst>
          <pc:docMk/>
          <pc:sldMk cId="0" sldId="259"/>
        </pc:sldMkLst>
        <pc:spChg chg="mod">
          <ac:chgData name="주원 김" userId="35032f258bd5070f" providerId="LiveId" clId="{7BCFEC3D-3794-412C-8007-0E81485D5907}" dt="2026-07-27T08:54:59.254" v="36" actId="20577"/>
          <ac:spMkLst>
            <pc:docMk/>
            <pc:sldMk cId="0" sldId="259"/>
            <ac:spMk id="6" creationId="{00000000-0000-0000-0000-000000000000}"/>
          </ac:spMkLst>
        </pc:spChg>
        <pc:spChg chg="add mod">
          <ac:chgData name="주원 김" userId="35032f258bd5070f" providerId="LiveId" clId="{7BCFEC3D-3794-412C-8007-0E81485D5907}" dt="2026-07-27T09:06:46.566" v="51"/>
          <ac:spMkLst>
            <pc:docMk/>
            <pc:sldMk cId="0" sldId="259"/>
            <ac:spMk id="21" creationId="{F4865E4B-14A7-5B3B-C40D-29B4176D0C15}"/>
          </ac:spMkLst>
        </pc:spChg>
      </pc:sldChg>
      <pc:sldChg chg="addSp modSp">
        <pc:chgData name="주원 김" userId="35032f258bd5070f" providerId="LiveId" clId="{7BCFEC3D-3794-412C-8007-0E81485D5907}" dt="2026-07-27T09:06:48.997" v="52"/>
        <pc:sldMkLst>
          <pc:docMk/>
          <pc:sldMk cId="0" sldId="260"/>
        </pc:sldMkLst>
        <pc:spChg chg="add mod">
          <ac:chgData name="주원 김" userId="35032f258bd5070f" providerId="LiveId" clId="{7BCFEC3D-3794-412C-8007-0E81485D5907}" dt="2026-07-27T09:06:48.997" v="52"/>
          <ac:spMkLst>
            <pc:docMk/>
            <pc:sldMk cId="0" sldId="260"/>
            <ac:spMk id="27" creationId="{63C9E327-6A01-089C-CAEF-D825656C3E94}"/>
          </ac:spMkLst>
        </pc:spChg>
      </pc:sldChg>
      <pc:sldChg chg="addSp modSp">
        <pc:chgData name="주원 김" userId="35032f258bd5070f" providerId="LiveId" clId="{7BCFEC3D-3794-412C-8007-0E81485D5907}" dt="2026-07-27T09:06:11.772" v="47"/>
        <pc:sldMkLst>
          <pc:docMk/>
          <pc:sldMk cId="0" sldId="261"/>
        </pc:sldMkLst>
        <pc:spChg chg="add mod">
          <ac:chgData name="주원 김" userId="35032f258bd5070f" providerId="LiveId" clId="{7BCFEC3D-3794-412C-8007-0E81485D5907}" dt="2026-07-27T09:06:11.772" v="47"/>
          <ac:spMkLst>
            <pc:docMk/>
            <pc:sldMk cId="0" sldId="261"/>
            <ac:spMk id="16" creationId="{F147C494-82FE-1DDC-0D93-4FCE904D5239}"/>
          </ac:spMkLst>
        </pc:spChg>
      </pc:sldChg>
      <pc:sldChg chg="addSp modSp">
        <pc:chgData name="주원 김" userId="35032f258bd5070f" providerId="LiveId" clId="{7BCFEC3D-3794-412C-8007-0E81485D5907}" dt="2026-07-27T09:06:54.567" v="53"/>
        <pc:sldMkLst>
          <pc:docMk/>
          <pc:sldMk cId="0" sldId="262"/>
        </pc:sldMkLst>
        <pc:spChg chg="add mod">
          <ac:chgData name="주원 김" userId="35032f258bd5070f" providerId="LiveId" clId="{7BCFEC3D-3794-412C-8007-0E81485D5907}" dt="2026-07-27T09:06:54.567" v="53"/>
          <ac:spMkLst>
            <pc:docMk/>
            <pc:sldMk cId="0" sldId="262"/>
            <ac:spMk id="21" creationId="{CAB1D316-9027-BED6-E0EB-971E7EA45BBA}"/>
          </ac:spMkLst>
        </pc:spChg>
      </pc:sldChg>
      <pc:sldChg chg="addSp modSp">
        <pc:chgData name="주원 김" userId="35032f258bd5070f" providerId="LiveId" clId="{7BCFEC3D-3794-412C-8007-0E81485D5907}" dt="2026-07-27T09:06:57.141" v="54"/>
        <pc:sldMkLst>
          <pc:docMk/>
          <pc:sldMk cId="0" sldId="263"/>
        </pc:sldMkLst>
        <pc:spChg chg="add mod">
          <ac:chgData name="주원 김" userId="35032f258bd5070f" providerId="LiveId" clId="{7BCFEC3D-3794-412C-8007-0E81485D5907}" dt="2026-07-27T09:06:57.141" v="54"/>
          <ac:spMkLst>
            <pc:docMk/>
            <pc:sldMk cId="0" sldId="263"/>
            <ac:spMk id="20" creationId="{D974AF3A-B6B3-CA52-1CF1-930DD55A5EC7}"/>
          </ac:spMkLst>
        </pc:spChg>
      </pc:sldChg>
      <pc:sldChg chg="addSp modSp">
        <pc:chgData name="주원 김" userId="35032f258bd5070f" providerId="LiveId" clId="{7BCFEC3D-3794-412C-8007-0E81485D5907}" dt="2026-07-27T09:07:00.935" v="55"/>
        <pc:sldMkLst>
          <pc:docMk/>
          <pc:sldMk cId="0" sldId="264"/>
        </pc:sldMkLst>
        <pc:spChg chg="add mod">
          <ac:chgData name="주원 김" userId="35032f258bd5070f" providerId="LiveId" clId="{7BCFEC3D-3794-412C-8007-0E81485D5907}" dt="2026-07-27T09:07:00.935" v="55"/>
          <ac:spMkLst>
            <pc:docMk/>
            <pc:sldMk cId="0" sldId="264"/>
            <ac:spMk id="24" creationId="{F33A1CD4-989F-9311-5492-42D8093A0444}"/>
          </ac:spMkLst>
        </pc:spChg>
      </pc:sldChg>
      <pc:sldChg chg="addSp modSp">
        <pc:chgData name="주원 김" userId="35032f258bd5070f" providerId="LiveId" clId="{7BCFEC3D-3794-412C-8007-0E81485D5907}" dt="2026-07-27T09:07:04.171" v="56"/>
        <pc:sldMkLst>
          <pc:docMk/>
          <pc:sldMk cId="0" sldId="265"/>
        </pc:sldMkLst>
        <pc:spChg chg="add mod">
          <ac:chgData name="주원 김" userId="35032f258bd5070f" providerId="LiveId" clId="{7BCFEC3D-3794-412C-8007-0E81485D5907}" dt="2026-07-27T09:07:04.171" v="56"/>
          <ac:spMkLst>
            <pc:docMk/>
            <pc:sldMk cId="0" sldId="265"/>
            <ac:spMk id="22" creationId="{9C9A5F01-1347-A95F-CD93-8934A39B7965}"/>
          </ac:spMkLst>
        </pc:spChg>
      </pc:sldChg>
      <pc:sldChg chg="addSp modSp">
        <pc:chgData name="주원 김" userId="35032f258bd5070f" providerId="LiveId" clId="{7BCFEC3D-3794-412C-8007-0E81485D5907}" dt="2026-07-27T09:07:07.054" v="57"/>
        <pc:sldMkLst>
          <pc:docMk/>
          <pc:sldMk cId="0" sldId="266"/>
        </pc:sldMkLst>
        <pc:spChg chg="add mod">
          <ac:chgData name="주원 김" userId="35032f258bd5070f" providerId="LiveId" clId="{7BCFEC3D-3794-412C-8007-0E81485D5907}" dt="2026-07-27T09:07:07.054" v="57"/>
          <ac:spMkLst>
            <pc:docMk/>
            <pc:sldMk cId="0" sldId="266"/>
            <ac:spMk id="26" creationId="{26DCB24B-ED92-203F-D747-7A22C2D3BB79}"/>
          </ac:spMkLst>
        </pc:spChg>
      </pc:sldChg>
      <pc:sldChg chg="addSp modSp mod">
        <pc:chgData name="주원 김" userId="35032f258bd5070f" providerId="LiveId" clId="{7BCFEC3D-3794-412C-8007-0E81485D5907}" dt="2026-07-27T15:25:04.751" v="69" actId="20577"/>
        <pc:sldMkLst>
          <pc:docMk/>
          <pc:sldMk cId="0" sldId="267"/>
        </pc:sldMkLst>
        <pc:spChg chg="mod">
          <ac:chgData name="주원 김" userId="35032f258bd5070f" providerId="LiveId" clId="{7BCFEC3D-3794-412C-8007-0E81485D5907}" dt="2026-07-27T08:49:42.866" v="32" actId="20577"/>
          <ac:spMkLst>
            <pc:docMk/>
            <pc:sldMk cId="0" sldId="267"/>
            <ac:spMk id="8" creationId="{00000000-0000-0000-0000-000000000000}"/>
          </ac:spMkLst>
        </pc:spChg>
        <pc:spChg chg="mod">
          <ac:chgData name="주원 김" userId="35032f258bd5070f" providerId="LiveId" clId="{7BCFEC3D-3794-412C-8007-0E81485D5907}" dt="2026-07-27T08:50:03.411" v="33" actId="207"/>
          <ac:spMkLst>
            <pc:docMk/>
            <pc:sldMk cId="0" sldId="267"/>
            <ac:spMk id="10" creationId="{00000000-0000-0000-0000-000000000000}"/>
          </ac:spMkLst>
        </pc:spChg>
        <pc:spChg chg="mod">
          <ac:chgData name="주원 김" userId="35032f258bd5070f" providerId="LiveId" clId="{7BCFEC3D-3794-412C-8007-0E81485D5907}" dt="2026-07-27T08:50:07.971" v="34" actId="207"/>
          <ac:spMkLst>
            <pc:docMk/>
            <pc:sldMk cId="0" sldId="267"/>
            <ac:spMk id="12" creationId="{00000000-0000-0000-0000-000000000000}"/>
          </ac:spMkLst>
        </pc:spChg>
        <pc:spChg chg="mod">
          <ac:chgData name="주원 김" userId="35032f258bd5070f" providerId="LiveId" clId="{7BCFEC3D-3794-412C-8007-0E81485D5907}" dt="2026-07-27T08:50:11.279" v="35" actId="207"/>
          <ac:spMkLst>
            <pc:docMk/>
            <pc:sldMk cId="0" sldId="267"/>
            <ac:spMk id="14" creationId="{00000000-0000-0000-0000-000000000000}"/>
          </ac:spMkLst>
        </pc:spChg>
        <pc:spChg chg="mod">
          <ac:chgData name="주원 김" userId="35032f258bd5070f" providerId="LiveId" clId="{7BCFEC3D-3794-412C-8007-0E81485D5907}" dt="2026-07-27T15:25:04.751" v="69" actId="20577"/>
          <ac:spMkLst>
            <pc:docMk/>
            <pc:sldMk cId="0" sldId="267"/>
            <ac:spMk id="16" creationId="{00000000-0000-0000-0000-000000000000}"/>
          </ac:spMkLst>
        </pc:spChg>
        <pc:spChg chg="add mod">
          <ac:chgData name="주원 김" userId="35032f258bd5070f" providerId="LiveId" clId="{7BCFEC3D-3794-412C-8007-0E81485D5907}" dt="2026-07-27T09:07:09.180" v="58"/>
          <ac:spMkLst>
            <pc:docMk/>
            <pc:sldMk cId="0" sldId="267"/>
            <ac:spMk id="17" creationId="{B809B41A-A527-CC69-86F2-1DD991D8ECE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1DECCCB8-1E22-1748-BD16-6965B376877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6D595D6-982E-6BB7-1E56-60B42178E76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998478-7DBB-4C55-B919-CC9080A14A08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DB2CF1A-C910-6ADB-B6F2-FD40D332DD1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2A99A-7FFE-408D-3BBF-590022DB0D4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ADF915-AF8D-49AF-9968-C991EC0EBF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29060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911491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제목 슬라이드. 논문 제목, 저자, 출처를 소개하고 발표를 시작.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도시가 에너지·배출의 핵심이라 절감 잠재력이 크다. 그런데 부분만 보면 안 되고 시스템 전체를 통합적으로 봐야 한다는 문제의식.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USEM = 여러 sub-model의 조합. 수요/생산/분배를 함께 보고 미기후 영향까지 고려하는 게 핵심 전제.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슬라이드가 발표의 핵심. 리뷰의 기여는 새 기술이 아니라 정리하는 틀 — 멀티도메인 + 아키텍처 분류.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가지 결합 방식. 코시뮬레이션의 weak/strong coupling 차이도 언급. 논문은 통합형과 코시뮬레이션 두 축으로 도구를 정리.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방법론은 문헌 리뷰 + 두 개의 능력표. 표가 이 논문의 실질적 산출물. 오른쪽은 표를 단순화한 예시.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UBEM은 bottom-up. 통계 vs 엔지니어링 두 갈래. 엔지니어링은 다시 deterministic/stochastic. CityGML로 3D 모델. 예시 도구 언급.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통합형 = 하나의 모델로 다 통합. 대표로 CitySim, CEA 소개. 장단점(일관성 vs 계산부담). 나머지는 이름만.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코시뮬레이션은 기존 도구를 런타임에 연결. FMI/BCVTB가 연결을 담당. MESCOS/HUES/URBANopt 예시. 저자들이 유망하다고 보는 방향.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교통은 대부분 빠져 있고 LUT 모델에서만 다뤄짐. 최신은 에이전트 마이크로시뮬레이션. LUT와 에너지 모델의 통합이 아직 안 된 게 핵심 공백.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결론 4가지: 종합 도구는 드물다 / 분배·교통이 자주 빠진다 / 인프라 상세 모델링이 트렌드 / 코시뮬레이션이 유망하다.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줄 요약을 다시 강조하고, 나의 관점(유용성/한계/과제)을 말한 뒤 질문을 받는다.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3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3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2926080"/>
            <a:ext cx="3291840" cy="32918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77724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22" y="979322"/>
            <a:ext cx="373075" cy="3730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46304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E9A2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리뷰 세미나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548640" y="196596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도시 규모 </a:t>
            </a:r>
            <a:r>
              <a:rPr lang="en-US" sz="44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</a:t>
            </a: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44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모델링</a:t>
            </a: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도구:</a:t>
            </a:r>
            <a:endParaRPr lang="en-US" sz="4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리뷰</a:t>
            </a:r>
            <a:endParaRPr lang="en-US" sz="4400" dirty="0"/>
          </a:p>
        </p:txBody>
      </p:sp>
      <p:sp>
        <p:nvSpPr>
          <p:cNvPr id="7" name="Text 3"/>
          <p:cNvSpPr/>
          <p:nvPr/>
        </p:nvSpPr>
        <p:spPr>
          <a:xfrm>
            <a:off x="548640" y="3794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5BA3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Multi-domain urban-scale energy modelling tools: A review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4892040"/>
            <a:ext cx="45720" cy="822960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9" name="Text 5"/>
          <p:cNvSpPr/>
          <p:nvPr/>
        </p:nvSpPr>
        <p:spPr>
          <a:xfrm>
            <a:off x="777240" y="4846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Sola, Corchero, Salom &amp; Sanmarti</a:t>
            </a:r>
            <a:r>
              <a:rPr lang="en-US" sz="1400" dirty="0">
                <a:solidFill>
                  <a:srgbClr val="5BA3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(IREC, Catalonia Institute for Energy Research)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777240" y="52303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A3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Sustainable Cities and Society, Vol. 54 (2020), 101872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48640" y="6080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C0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발표자: </a:t>
            </a:r>
            <a:r>
              <a:rPr lang="ko-KR" altLang="en-US" sz="1300" dirty="0">
                <a:solidFill>
                  <a:srgbClr val="9FC0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김주원</a:t>
            </a:r>
            <a:r>
              <a:rPr lang="en-US" sz="1300" dirty="0">
                <a:solidFill>
                  <a:srgbClr val="9FC0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·    2026. 7. 28</a:t>
            </a:r>
            <a:endParaRPr lang="en-US" sz="13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808B7B-7C71-F57F-CA12-C3CDBCE94F90}"/>
              </a:ext>
            </a:extLst>
          </p:cNvPr>
          <p:cNvSpPr txBox="1"/>
          <p:nvPr/>
        </p:nvSpPr>
        <p:spPr>
          <a:xfrm>
            <a:off x="11640312" y="6506308"/>
            <a:ext cx="510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B1741E4-0B9E-461B-A493-6FCDDFCD5A1C}" type="slidenum">
              <a:rPr lang="ko-KR" altLang="en-US" smtClean="0"/>
              <a:t>1</a:t>
            </a:fld>
            <a:endParaRPr lang="ko-KR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399" y="653247"/>
            <a:ext cx="302849" cy="3028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BACKGROUND · 배경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722376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726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"도시 규모" 에너지 모델링인가?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3200400" cy="2148840"/>
          </a:xfrm>
          <a:prstGeom prst="roundRect">
            <a:avLst>
              <a:gd name="adj" fmla="val 3830"/>
            </a:avLst>
          </a:prstGeom>
          <a:solidFill>
            <a:srgbClr val="F5F9FA"/>
          </a:solidFill>
          <a:ln w="12700">
            <a:solidFill>
              <a:srgbClr val="D3E0E4"/>
            </a:solidFill>
            <a:prstDash val="solid"/>
          </a:ln>
          <a:effectLst>
            <a:outerShdw blurRad="76200" dist="25400" dir="5400000" algn="bl" rotWithShape="0">
              <a:srgbClr val="A9BCC2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1984248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502" y="2157070"/>
            <a:ext cx="294437" cy="29443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262432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≈ 70%</a:t>
            </a:r>
            <a:endParaRPr lang="en-US" sz="4200" dirty="0"/>
          </a:p>
        </p:txBody>
      </p:sp>
      <p:sp>
        <p:nvSpPr>
          <p:cNvPr id="10" name="Text 6"/>
          <p:cNvSpPr/>
          <p:nvPr/>
        </p:nvSpPr>
        <p:spPr>
          <a:xfrm>
            <a:off x="731520" y="326440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6C7C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2050년까지 도시에 거주할</a:t>
            </a:r>
            <a:endParaRPr lang="en-US" sz="12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6C7C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세계 인구 비율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023360" y="1691640"/>
            <a:ext cx="3200400" cy="2148840"/>
          </a:xfrm>
          <a:prstGeom prst="roundRect">
            <a:avLst>
              <a:gd name="adj" fmla="val 3830"/>
            </a:avLst>
          </a:prstGeom>
          <a:solidFill>
            <a:srgbClr val="F5F9FA"/>
          </a:solidFill>
          <a:ln w="12700">
            <a:solidFill>
              <a:srgbClr val="D3E0E4"/>
            </a:solidFill>
            <a:prstDash val="solid"/>
          </a:ln>
          <a:effectLst>
            <a:outerShdw blurRad="76200" dist="25400" dir="5400000" algn="bl" rotWithShape="0">
              <a:srgbClr val="A9BCC2">
                <a:alpha val="3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343400" y="1984248"/>
            <a:ext cx="640080" cy="640080"/>
          </a:xfrm>
          <a:prstGeom prst="ellipse">
            <a:avLst/>
          </a:prstGeom>
          <a:solidFill>
            <a:srgbClr val="E9A23B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6222" y="2157070"/>
            <a:ext cx="294437" cy="29443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023360" y="262432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B97C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&gt; 30%</a:t>
            </a:r>
            <a:endParaRPr lang="en-US" sz="4200" dirty="0"/>
          </a:p>
        </p:txBody>
      </p:sp>
      <p:sp>
        <p:nvSpPr>
          <p:cNvPr id="15" name="Text 10"/>
          <p:cNvSpPr/>
          <p:nvPr/>
        </p:nvSpPr>
        <p:spPr>
          <a:xfrm>
            <a:off x="4206240" y="326440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6C7C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건물(주거+상업)이 차지하는</a:t>
            </a:r>
            <a:endParaRPr lang="en-US" sz="12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6C7C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세계 최종 에너지 사용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7772400" y="1901952"/>
            <a:ext cx="118872" cy="118872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7" name="Text 12"/>
          <p:cNvSpPr/>
          <p:nvPr/>
        </p:nvSpPr>
        <p:spPr>
          <a:xfrm>
            <a:off x="8046720" y="1792224"/>
            <a:ext cx="3593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726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도시 = 최대 소비처.  </a:t>
            </a:r>
            <a:r>
              <a:rPr lang="en-US" sz="1500" dirty="0">
                <a:solidFill>
                  <a:srgbClr val="3C4C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큰 에너지 소비 집단이자 온실가스 배출원 → 효율 개선 잠재력이 큼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7772400" y="2862072"/>
            <a:ext cx="118872" cy="118872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9" name="Text 14"/>
          <p:cNvSpPr/>
          <p:nvPr/>
        </p:nvSpPr>
        <p:spPr>
          <a:xfrm>
            <a:off x="8046720" y="2752344"/>
            <a:ext cx="3593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726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따로 보면 놓친다.  </a:t>
            </a:r>
            <a:r>
              <a:rPr lang="en-US" sz="1500" dirty="0">
                <a:solidFill>
                  <a:srgbClr val="3C4C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건물·에너지망·교통을 각각 보면 절감 기회를 놓치기 쉬움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7772400" y="3822192"/>
            <a:ext cx="118872" cy="118872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21" name="Text 16"/>
          <p:cNvSpPr/>
          <p:nvPr/>
        </p:nvSpPr>
        <p:spPr>
          <a:xfrm>
            <a:off x="8046720" y="3712464"/>
            <a:ext cx="3593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726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통합적 시뮬레이션.  </a:t>
            </a:r>
            <a:r>
              <a:rPr lang="en-US" sz="1500" dirty="0">
                <a:solidFill>
                  <a:srgbClr val="3C4C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절감 잠재력은 시스템을 "홀리스틱(holistic)"하게 시뮬레이션해야 평가 가능</a:t>
            </a:r>
            <a:endParaRPr lang="en-US" sz="15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F8BE2DB-E57B-2C3F-4E7B-FE5098B2B84D}"/>
              </a:ext>
            </a:extLst>
          </p:cNvPr>
          <p:cNvSpPr txBox="1"/>
          <p:nvPr/>
        </p:nvSpPr>
        <p:spPr>
          <a:xfrm>
            <a:off x="11640312" y="6506308"/>
            <a:ext cx="510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B1741E4-0B9E-461B-A493-6FCDDFCD5A1C}" type="slidenum">
              <a:rPr lang="ko-KR" altLang="en-US" smtClean="0"/>
              <a:t>2</a:t>
            </a:fld>
            <a:endParaRPr lang="ko-KR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399" y="653247"/>
            <a:ext cx="302849" cy="3028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 CONCEPT · 핵심 개념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722376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726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USEM이란 무엇인가?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554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USEM</a:t>
            </a:r>
            <a:r>
              <a:rPr lang="en-US" sz="1550" dirty="0">
                <a:solidFill>
                  <a:srgbClr val="3C4C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(Urban-Scale Energy Modelling) = 도시·지구 단위에서 에너지의 흐름을 모의하는 모델. 여러 </a:t>
            </a:r>
            <a:r>
              <a:rPr lang="en-US" sz="1550" b="1" dirty="0">
                <a:solidFill>
                  <a:srgbClr val="1726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하위 모델(sub-model)</a:t>
            </a:r>
            <a:r>
              <a:rPr lang="en-US" sz="1550" dirty="0">
                <a:solidFill>
                  <a:srgbClr val="3C4C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조합해 구성한다.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48640" y="2606040"/>
            <a:ext cx="3392424" cy="2148840"/>
          </a:xfrm>
          <a:prstGeom prst="roundRect">
            <a:avLst>
              <a:gd name="adj" fmla="val 3830"/>
            </a:avLst>
          </a:prstGeom>
          <a:solidFill>
            <a:srgbClr val="EAF1F3"/>
          </a:solidFill>
          <a:ln w="12700">
            <a:solidFill>
              <a:srgbClr val="D3E0E4"/>
            </a:solidFill>
            <a:prstDash val="solid"/>
          </a:ln>
          <a:effectLst>
            <a:outerShdw blurRad="76200" dist="25400" dir="5400000" algn="bl" rotWithShape="0">
              <a:srgbClr val="A9BCC2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924812" y="28803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7634" y="3053182"/>
            <a:ext cx="294437" cy="29443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" y="3566160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26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 수요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685800" y="3977640"/>
            <a:ext cx="3118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6C7C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건물의 냉·난방, 전력, 급탕 등</a:t>
            </a:r>
            <a:endParaRPr lang="en-US" sz="12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6C7C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소비를 산정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398264" y="2606040"/>
            <a:ext cx="3392424" cy="2148840"/>
          </a:xfrm>
          <a:prstGeom prst="roundRect">
            <a:avLst>
              <a:gd name="adj" fmla="val 3830"/>
            </a:avLst>
          </a:prstGeom>
          <a:solidFill>
            <a:srgbClr val="EAF1F3"/>
          </a:solidFill>
          <a:ln w="12700">
            <a:solidFill>
              <a:srgbClr val="D3E0E4"/>
            </a:solidFill>
            <a:prstDash val="solid"/>
          </a:ln>
          <a:effectLst>
            <a:outerShdw blurRad="76200" dist="25400" dir="5400000" algn="bl" rotWithShape="0">
              <a:srgbClr val="A9BCC2">
                <a:alpha val="3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774436" y="2880360"/>
            <a:ext cx="640080" cy="640080"/>
          </a:xfrm>
          <a:prstGeom prst="ellipse">
            <a:avLst/>
          </a:prstGeom>
          <a:solidFill>
            <a:srgbClr val="E9A23B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7258" y="3053182"/>
            <a:ext cx="294437" cy="29443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398264" y="3566160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26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 생산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4535424" y="3977640"/>
            <a:ext cx="3118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6C7C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PV·태양열·CHP·열펌프 등</a:t>
            </a:r>
            <a:endParaRPr lang="en-US" sz="12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6C7C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 기술을 모델링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8247888" y="2606040"/>
            <a:ext cx="3392424" cy="2148840"/>
          </a:xfrm>
          <a:prstGeom prst="roundRect">
            <a:avLst>
              <a:gd name="adj" fmla="val 3830"/>
            </a:avLst>
          </a:prstGeom>
          <a:solidFill>
            <a:srgbClr val="EAF1F3"/>
          </a:solidFill>
          <a:ln w="12700">
            <a:solidFill>
              <a:srgbClr val="D3E0E4"/>
            </a:solidFill>
            <a:prstDash val="solid"/>
          </a:ln>
          <a:effectLst>
            <a:outerShdw blurRad="76200" dist="25400" dir="5400000" algn="bl" rotWithShape="0">
              <a:srgbClr val="A9BCC2">
                <a:alpha val="3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624060" y="28803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6882" y="3053182"/>
            <a:ext cx="294437" cy="29443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247888" y="3566160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26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 분배</a:t>
            </a:r>
            <a:endParaRPr lang="en-US" sz="1700" dirty="0"/>
          </a:p>
        </p:txBody>
      </p:sp>
      <p:sp>
        <p:nvSpPr>
          <p:cNvPr id="21" name="Text 15"/>
          <p:cNvSpPr/>
          <p:nvPr/>
        </p:nvSpPr>
        <p:spPr>
          <a:xfrm>
            <a:off x="8385048" y="3977640"/>
            <a:ext cx="3118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6C7C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지역난방·냉방, 전기망,</a:t>
            </a:r>
            <a:endParaRPr lang="en-US" sz="12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6C7C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가스망 등 인프라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548640" y="49834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전제 — 이제는 수요만 X.  수요 + 공급을 함께 보고, 도시 미기후(microclimate)가 건물 수요에 주는 영향까지 고려한다.</a:t>
            </a:r>
            <a:endParaRPr lang="en-US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A045ED9-C45D-BDE0-424F-DF3543E1A82C}"/>
              </a:ext>
            </a:extLst>
          </p:cNvPr>
          <p:cNvSpPr txBox="1"/>
          <p:nvPr/>
        </p:nvSpPr>
        <p:spPr>
          <a:xfrm>
            <a:off x="11640312" y="6506308"/>
            <a:ext cx="510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B1741E4-0B9E-461B-A493-6FCDDFCD5A1C}" type="slidenum">
              <a:rPr lang="ko-KR" altLang="en-US" smtClean="0"/>
              <a:t>3</a:t>
            </a:fld>
            <a:endParaRPr lang="ko-KR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399" y="653247"/>
            <a:ext cx="302849" cy="3028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CONTRIBUTION · 이 리뷰의 차별점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722376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726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논문이 특별한 이유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5087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3C4C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리뷰들은 대부분 </a:t>
            </a:r>
            <a:r>
              <a:rPr lang="en-US" sz="1550" b="1" dirty="0">
                <a:solidFill>
                  <a:srgbClr val="1726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건물 수요(UBEM)</a:t>
            </a:r>
            <a:r>
              <a:rPr lang="en-US" sz="1550" dirty="0" err="1">
                <a:solidFill>
                  <a:srgbClr val="3C4C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에만</a:t>
            </a:r>
            <a:r>
              <a:rPr lang="en-US" sz="1550" dirty="0">
                <a:solidFill>
                  <a:srgbClr val="3C4C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550" dirty="0" err="1">
                <a:solidFill>
                  <a:srgbClr val="3C4C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집중</a:t>
            </a:r>
            <a:r>
              <a:rPr lang="en-US" sz="1550" dirty="0">
                <a:solidFill>
                  <a:srgbClr val="3C4C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이 논문은 여기서 두 가지가 다르다.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5317236" cy="1920240"/>
          </a:xfrm>
          <a:prstGeom prst="roundRect">
            <a:avLst>
              <a:gd name="adj" fmla="val 4286"/>
            </a:avLst>
          </a:prstGeom>
          <a:solidFill>
            <a:srgbClr val="F5F9FA"/>
          </a:solidFill>
          <a:ln w="12700">
            <a:solidFill>
              <a:srgbClr val="D3E0E4"/>
            </a:solidFill>
            <a:prstDash val="solid"/>
          </a:ln>
          <a:effectLst>
            <a:outerShdw blurRad="76200" dist="25400" dir="5400000" algn="bl" rotWithShape="0">
              <a:srgbClr val="A9BCC2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68680" y="246888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846" y="2654046"/>
            <a:ext cx="315468" cy="3154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37360" y="2514600"/>
            <a:ext cx="39456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6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멀티도메인 도구에 초점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914400" y="3200400"/>
            <a:ext cx="46314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C4C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건물 수요뿐 아니라 수요 + 생산 + 분배를 서로 연결해 동적으로 모의하는 도구를 다룬다.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323076" y="2148840"/>
            <a:ext cx="5317236" cy="1920240"/>
          </a:xfrm>
          <a:prstGeom prst="roundRect">
            <a:avLst>
              <a:gd name="adj" fmla="val 4286"/>
            </a:avLst>
          </a:prstGeom>
          <a:solidFill>
            <a:srgbClr val="F5F9FA"/>
          </a:solidFill>
          <a:ln w="12700">
            <a:solidFill>
              <a:srgbClr val="D3E0E4"/>
            </a:solidFill>
            <a:prstDash val="solid"/>
          </a:ln>
          <a:effectLst>
            <a:outerShdw blurRad="76200" dist="25400" dir="5400000" algn="bl" rotWithShape="0">
              <a:srgbClr val="A9BCC2">
                <a:alpha val="3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643116" y="2468880"/>
            <a:ext cx="685800" cy="685800"/>
          </a:xfrm>
          <a:prstGeom prst="ellipse">
            <a:avLst/>
          </a:prstGeom>
          <a:solidFill>
            <a:srgbClr val="E9A23B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8282" y="2654046"/>
            <a:ext cx="315468" cy="3154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511796" y="2514600"/>
            <a:ext cx="39456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6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아키텍처(구조)로 분류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6688836" y="3200400"/>
            <a:ext cx="46314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C4C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뒤에 있는 결합 방식으로 나눈다 → 통합형(integrated) vs 코시뮬레이션(co-simulation).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434840"/>
            <a:ext cx="11091672" cy="1097280"/>
          </a:xfrm>
          <a:prstGeom prst="roundRect">
            <a:avLst>
              <a:gd name="adj" fmla="val 7500"/>
            </a:avLst>
          </a:prstGeom>
          <a:solidFill>
            <a:srgbClr val="0C3B4A"/>
          </a:solidFill>
          <a:ln/>
          <a:effectLst>
            <a:outerShdw blurRad="76200" dist="25400" dir="5400000" algn="bl" rotWithShape="0">
              <a:srgbClr val="A9BCC2">
                <a:alpha val="3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60120" y="4690872"/>
            <a:ext cx="594360" cy="594360"/>
          </a:xfrm>
          <a:prstGeom prst="ellipse">
            <a:avLst/>
          </a:prstGeom>
          <a:solidFill>
            <a:srgbClr val="E9A23B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6541" y="4857293"/>
            <a:ext cx="261518" cy="26151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783080" y="4434840"/>
            <a:ext cx="96286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E9A2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 요약 — </a:t>
            </a: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"도구가 무엇을 하느냐"가 아니라, 여러 도메인을 </a:t>
            </a: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엮느냐</a:t>
            </a: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도구를 바라본다.</a:t>
            </a:r>
            <a:endParaRPr lang="en-US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865E4B-14A7-5B3B-C40D-29B4176D0C15}"/>
              </a:ext>
            </a:extLst>
          </p:cNvPr>
          <p:cNvSpPr txBox="1"/>
          <p:nvPr/>
        </p:nvSpPr>
        <p:spPr>
          <a:xfrm>
            <a:off x="11640312" y="6506308"/>
            <a:ext cx="510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B1741E4-0B9E-461B-A493-6FCDDFCD5A1C}" type="slidenum">
              <a:rPr lang="ko-KR" altLang="en-US" smtClean="0"/>
              <a:t>4</a:t>
            </a:fld>
            <a:endParaRPr lang="ko-KR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399" y="653247"/>
            <a:ext cx="302849" cy="3028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FRAMEWORK · 분류 기준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722376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726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 아키텍처(결합 방식)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3392424" cy="3246120"/>
          </a:xfrm>
          <a:prstGeom prst="roundRect">
            <a:avLst>
              <a:gd name="adj" fmla="val 2535"/>
            </a:avLst>
          </a:prstGeom>
          <a:solidFill>
            <a:srgbClr val="EAF1F3"/>
          </a:solidFill>
          <a:ln w="12700">
            <a:solidFill>
              <a:srgbClr val="D3E0E4"/>
            </a:solidFill>
            <a:prstDash val="solid"/>
          </a:ln>
          <a:effectLst>
            <a:outerShdw blurRad="76200" dist="25400" dir="5400000" algn="bl" rotWithShape="0">
              <a:srgbClr val="A9BCC2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906524" y="1874520"/>
            <a:ext cx="676656" cy="676656"/>
          </a:xfrm>
          <a:prstGeom prst="ellipse">
            <a:avLst/>
          </a:prstGeom>
          <a:solidFill>
            <a:srgbClr val="5BA3BE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9221" y="2057217"/>
            <a:ext cx="311262" cy="3112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2606040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26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순차형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548640" y="297180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Sequential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731520" y="333756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300" dirty="0">
                <a:solidFill>
                  <a:srgbClr val="3C4C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모델의 출력을 다른 모델의 입력으로 넘김. 단방향 전처리 방식.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398264" y="1600200"/>
            <a:ext cx="3392424" cy="3246120"/>
          </a:xfrm>
          <a:prstGeom prst="roundRect">
            <a:avLst>
              <a:gd name="adj" fmla="val 2535"/>
            </a:avLst>
          </a:prstGeom>
          <a:solidFill>
            <a:srgbClr val="EAF1F3"/>
          </a:solidFill>
          <a:ln w="12700">
            <a:solidFill>
              <a:srgbClr val="D3E0E4"/>
            </a:solidFill>
            <a:prstDash val="solid"/>
          </a:ln>
          <a:effectLst>
            <a:outerShdw blurRad="76200" dist="25400" dir="5400000" algn="bl" rotWithShape="0">
              <a:srgbClr val="A9BCC2">
                <a:alpha val="3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756148" y="1874520"/>
            <a:ext cx="676656" cy="67665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8845" y="2057217"/>
            <a:ext cx="311262" cy="31126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398264" y="2606040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26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코시뮬레이션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4398264" y="297180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Co-simulation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581144" y="333756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300" dirty="0">
                <a:solidFill>
                  <a:srgbClr val="3C4C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런타임에 매 시간 단계마다 도구들을 연결. 각 도구의 개성은 유지.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672584" y="4206240"/>
            <a:ext cx="2843784" cy="502920"/>
          </a:xfrm>
          <a:prstGeom prst="roundRect">
            <a:avLst>
              <a:gd name="adj" fmla="val 10909"/>
            </a:avLst>
          </a:prstGeom>
          <a:solidFill>
            <a:srgbClr val="FBEFD8"/>
          </a:solidFill>
          <a:ln/>
        </p:spPr>
      </p:sp>
      <p:sp>
        <p:nvSpPr>
          <p:cNvPr id="19" name="Text 14"/>
          <p:cNvSpPr/>
          <p:nvPr/>
        </p:nvSpPr>
        <p:spPr>
          <a:xfrm>
            <a:off x="4672584" y="4206240"/>
            <a:ext cx="2843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B97C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Weak: 반복 없음</a:t>
            </a:r>
            <a:endParaRPr lang="en-US" sz="11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B97C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Strong: 수렴까지 반복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247888" y="1600200"/>
            <a:ext cx="3392424" cy="3246120"/>
          </a:xfrm>
          <a:prstGeom prst="roundRect">
            <a:avLst>
              <a:gd name="adj" fmla="val 2535"/>
            </a:avLst>
          </a:prstGeom>
          <a:solidFill>
            <a:srgbClr val="EAF1F3"/>
          </a:solidFill>
          <a:ln w="12700">
            <a:solidFill>
              <a:srgbClr val="D3E0E4"/>
            </a:solidFill>
            <a:prstDash val="solid"/>
          </a:ln>
          <a:effectLst>
            <a:outerShdw blurRad="76200" dist="25400" dir="5400000" algn="bl" rotWithShape="0">
              <a:srgbClr val="A9BCC2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605772" y="1874520"/>
            <a:ext cx="676656" cy="676656"/>
          </a:xfrm>
          <a:prstGeom prst="ellipse">
            <a:avLst/>
          </a:prstGeom>
          <a:solidFill>
            <a:srgbClr val="E9A23B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8469" y="2057217"/>
            <a:ext cx="311262" cy="31126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247888" y="2606040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26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통합형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8247888" y="297180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Integrated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8430768" y="333756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300" dirty="0">
                <a:solidFill>
                  <a:srgbClr val="3C4C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하위 모델을 하나의 새 모델·같은 언어로 새로 통합.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48640" y="50292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C7C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논문은 이 중 ②·③을 기준으로 도구들을 두 표(통합형 vs 코시뮬레이션)로 나눈다.</a:t>
            </a:r>
            <a:endParaRPr lang="en-US" sz="125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3C9E327-6A01-089C-CAEF-D825656C3E94}"/>
              </a:ext>
            </a:extLst>
          </p:cNvPr>
          <p:cNvSpPr txBox="1"/>
          <p:nvPr/>
        </p:nvSpPr>
        <p:spPr>
          <a:xfrm>
            <a:off x="11640312" y="6506308"/>
            <a:ext cx="510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B1741E4-0B9E-461B-A493-6FCDDFCD5A1C}" type="slidenum">
              <a:rPr lang="ko-KR" altLang="en-US" smtClean="0"/>
              <a:t>5</a:t>
            </a:fld>
            <a:endParaRPr lang="ko-KR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399" y="653247"/>
            <a:ext cx="302849" cy="3028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METHOD · 방법론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722376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726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개의 "능력 비교표"가 핵심 산출물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764792"/>
            <a:ext cx="118872" cy="118872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655064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26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문헌 리뷰.  </a:t>
            </a:r>
            <a:r>
              <a:rPr lang="en-US" sz="1400" dirty="0">
                <a:solidFill>
                  <a:srgbClr val="3C4C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저널·학회 논문을 조사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633472"/>
            <a:ext cx="118872" cy="118872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523744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26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개의 표.  </a:t>
            </a:r>
            <a:r>
              <a:rPr lang="en-US" sz="1400" dirty="0">
                <a:solidFill>
                  <a:srgbClr val="3C4C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Table 1 = UBEM 도구</a:t>
            </a:r>
            <a:endParaRPr lang="en-US" sz="1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3C4C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Table 2 = USEM 도구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3502152"/>
            <a:ext cx="118872" cy="118872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3392424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26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표시 규칙.  </a:t>
            </a:r>
            <a:r>
              <a:rPr lang="en-US" sz="1400" dirty="0">
                <a:solidFill>
                  <a:srgbClr val="3C4C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= 해당 능력 보유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4370832"/>
            <a:ext cx="118872" cy="118872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4261104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726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용도.  </a:t>
            </a:r>
            <a:r>
              <a:rPr lang="en-US" sz="1400" dirty="0">
                <a:solidFill>
                  <a:srgbClr val="3C4C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요구사항에 맞는 도구를 고를 때 쓰는 체크리스트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783080"/>
          <a:ext cx="6519672" cy="239572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2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2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27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2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교통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전기망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최적화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7262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CitySim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C729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C729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C729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C729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7262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CEA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B9C6C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–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C729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B9C6C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–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C729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7262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MESCOS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C729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B9C6C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–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C729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C729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7262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HUES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C729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B9C6C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–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C729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C729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0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Text 11"/>
          <p:cNvSpPr/>
          <p:nvPr/>
        </p:nvSpPr>
        <p:spPr>
          <a:xfrm>
            <a:off x="5120640" y="4297680"/>
            <a:ext cx="6519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C7C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논문 Table 2를 단순화한 예시 (일부 도구·능력만 발췌)</a:t>
            </a:r>
            <a:endParaRPr lang="en-US" sz="11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47C494-82FE-1DDC-0D93-4FCE904D5239}"/>
              </a:ext>
            </a:extLst>
          </p:cNvPr>
          <p:cNvSpPr txBox="1"/>
          <p:nvPr/>
        </p:nvSpPr>
        <p:spPr>
          <a:xfrm>
            <a:off x="11640312" y="6506308"/>
            <a:ext cx="510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B1741E4-0B9E-461B-A493-6FCDDFCD5A1C}" type="slidenum">
              <a:rPr lang="ko-KR" altLang="en-US" smtClean="0"/>
              <a:t>6</a:t>
            </a:fld>
            <a:endParaRPr lang="ko-KR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399" y="653247"/>
            <a:ext cx="302849" cy="3028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건물 수요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722376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726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UBEM: 건물 에너지 수요 모델링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5544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UBEM</a:t>
            </a:r>
            <a:r>
              <a:rPr lang="en-US" sz="1500" dirty="0">
                <a:solidFill>
                  <a:srgbClr val="3C4C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(Urban Building Energy Modelling) — </a:t>
            </a:r>
            <a:r>
              <a:rPr lang="en-US" sz="1500" b="1" dirty="0">
                <a:solidFill>
                  <a:srgbClr val="1726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Bottom-up</a:t>
            </a:r>
            <a:r>
              <a:rPr lang="en-US" sz="1500" dirty="0">
                <a:solidFill>
                  <a:srgbClr val="3C4C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방식: 대표 건물들을 상세 모델링한 뒤 도시 전체로 확장(upscaling).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194560"/>
            <a:ext cx="5317236" cy="1828800"/>
          </a:xfrm>
          <a:prstGeom prst="roundRect">
            <a:avLst>
              <a:gd name="adj" fmla="val 4500"/>
            </a:avLst>
          </a:prstGeom>
          <a:solidFill>
            <a:srgbClr val="F5F9FA"/>
          </a:solidFill>
          <a:ln w="12700">
            <a:solidFill>
              <a:srgbClr val="D3E0E4"/>
            </a:solidFill>
            <a:prstDash val="solid"/>
          </a:ln>
          <a:effectLst>
            <a:outerShdw blurRad="76200" dist="25400" dir="5400000" algn="bl" rotWithShape="0">
              <a:srgbClr val="A9BCC2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68680" y="2487168"/>
            <a:ext cx="640080" cy="640080"/>
          </a:xfrm>
          <a:prstGeom prst="ellipse">
            <a:avLst/>
          </a:prstGeom>
          <a:solidFill>
            <a:srgbClr val="5BA3BE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502" y="2659990"/>
            <a:ext cx="294437" cy="29443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91640" y="2514600"/>
            <a:ext cx="40370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6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 (Statistical)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914400" y="3200400"/>
            <a:ext cx="46314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C4C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회귀분석 기반 · 과거 소비 데이터에 크게 의존 · 보통 연·월 단위 집계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323076" y="2194560"/>
            <a:ext cx="5317236" cy="1828800"/>
          </a:xfrm>
          <a:prstGeom prst="roundRect">
            <a:avLst>
              <a:gd name="adj" fmla="val 4500"/>
            </a:avLst>
          </a:prstGeom>
          <a:solidFill>
            <a:srgbClr val="F5F9FA"/>
          </a:solidFill>
          <a:ln w="12700">
            <a:solidFill>
              <a:srgbClr val="D3E0E4"/>
            </a:solidFill>
            <a:prstDash val="solid"/>
          </a:ln>
          <a:effectLst>
            <a:outerShdw blurRad="76200" dist="25400" dir="5400000" algn="bl" rotWithShape="0">
              <a:srgbClr val="A9BCC2">
                <a:alpha val="3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643116" y="2487168"/>
            <a:ext cx="640080" cy="640080"/>
          </a:xfrm>
          <a:prstGeom prst="ellipse">
            <a:avLst/>
          </a:prstGeom>
          <a:solidFill>
            <a:srgbClr val="E9A23B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5938" y="2659990"/>
            <a:ext cx="294437" cy="29443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466076" y="2514600"/>
            <a:ext cx="40370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6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엔지니어링 (물리 기반)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688836" y="3200400"/>
            <a:ext cx="46314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C4C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물리 법칙으로 계산 · 시간 해상도 높음 · Deterministic(원형건물) / Stochastic(불확실성·행동)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548640" y="4343400"/>
            <a:ext cx="11091672" cy="1143000"/>
          </a:xfrm>
          <a:prstGeom prst="roundRect">
            <a:avLst>
              <a:gd name="adj" fmla="val 7200"/>
            </a:avLst>
          </a:prstGeom>
          <a:solidFill>
            <a:srgbClr val="EAF1F3"/>
          </a:solidFill>
          <a:ln w="12700">
            <a:solidFill>
              <a:srgbClr val="D3E0E4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914400" y="461772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0821" y="4784141"/>
            <a:ext cx="261518" cy="26151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737360" y="4343400"/>
            <a:ext cx="97200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726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도시 모델(CityGML)</a:t>
            </a:r>
            <a:r>
              <a:rPr lang="en-US" sz="1500" dirty="0">
                <a:solidFill>
                  <a:srgbClr val="3C4C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건물 위치·형상을 확보.    대표 도구: </a:t>
            </a:r>
            <a:r>
              <a:rPr lang="en-US" sz="15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umi · SimStadt · CityBES</a:t>
            </a:r>
            <a:endParaRPr lang="en-US" sz="15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B1D316-9027-BED6-E0EB-971E7EA45BBA}"/>
              </a:ext>
            </a:extLst>
          </p:cNvPr>
          <p:cNvSpPr txBox="1"/>
          <p:nvPr/>
        </p:nvSpPr>
        <p:spPr>
          <a:xfrm>
            <a:off x="11640312" y="6506308"/>
            <a:ext cx="510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B1741E4-0B9E-461B-A493-6FCDDFCD5A1C}" type="slidenum">
              <a:rPr lang="ko-KR" altLang="en-US" smtClean="0"/>
              <a:t>7</a:t>
            </a:fld>
            <a:endParaRPr lang="ko-KR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399" y="653247"/>
            <a:ext cx="302849" cy="3028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통합형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722376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726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통합형 USEM 도구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53619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3C4C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하위 모델을 하나의 새 모델로 통합. 통제·일관성은 좋지만, 큰 시나리오에서 계산시간이 늘고 전부 새로 만들어야 한다.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5317236" cy="2148840"/>
          </a:xfrm>
          <a:prstGeom prst="roundRect">
            <a:avLst>
              <a:gd name="adj" fmla="val 3830"/>
            </a:avLst>
          </a:prstGeom>
          <a:solidFill>
            <a:srgbClr val="EAF1F3"/>
          </a:solidFill>
          <a:ln w="12700">
            <a:solidFill>
              <a:srgbClr val="D3E0E4"/>
            </a:solidFill>
            <a:prstDash val="solid"/>
          </a:ln>
          <a:effectLst>
            <a:outerShdw blurRad="76200" dist="25400" dir="5400000" algn="bl" rotWithShape="0">
              <a:srgbClr val="A9BCC2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68680" y="2423160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439" y="2600919"/>
            <a:ext cx="302849" cy="30284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91640" y="2441448"/>
            <a:ext cx="40370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26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CitySim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691640" y="2834640"/>
            <a:ext cx="40370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C7C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EPFL 개발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914400" y="3291840"/>
            <a:ext cx="4631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C4C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건물·도시복사·HVAC·에너지 생산까지 단일 엔진. 교통은 MatSim으로 외부 계산.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323076" y="2148840"/>
            <a:ext cx="5317236" cy="2148840"/>
          </a:xfrm>
          <a:prstGeom prst="roundRect">
            <a:avLst>
              <a:gd name="adj" fmla="val 3830"/>
            </a:avLst>
          </a:prstGeom>
          <a:solidFill>
            <a:srgbClr val="EAF1F3"/>
          </a:solidFill>
          <a:ln w="12700">
            <a:solidFill>
              <a:srgbClr val="D3E0E4"/>
            </a:solidFill>
            <a:prstDash val="solid"/>
          </a:ln>
          <a:effectLst>
            <a:outerShdw blurRad="76200" dist="25400" dir="5400000" algn="bl" rotWithShape="0">
              <a:srgbClr val="A9BCC2">
                <a:alpha val="3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643116" y="2423160"/>
            <a:ext cx="658368" cy="658368"/>
          </a:xfrm>
          <a:prstGeom prst="ellipse">
            <a:avLst/>
          </a:prstGeom>
          <a:solidFill>
            <a:srgbClr val="E9A23B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0875" y="2600919"/>
            <a:ext cx="302849" cy="30284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466076" y="2441448"/>
            <a:ext cx="40370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26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City Energy Analyst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7466076" y="2834640"/>
            <a:ext cx="40370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C7C8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CEA · ETH·EPFL 개발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6688836" y="3291840"/>
            <a:ext cx="4631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C4C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수요·자원·기술·공급최적화·의사결정 모듈. ArcGIS 확장, 지역 열 네트워크를 최적화.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548640" y="46177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6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외 통합형 도구: </a:t>
            </a:r>
            <a:r>
              <a:rPr lang="en-US" sz="1400" i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SynCity · LakeSIM · IDEAS · Best et al.</a:t>
            </a:r>
            <a:endParaRPr lang="en-US" sz="1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974AF3A-B6B3-CA52-1CF1-930DD55A5EC7}"/>
              </a:ext>
            </a:extLst>
          </p:cNvPr>
          <p:cNvSpPr txBox="1"/>
          <p:nvPr/>
        </p:nvSpPr>
        <p:spPr>
          <a:xfrm>
            <a:off x="11640312" y="6506308"/>
            <a:ext cx="510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B1741E4-0B9E-461B-A493-6FCDDFCD5A1C}" type="slidenum">
              <a:rPr lang="ko-KR" altLang="en-US" smtClean="0"/>
              <a:t>8</a:t>
            </a:fld>
            <a:endParaRPr lang="ko-KR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399" y="653247"/>
            <a:ext cx="302849" cy="3028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코시뮬레이션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722376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726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코시뮬레이션 USEM 도구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53619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3C4C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도구들을 런타임에 연결해 입·출력을 주고받음 → 새로 다 만들 필요가 없다. 이를 가능하게 하는 "연결 표준"이 핵심.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2194560"/>
            <a:ext cx="5257800" cy="2651760"/>
          </a:xfrm>
          <a:prstGeom prst="roundRect">
            <a:avLst>
              <a:gd name="adj" fmla="val 3103"/>
            </a:avLst>
          </a:prstGeom>
          <a:solidFill>
            <a:srgbClr val="F5F9FA"/>
          </a:solidFill>
          <a:ln w="12700">
            <a:solidFill>
              <a:srgbClr val="D3E0E4"/>
            </a:solidFill>
            <a:prstDash val="solid"/>
          </a:ln>
          <a:effectLst>
            <a:outerShdw blurRad="76200" dist="25400" dir="5400000" algn="bl" rotWithShape="0">
              <a:srgbClr val="A9BCC2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24231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연결을 가능하게 하는 표준·미들웨어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68680" y="3044952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7"/>
          <p:cNvSpPr/>
          <p:nvPr/>
        </p:nvSpPr>
        <p:spPr>
          <a:xfrm>
            <a:off x="1143000" y="2935224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726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FMI  </a:t>
            </a:r>
            <a:r>
              <a:rPr lang="en-US" sz="1250" dirty="0">
                <a:solidFill>
                  <a:srgbClr val="3C4C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시뮬레이션 모델을 서로 끼워 넣는 연결 표준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68680" y="3611880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1143000" y="3502152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726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BCVTB  </a:t>
            </a:r>
            <a:r>
              <a:rPr lang="en-US" sz="1250" dirty="0">
                <a:solidFill>
                  <a:srgbClr val="3C4C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Ptolemy II 기반 미들웨어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68680" y="4178808"/>
            <a:ext cx="118872" cy="11887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1"/>
          <p:cNvSpPr/>
          <p:nvPr/>
        </p:nvSpPr>
        <p:spPr>
          <a:xfrm>
            <a:off x="1143000" y="4069080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726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IEA Annex 60  </a:t>
            </a:r>
            <a:r>
              <a:rPr lang="en-US" sz="1250" dirty="0">
                <a:solidFill>
                  <a:srgbClr val="3C4C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IBPSA Project 1로 이어짐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263640" y="2194560"/>
            <a:ext cx="5376672" cy="2651760"/>
          </a:xfrm>
          <a:prstGeom prst="roundRect">
            <a:avLst>
              <a:gd name="adj" fmla="val 3103"/>
            </a:avLst>
          </a:prstGeom>
          <a:solidFill>
            <a:srgbClr val="EAF1F3"/>
          </a:solidFill>
          <a:ln w="12700">
            <a:solidFill>
              <a:srgbClr val="D3E0E4"/>
            </a:solidFill>
            <a:prstDash val="solid"/>
          </a:ln>
          <a:effectLst>
            <a:outerShdw blurRad="76200" dist="25400" dir="5400000" algn="bl" rotWithShape="0">
              <a:srgbClr val="A9BCC2">
                <a:alpha val="3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583680" y="2423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97C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도구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583680" y="3044952"/>
            <a:ext cx="118872" cy="118872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8" name="Text 15"/>
          <p:cNvSpPr/>
          <p:nvPr/>
        </p:nvSpPr>
        <p:spPr>
          <a:xfrm>
            <a:off x="6858000" y="2935224"/>
            <a:ext cx="4553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726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MESCOS  </a:t>
            </a:r>
            <a:r>
              <a:rPr lang="en-US" sz="1250" dirty="0">
                <a:solidFill>
                  <a:srgbClr val="3C4C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RWTH Aachen · 대규모·고성능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583680" y="3611880"/>
            <a:ext cx="118872" cy="118872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20" name="Text 17"/>
          <p:cNvSpPr/>
          <p:nvPr/>
        </p:nvSpPr>
        <p:spPr>
          <a:xfrm>
            <a:off x="6858000" y="3502152"/>
            <a:ext cx="4553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726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HUES  </a:t>
            </a:r>
            <a:r>
              <a:rPr lang="en-US" sz="1250" dirty="0">
                <a:solidFill>
                  <a:srgbClr val="3C4C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ETH·Empa · 건물+공급+최적화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583680" y="4178808"/>
            <a:ext cx="118872" cy="118872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22" name="Text 19"/>
          <p:cNvSpPr/>
          <p:nvPr/>
        </p:nvSpPr>
        <p:spPr>
          <a:xfrm>
            <a:off x="6858000" y="4069080"/>
            <a:ext cx="4553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726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URBANopt  </a:t>
            </a:r>
            <a:r>
              <a:rPr lang="en-US" sz="1250" dirty="0">
                <a:solidFill>
                  <a:srgbClr val="3C4C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NREL · 전력망(OpenDSS) 연계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548640" y="50292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 — </a:t>
            </a:r>
            <a:r>
              <a:rPr lang="en-US" sz="1400" dirty="0">
                <a:solidFill>
                  <a:srgbClr val="1726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부담 ↓ · 검증된 패키지로 신뢰성 ↑ · 협업 용이   →   저자들이 미는 방향</a:t>
            </a:r>
            <a:endParaRPr lang="en-US" sz="1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33A1CD4-989F-9311-5492-42D8093A0444}"/>
              </a:ext>
            </a:extLst>
          </p:cNvPr>
          <p:cNvSpPr txBox="1"/>
          <p:nvPr/>
        </p:nvSpPr>
        <p:spPr>
          <a:xfrm>
            <a:off x="11640312" y="6506308"/>
            <a:ext cx="510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B1741E4-0B9E-461B-A493-6FCDDFCD5A1C}" type="slidenum">
              <a:rPr lang="ko-KR" altLang="en-US" smtClean="0"/>
              <a:t>9</a:t>
            </a:fld>
            <a:endParaRPr lang="ko-KR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399" y="653247"/>
            <a:ext cx="302849" cy="3028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 · 교통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722376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726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교통·토지이용(LUT)의 공백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764792"/>
            <a:ext cx="118872" cy="118872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655064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726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대부분 무시.  </a:t>
            </a:r>
            <a:r>
              <a:rPr lang="en-US" sz="1500" dirty="0">
                <a:solidFill>
                  <a:srgbClr val="3C4C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대다수 USEM 도구는 교통 에너지 수요를 다루지 않음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770632"/>
            <a:ext cx="118872" cy="118872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660904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726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분야.  </a:t>
            </a:r>
            <a:r>
              <a:rPr lang="en-US" sz="1500" dirty="0">
                <a:solidFill>
                  <a:srgbClr val="3C4C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교통은 주로 LUT(Land Use &amp; Transportation) 모델에서 다뤄짐 → 계량경제적 접근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3776472"/>
            <a:ext cx="118872" cy="118872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3666744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726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 흐름.  </a:t>
            </a:r>
            <a:r>
              <a:rPr lang="en-US" sz="1500" dirty="0">
                <a:solidFill>
                  <a:srgbClr val="3C4C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다중 에이전트 마이크로시뮬레이션 — 개인의 행동을 하나하나 모사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766560" y="1691640"/>
            <a:ext cx="4873752" cy="1600200"/>
          </a:xfrm>
          <a:prstGeom prst="roundRect">
            <a:avLst>
              <a:gd name="adj" fmla="val 5143"/>
            </a:avLst>
          </a:prstGeom>
          <a:solidFill>
            <a:srgbClr val="F5F9FA"/>
          </a:solidFill>
          <a:ln w="12700">
            <a:solidFill>
              <a:srgbClr val="D3E0E4"/>
            </a:solidFill>
            <a:prstDash val="solid"/>
          </a:ln>
          <a:effectLst>
            <a:outerShdw blurRad="76200" dist="25400" dir="5400000" algn="bl" rotWithShape="0">
              <a:srgbClr val="A9BCC2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086600" y="192024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5340" y="2078980"/>
            <a:ext cx="249448" cy="2494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818120" y="19385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6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LUT 모델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7132320" y="2514600"/>
            <a:ext cx="4142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ILUTE · PRISM · ILUMASS · iTEAM · (SynCity)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766560" y="3474720"/>
            <a:ext cx="4873752" cy="1371600"/>
          </a:xfrm>
          <a:prstGeom prst="roundRect">
            <a:avLst>
              <a:gd name="adj" fmla="val 6000"/>
            </a:avLst>
          </a:prstGeom>
          <a:solidFill>
            <a:srgbClr val="F7E9E4"/>
          </a:solidFill>
          <a:ln/>
        </p:spPr>
      </p:sp>
      <p:sp>
        <p:nvSpPr>
          <p:cNvPr id="18" name="Shape 14"/>
          <p:cNvSpPr/>
          <p:nvPr/>
        </p:nvSpPr>
        <p:spPr>
          <a:xfrm>
            <a:off x="7086600" y="3703320"/>
            <a:ext cx="566928" cy="566928"/>
          </a:xfrm>
          <a:prstGeom prst="ellipse">
            <a:avLst/>
          </a:prstGeom>
          <a:solidFill>
            <a:srgbClr val="B85C4A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5340" y="3862060"/>
            <a:ext cx="249448" cy="2494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818120" y="37216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C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공백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7132320" y="4297680"/>
            <a:ext cx="4142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7A3A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LUT 모델과 에너지 시스템 모델의 "통합"이 아직 안 됨 → 큰 연구 과제로 남음</a:t>
            </a:r>
            <a:endParaRPr lang="en-US" sz="135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C9A5F01-1347-A95F-CD93-8934A39B7965}"/>
              </a:ext>
            </a:extLst>
          </p:cNvPr>
          <p:cNvSpPr txBox="1"/>
          <p:nvPr/>
        </p:nvSpPr>
        <p:spPr>
          <a:xfrm>
            <a:off x="11640312" y="6506308"/>
            <a:ext cx="510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B1741E4-0B9E-461B-A493-6FCDDFCD5A1C}" type="slidenum">
              <a:rPr lang="ko-KR" altLang="en-US" smtClean="0"/>
              <a:t>10</a:t>
            </a:fld>
            <a:endParaRPr lang="ko-KR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399" y="653247"/>
            <a:ext cx="302849" cy="3028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CONCLUSIONS · 결론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71600" y="722376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726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알게 됐나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5417820" cy="1481328"/>
          </a:xfrm>
          <a:prstGeom prst="roundRect">
            <a:avLst>
              <a:gd name="adj" fmla="val 5556"/>
            </a:avLst>
          </a:prstGeom>
          <a:solidFill>
            <a:srgbClr val="F5F9FA"/>
          </a:solidFill>
          <a:ln w="12700">
            <a:solidFill>
              <a:srgbClr val="D3E0E4"/>
            </a:solidFill>
            <a:prstDash val="solid"/>
          </a:ln>
          <a:effectLst>
            <a:outerShdw blurRad="76200" dist="25400" dir="5400000" algn="bl" rotWithShape="0">
              <a:srgbClr val="A9BCC2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1920240"/>
            <a:ext cx="603504" cy="60350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941" y="2089221"/>
            <a:ext cx="265542" cy="26554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1874520"/>
            <a:ext cx="42291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26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종합적 도구는 드물다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1554480" y="2304288"/>
            <a:ext cx="42291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C4C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대부분 건물 수요에만 집중. 수요+공급 모두 다루는 모델은 주로 학계에서만 사용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222492" y="1645920"/>
            <a:ext cx="5417820" cy="1481328"/>
          </a:xfrm>
          <a:prstGeom prst="roundRect">
            <a:avLst>
              <a:gd name="adj" fmla="val 5556"/>
            </a:avLst>
          </a:prstGeom>
          <a:solidFill>
            <a:srgbClr val="F5F9FA"/>
          </a:solidFill>
          <a:ln w="12700">
            <a:solidFill>
              <a:srgbClr val="D3E0E4"/>
            </a:solidFill>
            <a:prstDash val="solid"/>
          </a:ln>
          <a:effectLst>
            <a:outerShdw blurRad="76200" dist="25400" dir="5400000" algn="bl" rotWithShape="0">
              <a:srgbClr val="A9BCC2">
                <a:alpha val="3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496812" y="1920240"/>
            <a:ext cx="603504" cy="603504"/>
          </a:xfrm>
          <a:prstGeom prst="ellipse">
            <a:avLst/>
          </a:prstGeom>
          <a:solidFill>
            <a:srgbClr val="B85C4A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5793" y="2089221"/>
            <a:ext cx="265542" cy="26554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228332" y="1874520"/>
            <a:ext cx="42291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26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빠지는 두 가지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7228332" y="2304288"/>
            <a:ext cx="42291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C4C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에너지 분배(distribution) 모델   ② 교통 에너지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3383280"/>
            <a:ext cx="5417820" cy="1481328"/>
          </a:xfrm>
          <a:prstGeom prst="roundRect">
            <a:avLst>
              <a:gd name="adj" fmla="val 5556"/>
            </a:avLst>
          </a:prstGeom>
          <a:solidFill>
            <a:srgbClr val="F5F9FA"/>
          </a:solidFill>
          <a:ln w="12700">
            <a:solidFill>
              <a:srgbClr val="D3E0E4"/>
            </a:solidFill>
            <a:prstDash val="solid"/>
          </a:ln>
          <a:effectLst>
            <a:outerShdw blurRad="76200" dist="25400" dir="5400000" algn="bl" rotWithShape="0">
              <a:srgbClr val="A9BCC2">
                <a:alpha val="3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22960" y="3657600"/>
            <a:ext cx="603504" cy="603504"/>
          </a:xfrm>
          <a:prstGeom prst="ellipse">
            <a:avLst/>
          </a:prstGeom>
          <a:solidFill>
            <a:srgbClr val="E9A23B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1941" y="3826581"/>
            <a:ext cx="265542" cy="26554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54480" y="3611880"/>
            <a:ext cx="42291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26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트렌드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1554480" y="4041648"/>
            <a:ext cx="42291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C4C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인프라(네트워크)의 상세 모델링 강화 — HUES · MESCOS · umi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222492" y="3383280"/>
            <a:ext cx="5417820" cy="1481328"/>
          </a:xfrm>
          <a:prstGeom prst="roundRect">
            <a:avLst>
              <a:gd name="adj" fmla="val 5556"/>
            </a:avLst>
          </a:prstGeom>
          <a:solidFill>
            <a:srgbClr val="F5F9FA"/>
          </a:solidFill>
          <a:ln w="12700">
            <a:solidFill>
              <a:srgbClr val="D3E0E4"/>
            </a:solidFill>
            <a:prstDash val="solid"/>
          </a:ln>
          <a:effectLst>
            <a:outerShdw blurRad="76200" dist="25400" dir="5400000" algn="bl" rotWithShape="0">
              <a:srgbClr val="A9BCC2">
                <a:alpha val="3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496812" y="3657600"/>
            <a:ext cx="603504" cy="603504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5793" y="3826581"/>
            <a:ext cx="265542" cy="26554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228332" y="3611880"/>
            <a:ext cx="42291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26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저자 제언</a:t>
            </a:r>
            <a:endParaRPr lang="en-US" sz="1550" dirty="0"/>
          </a:p>
        </p:txBody>
      </p:sp>
      <p:sp>
        <p:nvSpPr>
          <p:cNvPr id="25" name="Text 18"/>
          <p:cNvSpPr/>
          <p:nvPr/>
        </p:nvSpPr>
        <p:spPr>
          <a:xfrm>
            <a:off x="7228332" y="4041648"/>
            <a:ext cx="42291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C4C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코시뮬레이션이 유망 — 부담 ↓, 신뢰성 ↑, 협업 용이</a:t>
            </a:r>
            <a:endParaRPr lang="en-US" sz="125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6DCB24B-ED92-203F-D747-7A22C2D3BB79}"/>
              </a:ext>
            </a:extLst>
          </p:cNvPr>
          <p:cNvSpPr txBox="1"/>
          <p:nvPr/>
        </p:nvSpPr>
        <p:spPr>
          <a:xfrm>
            <a:off x="11640312" y="6506308"/>
            <a:ext cx="510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B1741E4-0B9E-461B-A493-6FCDDFCD5A1C}" type="slidenum">
              <a:rPr lang="ko-KR" altLang="en-US" smtClean="0"/>
              <a:t>11</a:t>
            </a:fld>
            <a:endParaRPr lang="ko-KR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3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3291840"/>
            <a:ext cx="3017520" cy="3017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94360"/>
            <a:ext cx="685800" cy="685800"/>
          </a:xfrm>
          <a:prstGeom prst="ellipse">
            <a:avLst/>
          </a:prstGeom>
          <a:solidFill>
            <a:srgbClr val="E9A23B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806" y="779526"/>
            <a:ext cx="315468" cy="31546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41732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 &amp; 나의 관점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548640" y="1645920"/>
            <a:ext cx="11091672" cy="1051560"/>
          </a:xfrm>
          <a:prstGeom prst="roundRect">
            <a:avLst>
              <a:gd name="adj" fmla="val 7826"/>
            </a:avLst>
          </a:prstGeom>
          <a:solidFill>
            <a:srgbClr val="113F4E"/>
          </a:solidFill>
          <a:ln w="12700">
            <a:solidFill>
              <a:srgbClr val="1D556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68680" y="1645920"/>
            <a:ext cx="10451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E9A2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 요약 — </a:t>
            </a: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멀티도메인 USEM 도구를 </a:t>
            </a: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"아키텍처(통합형 vs 코시뮬레이션)"</a:t>
            </a: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정리한 지도(map) 같은 리뷰.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548640" y="2880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E9A2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나의</a:t>
            </a:r>
            <a:r>
              <a:rPr lang="en-US" sz="1300" b="1" dirty="0">
                <a:solidFill>
                  <a:srgbClr val="E9A2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b="1" dirty="0" err="1">
                <a:solidFill>
                  <a:srgbClr val="E9A2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관점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48640" y="3364992"/>
            <a:ext cx="118872" cy="118872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0" name="Text 6"/>
          <p:cNvSpPr/>
          <p:nvPr/>
        </p:nvSpPr>
        <p:spPr>
          <a:xfrm>
            <a:off x="822960" y="3255264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유용한가.  </a:t>
            </a:r>
            <a:r>
              <a:rPr lang="en-US" sz="1400" dirty="0">
                <a:solidFill>
                  <a:srgbClr val="D7E6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도구를 언제 쓸지 고르는 가이드 역할 (Table 1·2)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48640" y="3931920"/>
            <a:ext cx="118872" cy="118872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2" name="Text 8"/>
          <p:cNvSpPr/>
          <p:nvPr/>
        </p:nvSpPr>
        <p:spPr>
          <a:xfrm>
            <a:off x="822960" y="382219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한계.  </a:t>
            </a:r>
            <a:r>
              <a:rPr lang="en-US" sz="1400" dirty="0">
                <a:solidFill>
                  <a:srgbClr val="D7E6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2020년 시점 리뷰 → 이후 도구·데이터 발전은 별도 확인 필요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4498848"/>
            <a:ext cx="118872" cy="118872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4" name="Text 10"/>
          <p:cNvSpPr/>
          <p:nvPr/>
        </p:nvSpPr>
        <p:spPr>
          <a:xfrm>
            <a:off x="822960" y="438912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과제.  </a:t>
            </a:r>
            <a:r>
              <a:rPr lang="en-US" sz="1400" dirty="0">
                <a:solidFill>
                  <a:srgbClr val="D7E6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분배·교통까지 통합하는 도구가 여전히 부족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E9A23B"/>
          </a:solidFill>
          <a:ln/>
        </p:spPr>
      </p:sp>
      <p:sp>
        <p:nvSpPr>
          <p:cNvPr id="16" name="Text 12"/>
          <p:cNvSpPr/>
          <p:nvPr/>
        </p:nvSpPr>
        <p:spPr>
          <a:xfrm>
            <a:off x="548640" y="534924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 err="1">
                <a:solidFill>
                  <a:srgbClr val="07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r>
              <a:rPr lang="en-US" sz="2000" b="1" dirty="0">
                <a:solidFill>
                  <a:srgbClr val="072B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</a:t>
            </a:r>
            <a:endParaRPr lang="en-US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09B41A-A527-CC69-86F2-1DD991D8ECE0}"/>
              </a:ext>
            </a:extLst>
          </p:cNvPr>
          <p:cNvSpPr txBox="1"/>
          <p:nvPr/>
        </p:nvSpPr>
        <p:spPr>
          <a:xfrm>
            <a:off x="11640312" y="6506308"/>
            <a:ext cx="510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B1741E4-0B9E-461B-A493-6FCDDFCD5A1C}" type="slidenum">
              <a:rPr lang="ko-KR" altLang="en-US" smtClean="0"/>
              <a:t>12</a:t>
            </a:fld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396</TotalTime>
  <Words>1294</Words>
  <Application>Microsoft Office PowerPoint</Application>
  <PresentationFormat>와이드스크린</PresentationFormat>
  <Paragraphs>179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Malgun Gothic</vt:lpstr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주원 김</cp:lastModifiedBy>
  <cp:revision>1</cp:revision>
  <dcterms:created xsi:type="dcterms:W3CDTF">2026-07-21T04:48:07Z</dcterms:created>
  <dcterms:modified xsi:type="dcterms:W3CDTF">2026-07-27T15:31:35Z</dcterms:modified>
</cp:coreProperties>
</file>