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주원 김" userId="35032f258bd5070f" providerId="LiveId" clId="{7BCFEC3D-3794-412C-8007-0E81485D5907}"/>
    <pc:docChg chg="custSel modSld">
      <pc:chgData name="주원 김" userId="35032f258bd5070f" providerId="LiveId" clId="{7BCFEC3D-3794-412C-8007-0E81485D5907}" dt="2026-08-03T22:59:17.069" v="168" actId="20577"/>
      <pc:docMkLst>
        <pc:docMk/>
      </pc:docMkLst>
      <pc:sldChg chg="delSp modSp mod">
        <pc:chgData name="주원 김" userId="35032f258bd5070f" providerId="LiveId" clId="{7BCFEC3D-3794-412C-8007-0E81485D5907}" dt="2026-08-03T22:58:34.300" v="154" actId="20577"/>
        <pc:sldMkLst>
          <pc:docMk/>
          <pc:sldMk cId="0" sldId="256"/>
        </pc:sldMkLst>
        <pc:spChg chg="mod">
          <ac:chgData name="주원 김" userId="35032f258bd5070f" providerId="LiveId" clId="{7BCFEC3D-3794-412C-8007-0E81485D5907}" dt="2026-08-03T22:58:34.300" v="154" actId="20577"/>
          <ac:spMkLst>
            <pc:docMk/>
            <pc:sldMk cId="0" sldId="256"/>
            <ac:spMk id="4" creationId="{00000000-0000-0000-0000-000000000000}"/>
          </ac:spMkLst>
        </pc:spChg>
        <pc:spChg chg="del">
          <ac:chgData name="주원 김" userId="35032f258bd5070f" providerId="LiveId" clId="{7BCFEC3D-3794-412C-8007-0E81485D5907}" dt="2026-08-03T22:58:22.542" v="149" actId="478"/>
          <ac:spMkLst>
            <pc:docMk/>
            <pc:sldMk cId="0" sldId="256"/>
            <ac:spMk id="15" creationId="{00000000-0000-0000-0000-000000000000}"/>
          </ac:spMkLst>
        </pc:spChg>
      </pc:sldChg>
      <pc:sldChg chg="modSp mod">
        <pc:chgData name="주원 김" userId="35032f258bd5070f" providerId="LiveId" clId="{7BCFEC3D-3794-412C-8007-0E81485D5907}" dt="2026-08-03T22:58:58.509" v="165" actId="20577"/>
        <pc:sldMkLst>
          <pc:docMk/>
          <pc:sldMk cId="0" sldId="258"/>
        </pc:sldMkLst>
        <pc:spChg chg="mod">
          <ac:chgData name="주원 김" userId="35032f258bd5070f" providerId="LiveId" clId="{7BCFEC3D-3794-412C-8007-0E81485D5907}" dt="2026-08-03T13:37:51.794" v="28" actId="20577"/>
          <ac:spMkLst>
            <pc:docMk/>
            <pc:sldMk cId="0" sldId="258"/>
            <ac:spMk id="5" creationId="{00000000-0000-0000-0000-000000000000}"/>
          </ac:spMkLst>
        </pc:spChg>
        <pc:spChg chg="mod">
          <ac:chgData name="주원 김" userId="35032f258bd5070f" providerId="LiveId" clId="{7BCFEC3D-3794-412C-8007-0E81485D5907}" dt="2026-08-03T22:58:58.509" v="165" actId="20577"/>
          <ac:spMkLst>
            <pc:docMk/>
            <pc:sldMk cId="0" sldId="258"/>
            <ac:spMk id="6" creationId="{00000000-0000-0000-0000-000000000000}"/>
          </ac:spMkLst>
        </pc:spChg>
      </pc:sldChg>
      <pc:sldChg chg="modSp mod">
        <pc:chgData name="주원 김" userId="35032f258bd5070f" providerId="LiveId" clId="{7BCFEC3D-3794-412C-8007-0E81485D5907}" dt="2026-08-03T13:38:02.252" v="31" actId="20577"/>
        <pc:sldMkLst>
          <pc:docMk/>
          <pc:sldMk cId="0" sldId="259"/>
        </pc:sldMkLst>
        <pc:spChg chg="mod">
          <ac:chgData name="주원 김" userId="35032f258bd5070f" providerId="LiveId" clId="{7BCFEC3D-3794-412C-8007-0E81485D5907}" dt="2026-08-03T13:38:02.252" v="31" actId="20577"/>
          <ac:spMkLst>
            <pc:docMk/>
            <pc:sldMk cId="0" sldId="259"/>
            <ac:spMk id="8" creationId="{00000000-0000-0000-0000-000000000000}"/>
          </ac:spMkLst>
        </pc:spChg>
      </pc:sldChg>
      <pc:sldChg chg="modSp mod">
        <pc:chgData name="주원 김" userId="35032f258bd5070f" providerId="LiveId" clId="{7BCFEC3D-3794-412C-8007-0E81485D5907}" dt="2026-08-03T13:37:23.118" v="6" actId="20577"/>
        <pc:sldMkLst>
          <pc:docMk/>
          <pc:sldMk cId="0" sldId="261"/>
        </pc:sldMkLst>
        <pc:spChg chg="mod">
          <ac:chgData name="주원 김" userId="35032f258bd5070f" providerId="LiveId" clId="{7BCFEC3D-3794-412C-8007-0E81485D5907}" dt="2026-08-03T13:37:23.118" v="6" actId="20577"/>
          <ac:spMkLst>
            <pc:docMk/>
            <pc:sldMk cId="0" sldId="261"/>
            <ac:spMk id="5" creationId="{00000000-0000-0000-0000-000000000000}"/>
          </ac:spMkLst>
        </pc:spChg>
      </pc:sldChg>
      <pc:sldChg chg="modSp mod">
        <pc:chgData name="주원 김" userId="35032f258bd5070f" providerId="LiveId" clId="{7BCFEC3D-3794-412C-8007-0E81485D5907}" dt="2026-08-03T13:43:24.434" v="148" actId="20577"/>
        <pc:sldMkLst>
          <pc:docMk/>
          <pc:sldMk cId="0" sldId="262"/>
        </pc:sldMkLst>
        <pc:spChg chg="mod">
          <ac:chgData name="주원 김" userId="35032f258bd5070f" providerId="LiveId" clId="{7BCFEC3D-3794-412C-8007-0E81485D5907}" dt="2026-08-03T13:43:24.434" v="148" actId="20577"/>
          <ac:spMkLst>
            <pc:docMk/>
            <pc:sldMk cId="0" sldId="262"/>
            <ac:spMk id="6" creationId="{00000000-0000-0000-0000-000000000000}"/>
          </ac:spMkLst>
        </pc:spChg>
      </pc:sldChg>
      <pc:sldChg chg="modSp mod">
        <pc:chgData name="주원 김" userId="35032f258bd5070f" providerId="LiveId" clId="{7BCFEC3D-3794-412C-8007-0E81485D5907}" dt="2026-08-03T22:59:17.069" v="168" actId="20577"/>
        <pc:sldMkLst>
          <pc:docMk/>
          <pc:sldMk cId="0" sldId="264"/>
        </pc:sldMkLst>
        <pc:spChg chg="mod">
          <ac:chgData name="주원 김" userId="35032f258bd5070f" providerId="LiveId" clId="{7BCFEC3D-3794-412C-8007-0E81485D5907}" dt="2026-08-03T22:59:17.069" v="168" actId="20577"/>
          <ac:spMkLst>
            <pc:docMk/>
            <pc:sldMk cId="0" sldId="264"/>
            <ac:spMk id="3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725762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제안 발표 표지입니다. '지난번엔 논문을 리뷰했고, 오늘은 그 후속으로 우리 랩이 실제로 무엇을 코시뮬레이션하면 좋을지 제안드리겠습니다'로 시작하세요. 이름과 날짜를 채워 넣으세요.</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지난 리뷰의 결론을 짧게 되짚습니다. 종합적 도구는 드물고, 특히 분배와 교통이 자주 빠진다, 저자는 코시뮬레이션을 제안했다. 그중에서도 '교통과 에너지의 통합 부재'가 가장 큰 공백이었고, 바로 이 지점을 오늘 제안이 겨냥합니다.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발표는 리뷰가 아니라 제안입니다. 교수님이 주신 두 가지 질문에 답하는 형식이에요. 하나, 우리 DTUMOS에 어떤 에너지 모듈을 추가할까. 둘, 어떤 오픈소스 시뮬레이터와 코시뮬레이션할까. 원칙은 논문 속 도구가 실제로 쓸 수 있는지 확인하고 검증된 도구를 재활용하는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코시뮬레이션이 왜 답인지 짧게 설명합니다. 전부 새로 만드는 게 아니라, 검증된 도구를 그대로 두고 실행 도중 매 시간 단계마다 데이터를 주고받게 연결하는 방식입니다. 이걸 가능하게 하는 게 FMI라는 연결 표준이고요. 구현 부담이 줄고 신뢰성이 오르고 협업이 쉽다는 장점이 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코시뮬레이션을 묶어주는 플랫폼 두 가지를 비교합니다. HELICS는 미국 DOE 연구소가 만든 대규모·고성능 프레임워크로 2만 노드 이상까지 확장되지만 난이도가 높습니다. mosaik은 독일 OFFIS의 파이썬 기반 프레임워크로 입문이 쉽고 FMI·pandapower와 잘 붙습니다. 그래서 초기 프로토타입은 mosaik으로 빠르게, 규모를 키울 때 HELICS로 확장하자는 게 제 제안입니다.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자산 DTUMOS입니다. 오픈소스 도시 모빌리티 디지털 트윈이고 서울·뉴욕·시카고로 검증됐어요. 차량 라우팅, ETA 예측, 대규모 시각화는 되는데, 결정적으로 에너지 모델링이 전혀 없습니다. 전기차 배터리 소모도, 충전도, 전력망 연결도 없어요. 그래서 이걸 채우는 게 제안의 출발점입니다.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도메인별로 실제 쓸 수 있는 오픈소스를 정리했습니다. 교통은 우리 DTUMOS에 SUMO를 참고, 건물은 EnergyPlus, 전력망은 OpenDSS입니다. 전부 현재도 활발히 유지되는 오픈소스라 교수님이 우려하신 '허구' 문제는 없습니다. 특히 논문의 URBANopt가 이미 EnergyPlus와 OpenDSS를 붙였는데, 여기에 우리 교통 도구만 더하면 된다는 게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제안 첫 번째, DTUMOS에 추가할 세 모듈입니다. EV 에너지 모듈은 경로와 속도에서 배터리 소모를 계산하고, 충전 모듈은 충전 수요를 만들고, 그리드 연결은 그 부하를 전력망으로 넘깁니다. 교수님이 물으신 가감속-배터리 문제는, 도시 전체는 간이 모델로 보고 핵심 구간만 SUMO로 정밀하게 보는 하이브리드로 풀면 현실적입니다.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제안 두 번째, 전체 구조입니다. 가운데 코시뮬레이션 플랫폼이 FMI로 세 도구를 연결합니다. 교통은 DTUMOS, 건물은 EnergyPlus, 전력망은 OpenDSS. URBANopt가 건물과 전력망을 붙인 구조에 우리 교통을 더한 형태로, 논문이 지적한 교통-에너지 공백을 정확히 메웁니다.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DTUMOS·EnergyPlus·OpenDSS를 코시뮬레이션해서 도시 에너지를 최적화하되 교통까지 통합하는 게 차별점입니다. 다음 단계는 mosaik 프로토타입, DTUMOS 모듈 개발, 소규모 검증입니다. 데이터센터와 전기차 확산으로 이 주제의 중요성은 계속 커질 거라 봅니다.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3B4A"/>
        </a:solidFill>
        <a:effectLst/>
      </p:bgPr>
    </p:bg>
    <p:spTree>
      <p:nvGrpSpPr>
        <p:cNvPr id="1" name=""/>
        <p:cNvGrpSpPr/>
        <p:nvPr/>
      </p:nvGrpSpPr>
      <p:grpSpPr>
        <a:xfrm>
          <a:off x="0" y="0"/>
          <a:ext cx="0" cy="0"/>
          <a:chOff x="0" y="0"/>
          <a:chExt cx="0" cy="0"/>
        </a:xfrm>
      </p:grpSpPr>
      <p:sp>
        <p:nvSpPr>
          <p:cNvPr id="2" name="Text 0"/>
          <p:cNvSpPr/>
          <p:nvPr/>
        </p:nvSpPr>
        <p:spPr>
          <a:xfrm>
            <a:off x="548640" y="1051560"/>
            <a:ext cx="11064240" cy="365760"/>
          </a:xfrm>
          <a:prstGeom prst="rect">
            <a:avLst/>
          </a:prstGeom>
          <a:noFill/>
          <a:ln/>
        </p:spPr>
        <p:txBody>
          <a:bodyPr wrap="square" rtlCol="0" anchor="ctr"/>
          <a:lstStyle/>
          <a:p>
            <a:pPr marL="0" indent="0">
              <a:buNone/>
            </a:pPr>
            <a:r>
              <a:rPr lang="en-US" sz="1300" b="1" kern="0" spc="200" dirty="0">
                <a:solidFill>
                  <a:srgbClr val="E29A34"/>
                </a:solidFill>
                <a:latin typeface="Malgun Gothic" pitchFamily="34" charset="0"/>
                <a:ea typeface="Malgun Gothic" pitchFamily="34" charset="-122"/>
                <a:cs typeface="Malgun Gothic" pitchFamily="34" charset="-120"/>
              </a:rPr>
              <a:t>연구 주제 제안  ·  RESEARCH PROPOSAL</a:t>
            </a:r>
            <a:endParaRPr lang="en-US" sz="1300" dirty="0"/>
          </a:p>
        </p:txBody>
      </p:sp>
      <p:sp>
        <p:nvSpPr>
          <p:cNvPr id="3" name="Text 1"/>
          <p:cNvSpPr/>
          <p:nvPr/>
        </p:nvSpPr>
        <p:spPr>
          <a:xfrm>
            <a:off x="548640" y="1554480"/>
            <a:ext cx="11064240" cy="1554480"/>
          </a:xfrm>
          <a:prstGeom prst="rect">
            <a:avLst/>
          </a:prstGeom>
          <a:noFill/>
          <a:ln/>
        </p:spPr>
        <p:txBody>
          <a:bodyPr wrap="square" rtlCol="0" anchor="ctr"/>
          <a:lstStyle/>
          <a:p>
            <a:pPr marL="0" indent="0">
              <a:lnSpc>
                <a:spcPts val="4200"/>
              </a:lnSpc>
              <a:buNone/>
            </a:pPr>
            <a:r>
              <a:rPr lang="en-US" sz="3400" b="1" dirty="0">
                <a:solidFill>
                  <a:srgbClr val="FFFFFF"/>
                </a:solidFill>
                <a:latin typeface="Malgun Gothic" pitchFamily="34" charset="0"/>
                <a:ea typeface="Malgun Gothic" pitchFamily="34" charset="-122"/>
                <a:cs typeface="Malgun Gothic" pitchFamily="34" charset="-120"/>
              </a:rPr>
              <a:t>도시 규모 에너지 최적화를 위한</a:t>
            </a:r>
            <a:endParaRPr lang="en-US" sz="3400" dirty="0"/>
          </a:p>
          <a:p>
            <a:pPr marL="0" indent="0">
              <a:lnSpc>
                <a:spcPts val="4200"/>
              </a:lnSpc>
              <a:buNone/>
            </a:pPr>
            <a:r>
              <a:rPr lang="en-US" sz="3400" b="1" dirty="0">
                <a:solidFill>
                  <a:srgbClr val="FFFFFF"/>
                </a:solidFill>
                <a:latin typeface="Malgun Gothic" pitchFamily="34" charset="0"/>
                <a:ea typeface="Malgun Gothic" pitchFamily="34" charset="-122"/>
                <a:cs typeface="Malgun Gothic" pitchFamily="34" charset="-120"/>
              </a:rPr>
              <a:t>교통–건물–전력망 코시뮬레이션 제안</a:t>
            </a:r>
            <a:endParaRPr lang="en-US" sz="3400" dirty="0"/>
          </a:p>
        </p:txBody>
      </p:sp>
      <p:sp>
        <p:nvSpPr>
          <p:cNvPr id="4" name="Text 2"/>
          <p:cNvSpPr/>
          <p:nvPr/>
        </p:nvSpPr>
        <p:spPr>
          <a:xfrm>
            <a:off x="548640" y="3200400"/>
            <a:ext cx="11064240" cy="365760"/>
          </a:xfrm>
          <a:prstGeom prst="rect">
            <a:avLst/>
          </a:prstGeom>
          <a:noFill/>
          <a:ln/>
        </p:spPr>
        <p:txBody>
          <a:bodyPr wrap="square" rtlCol="0" anchor="ctr"/>
          <a:lstStyle/>
          <a:p>
            <a:pPr marL="0" indent="0">
              <a:buNone/>
            </a:pPr>
            <a:r>
              <a:rPr lang="en-US" sz="1500" i="1" dirty="0">
                <a:solidFill>
                  <a:srgbClr val="AECAD6"/>
                </a:solidFill>
                <a:latin typeface="Malgun Gothic" pitchFamily="34" charset="0"/>
                <a:ea typeface="Malgun Gothic" pitchFamily="34" charset="-122"/>
                <a:cs typeface="Malgun Gothic" pitchFamily="34" charset="-120"/>
              </a:rPr>
              <a:t>USEM 리뷰 </a:t>
            </a:r>
            <a:r>
              <a:rPr lang="en-US" sz="1500" i="1" dirty="0" err="1">
                <a:solidFill>
                  <a:srgbClr val="AECAD6"/>
                </a:solidFill>
                <a:latin typeface="Malgun Gothic" pitchFamily="34" charset="0"/>
                <a:ea typeface="Malgun Gothic" pitchFamily="34" charset="-122"/>
                <a:cs typeface="Malgun Gothic" pitchFamily="34" charset="-120"/>
              </a:rPr>
              <a:t>후속</a:t>
            </a:r>
            <a:r>
              <a:rPr lang="en-US" sz="1500" i="1" dirty="0">
                <a:solidFill>
                  <a:srgbClr val="AECAD6"/>
                </a:solidFill>
                <a:latin typeface="Malgun Gothic" pitchFamily="34" charset="0"/>
                <a:ea typeface="Malgun Gothic" pitchFamily="34" charset="-122"/>
                <a:cs typeface="Malgun Gothic" pitchFamily="34" charset="-120"/>
              </a:rPr>
              <a:t> — DTUMOS 기반</a:t>
            </a:r>
            <a:endParaRPr lang="en-US" sz="1500" dirty="0"/>
          </a:p>
        </p:txBody>
      </p:sp>
      <p:sp>
        <p:nvSpPr>
          <p:cNvPr id="5" name="Shape 3"/>
          <p:cNvSpPr/>
          <p:nvPr/>
        </p:nvSpPr>
        <p:spPr>
          <a:xfrm>
            <a:off x="5029200" y="4398264"/>
            <a:ext cx="2103120" cy="0"/>
          </a:xfrm>
          <a:prstGeom prst="line">
            <a:avLst/>
          </a:prstGeom>
          <a:noFill/>
          <a:ln w="25400">
            <a:solidFill>
              <a:srgbClr val="3A5866"/>
            </a:solidFill>
            <a:prstDash val="dash"/>
          </a:ln>
        </p:spPr>
      </p:sp>
      <p:sp>
        <p:nvSpPr>
          <p:cNvPr id="6" name="Shape 4"/>
          <p:cNvSpPr/>
          <p:nvPr/>
        </p:nvSpPr>
        <p:spPr>
          <a:xfrm>
            <a:off x="4608576" y="3977640"/>
            <a:ext cx="841248" cy="841248"/>
          </a:xfrm>
          <a:prstGeom prst="ellipse">
            <a:avLst/>
          </a:prstGeom>
          <a:solidFill>
            <a:srgbClr val="1C7293"/>
          </a:solidFill>
          <a:ln/>
        </p:spPr>
      </p:sp>
      <p:pic>
        <p:nvPicPr>
          <p:cNvPr id="7" name="Image 0" descr="/tmp/icons2/car.png"/>
          <p:cNvPicPr>
            <a:picLocks noChangeAspect="1"/>
          </p:cNvPicPr>
          <p:nvPr/>
        </p:nvPicPr>
        <p:blipFill>
          <a:blip r:embed="rId3"/>
          <a:stretch>
            <a:fillRect/>
          </a:stretch>
        </p:blipFill>
        <p:spPr>
          <a:xfrm>
            <a:off x="4818888" y="4187952"/>
            <a:ext cx="420624" cy="420624"/>
          </a:xfrm>
          <a:prstGeom prst="rect">
            <a:avLst/>
          </a:prstGeom>
        </p:spPr>
      </p:pic>
      <p:sp>
        <p:nvSpPr>
          <p:cNvPr id="8" name="Text 5"/>
          <p:cNvSpPr/>
          <p:nvPr/>
        </p:nvSpPr>
        <p:spPr>
          <a:xfrm>
            <a:off x="4334256" y="4864608"/>
            <a:ext cx="1389888" cy="274320"/>
          </a:xfrm>
          <a:prstGeom prst="rect">
            <a:avLst/>
          </a:prstGeom>
          <a:noFill/>
          <a:ln/>
        </p:spPr>
        <p:txBody>
          <a:bodyPr wrap="square" rtlCol="0" anchor="ctr"/>
          <a:lstStyle/>
          <a:p>
            <a:pPr marL="0" indent="0" algn="ctr">
              <a:buNone/>
            </a:pPr>
            <a:r>
              <a:rPr lang="en-US" sz="1200" b="1" dirty="0">
                <a:solidFill>
                  <a:srgbClr val="CFE0E7"/>
                </a:solidFill>
                <a:latin typeface="Malgun Gothic" pitchFamily="34" charset="0"/>
                <a:ea typeface="Malgun Gothic" pitchFamily="34" charset="-122"/>
                <a:cs typeface="Malgun Gothic" pitchFamily="34" charset="-120"/>
              </a:rPr>
              <a:t>교통</a:t>
            </a:r>
            <a:endParaRPr lang="en-US" sz="1200" dirty="0"/>
          </a:p>
        </p:txBody>
      </p:sp>
      <p:sp>
        <p:nvSpPr>
          <p:cNvPr id="9" name="Shape 6"/>
          <p:cNvSpPr/>
          <p:nvPr/>
        </p:nvSpPr>
        <p:spPr>
          <a:xfrm>
            <a:off x="5660136" y="3977640"/>
            <a:ext cx="841248" cy="841248"/>
          </a:xfrm>
          <a:prstGeom prst="ellipse">
            <a:avLst/>
          </a:prstGeom>
          <a:solidFill>
            <a:srgbClr val="E29A34"/>
          </a:solidFill>
          <a:ln/>
        </p:spPr>
      </p:sp>
      <p:pic>
        <p:nvPicPr>
          <p:cNvPr id="10" name="Image 1" descr="/tmp/icons2/building.png"/>
          <p:cNvPicPr>
            <a:picLocks noChangeAspect="1"/>
          </p:cNvPicPr>
          <p:nvPr/>
        </p:nvPicPr>
        <p:blipFill>
          <a:blip r:embed="rId4"/>
          <a:stretch>
            <a:fillRect/>
          </a:stretch>
        </p:blipFill>
        <p:spPr>
          <a:xfrm>
            <a:off x="5870448" y="4187952"/>
            <a:ext cx="420624" cy="420624"/>
          </a:xfrm>
          <a:prstGeom prst="rect">
            <a:avLst/>
          </a:prstGeom>
        </p:spPr>
      </p:pic>
      <p:sp>
        <p:nvSpPr>
          <p:cNvPr id="11" name="Text 7"/>
          <p:cNvSpPr/>
          <p:nvPr/>
        </p:nvSpPr>
        <p:spPr>
          <a:xfrm>
            <a:off x="5385816" y="4864608"/>
            <a:ext cx="1389888" cy="274320"/>
          </a:xfrm>
          <a:prstGeom prst="rect">
            <a:avLst/>
          </a:prstGeom>
          <a:noFill/>
          <a:ln/>
        </p:spPr>
        <p:txBody>
          <a:bodyPr wrap="square" rtlCol="0" anchor="ctr"/>
          <a:lstStyle/>
          <a:p>
            <a:pPr marL="0" indent="0" algn="ctr">
              <a:buNone/>
            </a:pPr>
            <a:r>
              <a:rPr lang="en-US" sz="1200" b="1" dirty="0">
                <a:solidFill>
                  <a:srgbClr val="CFE0E7"/>
                </a:solidFill>
                <a:latin typeface="Malgun Gothic" pitchFamily="34" charset="0"/>
                <a:ea typeface="Malgun Gothic" pitchFamily="34" charset="-122"/>
                <a:cs typeface="Malgun Gothic" pitchFamily="34" charset="-120"/>
              </a:rPr>
              <a:t>건물</a:t>
            </a:r>
            <a:endParaRPr lang="en-US" sz="1200" dirty="0"/>
          </a:p>
        </p:txBody>
      </p:sp>
      <p:sp>
        <p:nvSpPr>
          <p:cNvPr id="12" name="Shape 8"/>
          <p:cNvSpPr/>
          <p:nvPr/>
        </p:nvSpPr>
        <p:spPr>
          <a:xfrm>
            <a:off x="6711696" y="3977640"/>
            <a:ext cx="841248" cy="841248"/>
          </a:xfrm>
          <a:prstGeom prst="ellipse">
            <a:avLst/>
          </a:prstGeom>
          <a:solidFill>
            <a:srgbClr val="5C9BB4"/>
          </a:solidFill>
          <a:ln/>
        </p:spPr>
      </p:sp>
      <p:pic>
        <p:nvPicPr>
          <p:cNvPr id="13" name="Image 2" descr="/tmp/icons2/bolt.png"/>
          <p:cNvPicPr>
            <a:picLocks noChangeAspect="1"/>
          </p:cNvPicPr>
          <p:nvPr/>
        </p:nvPicPr>
        <p:blipFill>
          <a:blip r:embed="rId5"/>
          <a:stretch>
            <a:fillRect/>
          </a:stretch>
        </p:blipFill>
        <p:spPr>
          <a:xfrm>
            <a:off x="6922008" y="4187952"/>
            <a:ext cx="420624" cy="420624"/>
          </a:xfrm>
          <a:prstGeom prst="rect">
            <a:avLst/>
          </a:prstGeom>
        </p:spPr>
      </p:pic>
      <p:sp>
        <p:nvSpPr>
          <p:cNvPr id="14" name="Text 9"/>
          <p:cNvSpPr/>
          <p:nvPr/>
        </p:nvSpPr>
        <p:spPr>
          <a:xfrm>
            <a:off x="6437376" y="4864608"/>
            <a:ext cx="1389888" cy="274320"/>
          </a:xfrm>
          <a:prstGeom prst="rect">
            <a:avLst/>
          </a:prstGeom>
          <a:noFill/>
          <a:ln/>
        </p:spPr>
        <p:txBody>
          <a:bodyPr wrap="square" rtlCol="0" anchor="ctr"/>
          <a:lstStyle/>
          <a:p>
            <a:pPr marL="0" indent="0" algn="ctr">
              <a:buNone/>
            </a:pPr>
            <a:r>
              <a:rPr lang="en-US" sz="1200" b="1" dirty="0">
                <a:solidFill>
                  <a:srgbClr val="CFE0E7"/>
                </a:solidFill>
                <a:latin typeface="Malgun Gothic" pitchFamily="34" charset="0"/>
                <a:ea typeface="Malgun Gothic" pitchFamily="34" charset="-122"/>
                <a:cs typeface="Malgun Gothic" pitchFamily="34" charset="-120"/>
              </a:rPr>
              <a:t>전력망</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25296" y="457200"/>
            <a:ext cx="10387584" cy="274320"/>
          </a:xfrm>
          <a:prstGeom prst="rect">
            <a:avLst/>
          </a:prstGeom>
          <a:noFill/>
          <a:ln/>
        </p:spPr>
        <p:txBody>
          <a:bodyPr wrap="square" rtlCol="0" anchor="ctr"/>
          <a:lstStyle/>
          <a:p>
            <a:pPr marL="0" indent="0">
              <a:buNone/>
            </a:pPr>
            <a:r>
              <a:rPr lang="en-US" sz="1100" b="1" kern="0" spc="200" dirty="0">
                <a:solidFill>
                  <a:srgbClr val="1C7293"/>
                </a:solidFill>
                <a:latin typeface="Malgun Gothic" pitchFamily="34" charset="0"/>
                <a:ea typeface="Malgun Gothic" pitchFamily="34" charset="-122"/>
                <a:cs typeface="Malgun Gothic" pitchFamily="34" charset="-120"/>
              </a:rPr>
              <a:t>RECAP · 지난 발표 요약</a:t>
            </a:r>
            <a:endParaRPr lang="en-US" sz="1100" dirty="0"/>
          </a:p>
        </p:txBody>
      </p:sp>
      <p:sp>
        <p:nvSpPr>
          <p:cNvPr id="3" name="Shape 1"/>
          <p:cNvSpPr/>
          <p:nvPr/>
        </p:nvSpPr>
        <p:spPr>
          <a:xfrm>
            <a:off x="548640" y="475488"/>
            <a:ext cx="548640" cy="548640"/>
          </a:xfrm>
          <a:prstGeom prst="ellipse">
            <a:avLst/>
          </a:prstGeom>
          <a:solidFill>
            <a:srgbClr val="0C3B4A"/>
          </a:solidFill>
          <a:ln/>
        </p:spPr>
      </p:sp>
      <p:pic>
        <p:nvPicPr>
          <p:cNvPr id="4" name="Image 0" descr="/tmp/icons2/clipboard.png"/>
          <p:cNvPicPr>
            <a:picLocks noChangeAspect="1"/>
          </p:cNvPicPr>
          <p:nvPr/>
        </p:nvPicPr>
        <p:blipFill>
          <a:blip r:embed="rId3"/>
          <a:stretch>
            <a:fillRect/>
          </a:stretch>
        </p:blipFill>
        <p:spPr>
          <a:xfrm>
            <a:off x="685800" y="612648"/>
            <a:ext cx="274320" cy="274320"/>
          </a:xfrm>
          <a:prstGeom prst="rect">
            <a:avLst/>
          </a:prstGeom>
        </p:spPr>
      </p:pic>
      <p:sp>
        <p:nvSpPr>
          <p:cNvPr id="5" name="Text 2"/>
          <p:cNvSpPr/>
          <p:nvPr/>
        </p:nvSpPr>
        <p:spPr>
          <a:xfrm>
            <a:off x="1225296" y="713232"/>
            <a:ext cx="10387584" cy="457200"/>
          </a:xfrm>
          <a:prstGeom prst="rect">
            <a:avLst/>
          </a:prstGeom>
          <a:noFill/>
          <a:ln/>
        </p:spPr>
        <p:txBody>
          <a:bodyPr wrap="square" rtlCol="0" anchor="ctr"/>
          <a:lstStyle/>
          <a:p>
            <a:pPr marL="0" indent="0">
              <a:buNone/>
            </a:pPr>
            <a:r>
              <a:rPr lang="en-US" sz="2600" b="1" dirty="0">
                <a:solidFill>
                  <a:srgbClr val="17262C"/>
                </a:solidFill>
                <a:latin typeface="Malgun Gothic" pitchFamily="34" charset="0"/>
                <a:ea typeface="Malgun Gothic" pitchFamily="34" charset="-122"/>
                <a:cs typeface="Malgun Gothic" pitchFamily="34" charset="-120"/>
              </a:rPr>
              <a:t>지난 리뷰가 남긴 결론</a:t>
            </a:r>
            <a:endParaRPr lang="en-US" sz="2600" dirty="0"/>
          </a:p>
        </p:txBody>
      </p:sp>
      <p:sp>
        <p:nvSpPr>
          <p:cNvPr id="6" name="Shape 3"/>
          <p:cNvSpPr/>
          <p:nvPr/>
        </p:nvSpPr>
        <p:spPr>
          <a:xfrm>
            <a:off x="548640" y="1600200"/>
            <a:ext cx="7040880" cy="896112"/>
          </a:xfrm>
          <a:prstGeom prst="roundRect">
            <a:avLst>
              <a:gd name="adj" fmla="val 10204"/>
            </a:avLst>
          </a:prstGeom>
          <a:solidFill>
            <a:srgbClr val="EEF3F5"/>
          </a:solidFill>
          <a:ln/>
        </p:spPr>
      </p:sp>
      <p:sp>
        <p:nvSpPr>
          <p:cNvPr id="7" name="Shape 4"/>
          <p:cNvSpPr/>
          <p:nvPr/>
        </p:nvSpPr>
        <p:spPr>
          <a:xfrm>
            <a:off x="804672" y="1920240"/>
            <a:ext cx="256032" cy="256032"/>
          </a:xfrm>
          <a:prstGeom prst="ellipse">
            <a:avLst/>
          </a:prstGeom>
          <a:solidFill>
            <a:srgbClr val="1C7293"/>
          </a:solidFill>
          <a:ln/>
        </p:spPr>
      </p:sp>
      <p:sp>
        <p:nvSpPr>
          <p:cNvPr id="8" name="Text 5"/>
          <p:cNvSpPr/>
          <p:nvPr/>
        </p:nvSpPr>
        <p:spPr>
          <a:xfrm>
            <a:off x="1207008" y="1600200"/>
            <a:ext cx="6263640" cy="896112"/>
          </a:xfrm>
          <a:prstGeom prst="rect">
            <a:avLst/>
          </a:prstGeom>
          <a:noFill/>
          <a:ln/>
        </p:spPr>
        <p:txBody>
          <a:bodyPr wrap="square" lIns="0" tIns="0" rIns="0" bIns="0" rtlCol="0" anchor="ctr"/>
          <a:lstStyle/>
          <a:p>
            <a:pPr marL="0" indent="0">
              <a:lnSpc>
                <a:spcPts val="1700"/>
              </a:lnSpc>
              <a:buNone/>
            </a:pPr>
            <a:r>
              <a:rPr lang="en-US" sz="1300" b="1" dirty="0">
                <a:solidFill>
                  <a:srgbClr val="17262C"/>
                </a:solidFill>
                <a:latin typeface="Malgun Gothic" pitchFamily="34" charset="0"/>
                <a:ea typeface="Malgun Gothic" pitchFamily="34" charset="-122"/>
                <a:cs typeface="Malgun Gothic" pitchFamily="34" charset="-120"/>
              </a:rPr>
              <a:t>종합적 도구는 드물다  —  </a:t>
            </a:r>
            <a:r>
              <a:rPr lang="en-US" sz="1300" dirty="0">
                <a:solidFill>
                  <a:srgbClr val="2E3B41"/>
                </a:solidFill>
                <a:latin typeface="Malgun Gothic" pitchFamily="34" charset="0"/>
                <a:ea typeface="Malgun Gothic" pitchFamily="34" charset="-122"/>
                <a:cs typeface="Malgun Gothic" pitchFamily="34" charset="-120"/>
              </a:rPr>
              <a:t>대부분 도구가 건물 '수요'에만 집중, 수요+공급을 함께 다루는 모델은 주로 학계에서만 사용</a:t>
            </a:r>
            <a:endParaRPr lang="en-US" sz="1300" dirty="0"/>
          </a:p>
        </p:txBody>
      </p:sp>
      <p:sp>
        <p:nvSpPr>
          <p:cNvPr id="9" name="Shape 6"/>
          <p:cNvSpPr/>
          <p:nvPr/>
        </p:nvSpPr>
        <p:spPr>
          <a:xfrm>
            <a:off x="548640" y="2624328"/>
            <a:ext cx="7040880" cy="896112"/>
          </a:xfrm>
          <a:prstGeom prst="roundRect">
            <a:avLst>
              <a:gd name="adj" fmla="val 10204"/>
            </a:avLst>
          </a:prstGeom>
          <a:solidFill>
            <a:srgbClr val="EEF3F5"/>
          </a:solidFill>
          <a:ln/>
        </p:spPr>
      </p:sp>
      <p:sp>
        <p:nvSpPr>
          <p:cNvPr id="10" name="Shape 7"/>
          <p:cNvSpPr/>
          <p:nvPr/>
        </p:nvSpPr>
        <p:spPr>
          <a:xfrm>
            <a:off x="804672" y="2944368"/>
            <a:ext cx="256032" cy="256032"/>
          </a:xfrm>
          <a:prstGeom prst="ellipse">
            <a:avLst/>
          </a:prstGeom>
          <a:solidFill>
            <a:srgbClr val="1C7293"/>
          </a:solidFill>
          <a:ln/>
        </p:spPr>
      </p:sp>
      <p:sp>
        <p:nvSpPr>
          <p:cNvPr id="11" name="Text 8"/>
          <p:cNvSpPr/>
          <p:nvPr/>
        </p:nvSpPr>
        <p:spPr>
          <a:xfrm>
            <a:off x="1207008" y="2624328"/>
            <a:ext cx="6263640" cy="896112"/>
          </a:xfrm>
          <a:prstGeom prst="rect">
            <a:avLst/>
          </a:prstGeom>
          <a:noFill/>
          <a:ln/>
        </p:spPr>
        <p:txBody>
          <a:bodyPr wrap="square" lIns="0" tIns="0" rIns="0" bIns="0" rtlCol="0" anchor="ctr"/>
          <a:lstStyle/>
          <a:p>
            <a:pPr marL="0" indent="0">
              <a:lnSpc>
                <a:spcPts val="1700"/>
              </a:lnSpc>
              <a:buNone/>
            </a:pPr>
            <a:r>
              <a:rPr lang="en-US" sz="1300" b="1" dirty="0">
                <a:solidFill>
                  <a:srgbClr val="17262C"/>
                </a:solidFill>
                <a:latin typeface="Malgun Gothic" pitchFamily="34" charset="0"/>
                <a:ea typeface="Malgun Gothic" pitchFamily="34" charset="-122"/>
                <a:cs typeface="Malgun Gothic" pitchFamily="34" charset="-120"/>
              </a:rPr>
              <a:t>자주 빠지는 두 가지  —  </a:t>
            </a:r>
            <a:r>
              <a:rPr lang="en-US" sz="1300" dirty="0">
                <a:solidFill>
                  <a:srgbClr val="2E3B41"/>
                </a:solidFill>
                <a:latin typeface="Malgun Gothic" pitchFamily="34" charset="0"/>
                <a:ea typeface="Malgun Gothic" pitchFamily="34" charset="-122"/>
                <a:cs typeface="Malgun Gothic" pitchFamily="34" charset="-120"/>
              </a:rPr>
              <a:t>에너지 '분배(네트워크)' 모델과 '교통 에너지'가 반복적으로 누락됨</a:t>
            </a:r>
            <a:endParaRPr lang="en-US" sz="1300" dirty="0"/>
          </a:p>
        </p:txBody>
      </p:sp>
      <p:sp>
        <p:nvSpPr>
          <p:cNvPr id="12" name="Shape 9"/>
          <p:cNvSpPr/>
          <p:nvPr/>
        </p:nvSpPr>
        <p:spPr>
          <a:xfrm>
            <a:off x="548640" y="3648456"/>
            <a:ext cx="7040880" cy="896112"/>
          </a:xfrm>
          <a:prstGeom prst="roundRect">
            <a:avLst>
              <a:gd name="adj" fmla="val 10204"/>
            </a:avLst>
          </a:prstGeom>
          <a:solidFill>
            <a:srgbClr val="EEF3F5"/>
          </a:solidFill>
          <a:ln/>
        </p:spPr>
      </p:sp>
      <p:sp>
        <p:nvSpPr>
          <p:cNvPr id="13" name="Shape 10"/>
          <p:cNvSpPr/>
          <p:nvPr/>
        </p:nvSpPr>
        <p:spPr>
          <a:xfrm>
            <a:off x="804672" y="3968496"/>
            <a:ext cx="256032" cy="256032"/>
          </a:xfrm>
          <a:prstGeom prst="ellipse">
            <a:avLst/>
          </a:prstGeom>
          <a:solidFill>
            <a:srgbClr val="E29A34"/>
          </a:solidFill>
          <a:ln/>
        </p:spPr>
      </p:sp>
      <p:sp>
        <p:nvSpPr>
          <p:cNvPr id="14" name="Text 11"/>
          <p:cNvSpPr/>
          <p:nvPr/>
        </p:nvSpPr>
        <p:spPr>
          <a:xfrm>
            <a:off x="1207008" y="3648456"/>
            <a:ext cx="6263640" cy="896112"/>
          </a:xfrm>
          <a:prstGeom prst="rect">
            <a:avLst/>
          </a:prstGeom>
          <a:noFill/>
          <a:ln/>
        </p:spPr>
        <p:txBody>
          <a:bodyPr wrap="square" lIns="0" tIns="0" rIns="0" bIns="0" rtlCol="0" anchor="ctr"/>
          <a:lstStyle/>
          <a:p>
            <a:pPr marL="0" indent="0">
              <a:lnSpc>
                <a:spcPts val="1700"/>
              </a:lnSpc>
              <a:buNone/>
            </a:pPr>
            <a:r>
              <a:rPr lang="en-US" sz="1300" b="1" dirty="0">
                <a:solidFill>
                  <a:srgbClr val="17262C"/>
                </a:solidFill>
                <a:latin typeface="Malgun Gothic" pitchFamily="34" charset="0"/>
                <a:ea typeface="Malgun Gothic" pitchFamily="34" charset="-122"/>
                <a:cs typeface="Malgun Gothic" pitchFamily="34" charset="-120"/>
              </a:rPr>
              <a:t>저자 제언  —  </a:t>
            </a:r>
            <a:r>
              <a:rPr lang="en-US" sz="1300" dirty="0">
                <a:solidFill>
                  <a:srgbClr val="2E3B41"/>
                </a:solidFill>
                <a:latin typeface="Malgun Gothic" pitchFamily="34" charset="0"/>
                <a:ea typeface="Malgun Gothic" pitchFamily="34" charset="-122"/>
                <a:cs typeface="Malgun Gothic" pitchFamily="34" charset="-120"/>
              </a:rPr>
              <a:t>코시뮬레이션이 유망 — 구현 부담 ↓, 검증된 패키지로 신뢰성 ↑, 협업 용이</a:t>
            </a:r>
            <a:endParaRPr lang="en-US" sz="1300" dirty="0"/>
          </a:p>
        </p:txBody>
      </p:sp>
      <p:sp>
        <p:nvSpPr>
          <p:cNvPr id="15" name="Shape 12"/>
          <p:cNvSpPr/>
          <p:nvPr/>
        </p:nvSpPr>
        <p:spPr>
          <a:xfrm>
            <a:off x="7863840" y="1600200"/>
            <a:ext cx="3749040" cy="3172968"/>
          </a:xfrm>
          <a:prstGeom prst="roundRect">
            <a:avLst>
              <a:gd name="adj" fmla="val 3458"/>
            </a:avLst>
          </a:prstGeom>
          <a:solidFill>
            <a:srgbClr val="0C3B4A"/>
          </a:solidFill>
          <a:ln/>
          <a:effectLst>
            <a:outerShdw blurRad="88900" dist="38100" dir="5400000" algn="bl" rotWithShape="0">
              <a:srgbClr val="B9C6CE">
                <a:alpha val="30000"/>
              </a:srgbClr>
            </a:outerShdw>
          </a:effectLst>
        </p:spPr>
      </p:sp>
      <p:sp>
        <p:nvSpPr>
          <p:cNvPr id="16" name="Shape 13"/>
          <p:cNvSpPr/>
          <p:nvPr/>
        </p:nvSpPr>
        <p:spPr>
          <a:xfrm>
            <a:off x="8183880" y="1874520"/>
            <a:ext cx="603504" cy="603504"/>
          </a:xfrm>
          <a:prstGeom prst="ellipse">
            <a:avLst/>
          </a:prstGeom>
          <a:solidFill>
            <a:srgbClr val="E29A34"/>
          </a:solidFill>
          <a:ln/>
        </p:spPr>
      </p:sp>
      <p:pic>
        <p:nvPicPr>
          <p:cNvPr id="17" name="Image 1" descr="/tmp/icons2/car.png"/>
          <p:cNvPicPr>
            <a:picLocks noChangeAspect="1"/>
          </p:cNvPicPr>
          <p:nvPr/>
        </p:nvPicPr>
        <p:blipFill>
          <a:blip r:embed="rId4"/>
          <a:stretch>
            <a:fillRect/>
          </a:stretch>
        </p:blipFill>
        <p:spPr>
          <a:xfrm>
            <a:off x="8334756" y="2025396"/>
            <a:ext cx="301752" cy="301752"/>
          </a:xfrm>
          <a:prstGeom prst="rect">
            <a:avLst/>
          </a:prstGeom>
        </p:spPr>
      </p:pic>
      <p:sp>
        <p:nvSpPr>
          <p:cNvPr id="18" name="Text 14"/>
          <p:cNvSpPr/>
          <p:nvPr/>
        </p:nvSpPr>
        <p:spPr>
          <a:xfrm>
            <a:off x="8183880" y="2606040"/>
            <a:ext cx="3108960" cy="320040"/>
          </a:xfrm>
          <a:prstGeom prst="rect">
            <a:avLst/>
          </a:prstGeom>
          <a:noFill/>
          <a:ln/>
        </p:spPr>
        <p:txBody>
          <a:bodyPr wrap="square" rtlCol="0" anchor="ctr"/>
          <a:lstStyle/>
          <a:p>
            <a:pPr marL="0" indent="0">
              <a:buNone/>
            </a:pPr>
            <a:r>
              <a:rPr lang="en-US" sz="1300" b="1" dirty="0">
                <a:solidFill>
                  <a:srgbClr val="E29A34"/>
                </a:solidFill>
                <a:latin typeface="Malgun Gothic" pitchFamily="34" charset="0"/>
                <a:ea typeface="Malgun Gothic" pitchFamily="34" charset="-122"/>
                <a:cs typeface="Malgun Gothic" pitchFamily="34" charset="-120"/>
              </a:rPr>
              <a:t>그중 가장 큰 공백</a:t>
            </a:r>
            <a:endParaRPr lang="en-US" sz="1300" dirty="0"/>
          </a:p>
        </p:txBody>
      </p:sp>
      <p:sp>
        <p:nvSpPr>
          <p:cNvPr id="19" name="Text 15"/>
          <p:cNvSpPr/>
          <p:nvPr/>
        </p:nvSpPr>
        <p:spPr>
          <a:xfrm>
            <a:off x="8183880" y="2971800"/>
            <a:ext cx="3108960" cy="822960"/>
          </a:xfrm>
          <a:prstGeom prst="rect">
            <a:avLst/>
          </a:prstGeom>
          <a:noFill/>
          <a:ln/>
        </p:spPr>
        <p:txBody>
          <a:bodyPr wrap="square" rtlCol="0" anchor="ctr"/>
          <a:lstStyle/>
          <a:p>
            <a:pPr marL="0" indent="0">
              <a:lnSpc>
                <a:spcPts val="2600"/>
              </a:lnSpc>
              <a:buNone/>
            </a:pPr>
            <a:r>
              <a:rPr lang="en-US" sz="2200" b="1" dirty="0">
                <a:solidFill>
                  <a:srgbClr val="FFFFFF"/>
                </a:solidFill>
                <a:latin typeface="Malgun Gothic" pitchFamily="34" charset="0"/>
                <a:ea typeface="Malgun Gothic" pitchFamily="34" charset="-122"/>
                <a:cs typeface="Malgun Gothic" pitchFamily="34" charset="-120"/>
              </a:rPr>
              <a:t>교통 ↔ 에너지</a:t>
            </a:r>
            <a:endParaRPr lang="en-US" sz="2200" dirty="0"/>
          </a:p>
          <a:p>
            <a:pPr marL="0" indent="0">
              <a:lnSpc>
                <a:spcPts val="2600"/>
              </a:lnSpc>
              <a:buNone/>
            </a:pPr>
            <a:r>
              <a:rPr lang="en-US" sz="2200" b="1" dirty="0">
                <a:solidFill>
                  <a:srgbClr val="FFFFFF"/>
                </a:solidFill>
                <a:latin typeface="Malgun Gothic" pitchFamily="34" charset="0"/>
                <a:ea typeface="Malgun Gothic" pitchFamily="34" charset="-122"/>
                <a:cs typeface="Malgun Gothic" pitchFamily="34" charset="-120"/>
              </a:rPr>
              <a:t>통합의 부재</a:t>
            </a:r>
            <a:endParaRPr lang="en-US" sz="2200" dirty="0"/>
          </a:p>
        </p:txBody>
      </p:sp>
      <p:sp>
        <p:nvSpPr>
          <p:cNvPr id="20" name="Text 16"/>
          <p:cNvSpPr/>
          <p:nvPr/>
        </p:nvSpPr>
        <p:spPr>
          <a:xfrm>
            <a:off x="8183880" y="4114800"/>
            <a:ext cx="3108960" cy="457200"/>
          </a:xfrm>
          <a:prstGeom prst="rect">
            <a:avLst/>
          </a:prstGeom>
          <a:noFill/>
          <a:ln/>
        </p:spPr>
        <p:txBody>
          <a:bodyPr wrap="square" rtlCol="0" anchor="ctr"/>
          <a:lstStyle/>
          <a:p>
            <a:pPr marL="0" indent="0">
              <a:buNone/>
            </a:pPr>
            <a:r>
              <a:rPr lang="en-US" sz="1250" i="1" dirty="0">
                <a:solidFill>
                  <a:srgbClr val="AECAD6"/>
                </a:solidFill>
                <a:latin typeface="Malgun Gothic" pitchFamily="34" charset="0"/>
                <a:ea typeface="Malgun Gothic" pitchFamily="34" charset="-122"/>
                <a:cs typeface="Malgun Gothic" pitchFamily="34" charset="-120"/>
              </a:rPr>
              <a:t>→ 이번 제안이 겨냥하는 지점</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25296" y="457200"/>
            <a:ext cx="10387584" cy="274320"/>
          </a:xfrm>
          <a:prstGeom prst="rect">
            <a:avLst/>
          </a:prstGeom>
          <a:noFill/>
          <a:ln/>
        </p:spPr>
        <p:txBody>
          <a:bodyPr wrap="square" rtlCol="0" anchor="ctr"/>
          <a:lstStyle/>
          <a:p>
            <a:pPr marL="0" indent="0">
              <a:buNone/>
            </a:pPr>
            <a:r>
              <a:rPr lang="en-US" sz="1100" b="1" kern="0" spc="200" dirty="0">
                <a:solidFill>
                  <a:srgbClr val="1C7293"/>
                </a:solidFill>
                <a:latin typeface="Malgun Gothic" pitchFamily="34" charset="0"/>
                <a:ea typeface="Malgun Gothic" pitchFamily="34" charset="-122"/>
                <a:cs typeface="Malgun Gothic" pitchFamily="34" charset="-120"/>
              </a:rPr>
              <a:t>OBJECTIVE · 이번 발표 목표</a:t>
            </a:r>
            <a:endParaRPr lang="en-US" sz="1100" dirty="0"/>
          </a:p>
        </p:txBody>
      </p:sp>
      <p:sp>
        <p:nvSpPr>
          <p:cNvPr id="3" name="Shape 1"/>
          <p:cNvSpPr/>
          <p:nvPr/>
        </p:nvSpPr>
        <p:spPr>
          <a:xfrm>
            <a:off x="548640" y="475488"/>
            <a:ext cx="548640" cy="548640"/>
          </a:xfrm>
          <a:prstGeom prst="ellipse">
            <a:avLst/>
          </a:prstGeom>
          <a:solidFill>
            <a:srgbClr val="0C3B4A"/>
          </a:solidFill>
          <a:ln/>
        </p:spPr>
      </p:sp>
      <p:pic>
        <p:nvPicPr>
          <p:cNvPr id="4" name="Image 0" descr="/tmp/icons2/bullseye.png"/>
          <p:cNvPicPr>
            <a:picLocks noChangeAspect="1"/>
          </p:cNvPicPr>
          <p:nvPr/>
        </p:nvPicPr>
        <p:blipFill>
          <a:blip r:embed="rId3"/>
          <a:stretch>
            <a:fillRect/>
          </a:stretch>
        </p:blipFill>
        <p:spPr>
          <a:xfrm>
            <a:off x="685800" y="612648"/>
            <a:ext cx="274320" cy="274320"/>
          </a:xfrm>
          <a:prstGeom prst="rect">
            <a:avLst/>
          </a:prstGeom>
        </p:spPr>
      </p:pic>
      <p:sp>
        <p:nvSpPr>
          <p:cNvPr id="5" name="Text 2"/>
          <p:cNvSpPr/>
          <p:nvPr/>
        </p:nvSpPr>
        <p:spPr>
          <a:xfrm>
            <a:off x="1225296" y="713232"/>
            <a:ext cx="10387584" cy="457200"/>
          </a:xfrm>
          <a:prstGeom prst="rect">
            <a:avLst/>
          </a:prstGeom>
          <a:noFill/>
          <a:ln/>
        </p:spPr>
        <p:txBody>
          <a:bodyPr wrap="square" rtlCol="0" anchor="ctr"/>
          <a:lstStyle/>
          <a:p>
            <a:pPr marL="0" indent="0">
              <a:buNone/>
            </a:pPr>
            <a:r>
              <a:rPr lang="en-US" sz="2600" b="1" dirty="0" err="1">
                <a:solidFill>
                  <a:srgbClr val="17262C"/>
                </a:solidFill>
                <a:latin typeface="Malgun Gothic" pitchFamily="34" charset="0"/>
                <a:ea typeface="Malgun Gothic" pitchFamily="34" charset="-122"/>
                <a:cs typeface="Malgun Gothic" pitchFamily="34" charset="-120"/>
              </a:rPr>
              <a:t>제안</a:t>
            </a:r>
            <a:endParaRPr lang="en-US" sz="2600" dirty="0"/>
          </a:p>
        </p:txBody>
      </p:sp>
      <p:sp>
        <p:nvSpPr>
          <p:cNvPr id="6" name="Text 3"/>
          <p:cNvSpPr/>
          <p:nvPr/>
        </p:nvSpPr>
        <p:spPr>
          <a:xfrm>
            <a:off x="1225296" y="1188720"/>
            <a:ext cx="10387584" cy="310896"/>
          </a:xfrm>
          <a:prstGeom prst="rect">
            <a:avLst/>
          </a:prstGeom>
          <a:noFill/>
          <a:ln/>
        </p:spPr>
        <p:txBody>
          <a:bodyPr wrap="square" rtlCol="0" anchor="ctr"/>
          <a:lstStyle/>
          <a:p>
            <a:pPr marL="0" indent="0">
              <a:buNone/>
            </a:pPr>
            <a:r>
              <a:rPr lang="en-US" sz="1250" i="1" dirty="0">
                <a:solidFill>
                  <a:srgbClr val="6C7C82"/>
                </a:solidFill>
                <a:latin typeface="Malgun Gothic" pitchFamily="34" charset="0"/>
                <a:ea typeface="Malgun Gothic" pitchFamily="34" charset="-122"/>
                <a:cs typeface="Malgun Gothic" pitchFamily="34" charset="-120"/>
              </a:rPr>
              <a:t> 무엇을, 어떤 도구로 </a:t>
            </a:r>
            <a:r>
              <a:rPr lang="en-US" sz="1250" i="1" dirty="0" err="1">
                <a:solidFill>
                  <a:srgbClr val="6C7C82"/>
                </a:solidFill>
                <a:latin typeface="Malgun Gothic" pitchFamily="34" charset="0"/>
                <a:ea typeface="Malgun Gothic" pitchFamily="34" charset="-122"/>
                <a:cs typeface="Malgun Gothic" pitchFamily="34" charset="-120"/>
              </a:rPr>
              <a:t>코시뮬레이션할지</a:t>
            </a:r>
            <a:r>
              <a:rPr lang="en-US" sz="1250" i="1" dirty="0">
                <a:solidFill>
                  <a:srgbClr val="6C7C82"/>
                </a:solidFill>
                <a:latin typeface="Malgun Gothic" pitchFamily="34" charset="0"/>
                <a:ea typeface="Malgun Gothic" pitchFamily="34" charset="-122"/>
                <a:cs typeface="Malgun Gothic" pitchFamily="34" charset="-120"/>
              </a:rPr>
              <a:t> </a:t>
            </a:r>
            <a:r>
              <a:rPr lang="en-US" sz="1250" i="1" dirty="0" err="1">
                <a:solidFill>
                  <a:srgbClr val="6C7C82"/>
                </a:solidFill>
                <a:latin typeface="Malgun Gothic" pitchFamily="34" charset="0"/>
                <a:ea typeface="Malgun Gothic" pitchFamily="34" charset="-122"/>
                <a:cs typeface="Malgun Gothic" pitchFamily="34" charset="-120"/>
              </a:rPr>
              <a:t>제안하기</a:t>
            </a:r>
            <a:r>
              <a:rPr lang="en-US" sz="1250" i="1" dirty="0">
                <a:solidFill>
                  <a:srgbClr val="6C7C82"/>
                </a:solidFill>
                <a:latin typeface="Malgun Gothic" pitchFamily="34" charset="0"/>
                <a:ea typeface="Malgun Gothic" pitchFamily="34" charset="-122"/>
                <a:cs typeface="Malgun Gothic" pitchFamily="34" charset="-120"/>
              </a:rPr>
              <a:t>.</a:t>
            </a:r>
            <a:endParaRPr lang="en-US" sz="1250" dirty="0"/>
          </a:p>
        </p:txBody>
      </p:sp>
      <p:sp>
        <p:nvSpPr>
          <p:cNvPr id="7" name="Shape 4"/>
          <p:cNvSpPr/>
          <p:nvPr/>
        </p:nvSpPr>
        <p:spPr>
          <a:xfrm>
            <a:off x="548640" y="1783080"/>
            <a:ext cx="5349240" cy="3200400"/>
          </a:xfrm>
          <a:prstGeom prst="roundRect">
            <a:avLst>
              <a:gd name="adj" fmla="val 3429"/>
            </a:avLst>
          </a:prstGeom>
          <a:solidFill>
            <a:srgbClr val="1C7293"/>
          </a:solidFill>
          <a:ln/>
          <a:effectLst>
            <a:outerShdw blurRad="88900" dist="38100" dir="5400000" algn="bl" rotWithShape="0">
              <a:srgbClr val="B9C6CE">
                <a:alpha val="30000"/>
              </a:srgbClr>
            </a:outerShdw>
          </a:effectLst>
        </p:spPr>
      </p:sp>
      <p:sp>
        <p:nvSpPr>
          <p:cNvPr id="8" name="Text 5"/>
          <p:cNvSpPr/>
          <p:nvPr/>
        </p:nvSpPr>
        <p:spPr>
          <a:xfrm>
            <a:off x="868680" y="2011680"/>
            <a:ext cx="1097280" cy="548640"/>
          </a:xfrm>
          <a:prstGeom prst="rect">
            <a:avLst/>
          </a:prstGeom>
          <a:noFill/>
          <a:ln/>
        </p:spPr>
        <p:txBody>
          <a:bodyPr wrap="square" rtlCol="0" anchor="ctr"/>
          <a:lstStyle/>
          <a:p>
            <a:pPr marL="0" indent="0">
              <a:buNone/>
            </a:pPr>
            <a:r>
              <a:rPr lang="en-US" sz="3000" b="1" dirty="0">
                <a:solidFill>
                  <a:srgbClr val="BFE0EC"/>
                </a:solidFill>
                <a:latin typeface="Malgun Gothic" pitchFamily="34" charset="0"/>
                <a:ea typeface="Malgun Gothic" pitchFamily="34" charset="-122"/>
                <a:cs typeface="Malgun Gothic" pitchFamily="34" charset="-120"/>
              </a:rPr>
              <a:t>Q1</a:t>
            </a:r>
            <a:endParaRPr lang="en-US" sz="3000" dirty="0"/>
          </a:p>
        </p:txBody>
      </p:sp>
      <p:sp>
        <p:nvSpPr>
          <p:cNvPr id="9" name="Shape 6"/>
          <p:cNvSpPr/>
          <p:nvPr/>
        </p:nvSpPr>
        <p:spPr>
          <a:xfrm>
            <a:off x="4709160" y="2057400"/>
            <a:ext cx="822960" cy="822960"/>
          </a:xfrm>
          <a:prstGeom prst="ellipse">
            <a:avLst/>
          </a:prstGeom>
          <a:solidFill>
            <a:srgbClr val="0E5E77"/>
          </a:solidFill>
          <a:ln/>
        </p:spPr>
      </p:sp>
      <p:pic>
        <p:nvPicPr>
          <p:cNvPr id="10" name="Image 1" descr="/tmp/icons2/battery.png"/>
          <p:cNvPicPr>
            <a:picLocks noChangeAspect="1"/>
          </p:cNvPicPr>
          <p:nvPr/>
        </p:nvPicPr>
        <p:blipFill>
          <a:blip r:embed="rId4"/>
          <a:stretch>
            <a:fillRect/>
          </a:stretch>
        </p:blipFill>
        <p:spPr>
          <a:xfrm>
            <a:off x="4914900" y="2263140"/>
            <a:ext cx="411480" cy="411480"/>
          </a:xfrm>
          <a:prstGeom prst="rect">
            <a:avLst/>
          </a:prstGeom>
        </p:spPr>
      </p:pic>
      <p:sp>
        <p:nvSpPr>
          <p:cNvPr id="11" name="Text 7"/>
          <p:cNvSpPr/>
          <p:nvPr/>
        </p:nvSpPr>
        <p:spPr>
          <a:xfrm>
            <a:off x="896112" y="2788920"/>
            <a:ext cx="4663440" cy="1097280"/>
          </a:xfrm>
          <a:prstGeom prst="rect">
            <a:avLst/>
          </a:prstGeom>
          <a:noFill/>
          <a:ln/>
        </p:spPr>
        <p:txBody>
          <a:bodyPr wrap="square" rtlCol="0" anchor="ctr"/>
          <a:lstStyle/>
          <a:p>
            <a:pPr marL="0" indent="0">
              <a:lnSpc>
                <a:spcPts val="2400"/>
              </a:lnSpc>
              <a:buNone/>
            </a:pPr>
            <a:r>
              <a:rPr lang="en-US" sz="1900" b="1" dirty="0">
                <a:solidFill>
                  <a:srgbClr val="FFFFFF"/>
                </a:solidFill>
                <a:latin typeface="Malgun Gothic" pitchFamily="34" charset="0"/>
                <a:ea typeface="Malgun Gothic" pitchFamily="34" charset="-122"/>
                <a:cs typeface="Malgun Gothic" pitchFamily="34" charset="-120"/>
              </a:rPr>
              <a:t>우리 DTUMOS에</a:t>
            </a:r>
            <a:endParaRPr lang="en-US" sz="1900" dirty="0"/>
          </a:p>
          <a:p>
            <a:pPr marL="0" indent="0">
              <a:lnSpc>
                <a:spcPts val="2400"/>
              </a:lnSpc>
              <a:buNone/>
            </a:pPr>
            <a:r>
              <a:rPr lang="en-US" sz="1900" b="1" dirty="0">
                <a:solidFill>
                  <a:srgbClr val="FFFFFF"/>
                </a:solidFill>
                <a:latin typeface="Malgun Gothic" pitchFamily="34" charset="0"/>
                <a:ea typeface="Malgun Gothic" pitchFamily="34" charset="-122"/>
                <a:cs typeface="Malgun Gothic" pitchFamily="34" charset="-120"/>
              </a:rPr>
              <a:t>어떤 에너지 모듈을 추가할까?</a:t>
            </a:r>
            <a:endParaRPr lang="en-US" sz="1900" dirty="0"/>
          </a:p>
        </p:txBody>
      </p:sp>
      <p:sp>
        <p:nvSpPr>
          <p:cNvPr id="12" name="Text 8"/>
          <p:cNvSpPr/>
          <p:nvPr/>
        </p:nvSpPr>
        <p:spPr>
          <a:xfrm>
            <a:off x="896112" y="4160520"/>
            <a:ext cx="4663440" cy="640080"/>
          </a:xfrm>
          <a:prstGeom prst="rect">
            <a:avLst/>
          </a:prstGeom>
          <a:noFill/>
          <a:ln/>
        </p:spPr>
        <p:txBody>
          <a:bodyPr wrap="square" rtlCol="0" anchor="ctr"/>
          <a:lstStyle/>
          <a:p>
            <a:pPr marL="0" indent="0">
              <a:buNone/>
            </a:pPr>
            <a:r>
              <a:rPr lang="en-US" sz="1250" i="1" dirty="0">
                <a:solidFill>
                  <a:srgbClr val="DDEEF3"/>
                </a:solidFill>
                <a:latin typeface="Malgun Gothic" pitchFamily="34" charset="0"/>
                <a:ea typeface="Malgun Gothic" pitchFamily="34" charset="-122"/>
                <a:cs typeface="Malgun Gothic" pitchFamily="34" charset="-120"/>
              </a:rPr>
              <a:t>지금 DTUMOS엔 에너지 모델링이 전혀 없다</a:t>
            </a:r>
            <a:endParaRPr lang="en-US" sz="1250" dirty="0"/>
          </a:p>
        </p:txBody>
      </p:sp>
      <p:sp>
        <p:nvSpPr>
          <p:cNvPr id="13" name="Shape 9"/>
          <p:cNvSpPr/>
          <p:nvPr/>
        </p:nvSpPr>
        <p:spPr>
          <a:xfrm>
            <a:off x="6172200" y="1783080"/>
            <a:ext cx="5349240" cy="3200400"/>
          </a:xfrm>
          <a:prstGeom prst="roundRect">
            <a:avLst>
              <a:gd name="adj" fmla="val 3429"/>
            </a:avLst>
          </a:prstGeom>
          <a:solidFill>
            <a:srgbClr val="0C3B4A"/>
          </a:solidFill>
          <a:ln/>
          <a:effectLst>
            <a:outerShdw blurRad="88900" dist="38100" dir="5400000" algn="bl" rotWithShape="0">
              <a:srgbClr val="B9C6CE">
                <a:alpha val="30000"/>
              </a:srgbClr>
            </a:outerShdw>
          </a:effectLst>
        </p:spPr>
      </p:sp>
      <p:sp>
        <p:nvSpPr>
          <p:cNvPr id="14" name="Text 10"/>
          <p:cNvSpPr/>
          <p:nvPr/>
        </p:nvSpPr>
        <p:spPr>
          <a:xfrm>
            <a:off x="6492240" y="2011680"/>
            <a:ext cx="1097280" cy="548640"/>
          </a:xfrm>
          <a:prstGeom prst="rect">
            <a:avLst/>
          </a:prstGeom>
          <a:noFill/>
          <a:ln/>
        </p:spPr>
        <p:txBody>
          <a:bodyPr wrap="square" rtlCol="0" anchor="ctr"/>
          <a:lstStyle/>
          <a:p>
            <a:pPr marL="0" indent="0">
              <a:buNone/>
            </a:pPr>
            <a:r>
              <a:rPr lang="en-US" sz="3000" b="1" dirty="0">
                <a:solidFill>
                  <a:srgbClr val="E29A34"/>
                </a:solidFill>
                <a:latin typeface="Malgun Gothic" pitchFamily="34" charset="0"/>
                <a:ea typeface="Malgun Gothic" pitchFamily="34" charset="-122"/>
                <a:cs typeface="Malgun Gothic" pitchFamily="34" charset="-120"/>
              </a:rPr>
              <a:t>Q2</a:t>
            </a:r>
            <a:endParaRPr lang="en-US" sz="3000" dirty="0"/>
          </a:p>
        </p:txBody>
      </p:sp>
      <p:sp>
        <p:nvSpPr>
          <p:cNvPr id="15" name="Shape 11"/>
          <p:cNvSpPr/>
          <p:nvPr/>
        </p:nvSpPr>
        <p:spPr>
          <a:xfrm>
            <a:off x="10332720" y="2057400"/>
            <a:ext cx="822960" cy="822960"/>
          </a:xfrm>
          <a:prstGeom prst="ellipse">
            <a:avLst/>
          </a:prstGeom>
          <a:solidFill>
            <a:srgbClr val="163B49"/>
          </a:solidFill>
          <a:ln/>
        </p:spPr>
      </p:sp>
      <p:pic>
        <p:nvPicPr>
          <p:cNvPr id="16" name="Image 2" descr="/tmp/icons2/diagram.png"/>
          <p:cNvPicPr>
            <a:picLocks noChangeAspect="1"/>
          </p:cNvPicPr>
          <p:nvPr/>
        </p:nvPicPr>
        <p:blipFill>
          <a:blip r:embed="rId5"/>
          <a:stretch>
            <a:fillRect/>
          </a:stretch>
        </p:blipFill>
        <p:spPr>
          <a:xfrm>
            <a:off x="10538460" y="2263140"/>
            <a:ext cx="411480" cy="411480"/>
          </a:xfrm>
          <a:prstGeom prst="rect">
            <a:avLst/>
          </a:prstGeom>
        </p:spPr>
      </p:pic>
      <p:sp>
        <p:nvSpPr>
          <p:cNvPr id="17" name="Text 12"/>
          <p:cNvSpPr/>
          <p:nvPr/>
        </p:nvSpPr>
        <p:spPr>
          <a:xfrm>
            <a:off x="6519672" y="2788920"/>
            <a:ext cx="4663440" cy="1097280"/>
          </a:xfrm>
          <a:prstGeom prst="rect">
            <a:avLst/>
          </a:prstGeom>
          <a:noFill/>
          <a:ln/>
        </p:spPr>
        <p:txBody>
          <a:bodyPr wrap="square" rtlCol="0" anchor="ctr"/>
          <a:lstStyle/>
          <a:p>
            <a:pPr marL="0" indent="0">
              <a:lnSpc>
                <a:spcPts val="2400"/>
              </a:lnSpc>
              <a:buNone/>
            </a:pPr>
            <a:r>
              <a:rPr lang="en-US" sz="1900" b="1" dirty="0">
                <a:solidFill>
                  <a:srgbClr val="FFFFFF"/>
                </a:solidFill>
                <a:latin typeface="Malgun Gothic" pitchFamily="34" charset="0"/>
                <a:ea typeface="Malgun Gothic" pitchFamily="34" charset="-122"/>
                <a:cs typeface="Malgun Gothic" pitchFamily="34" charset="-120"/>
              </a:rPr>
              <a:t>DTUMOS를 어떤 오픈소스</a:t>
            </a:r>
            <a:endParaRPr lang="en-US" sz="1900" dirty="0"/>
          </a:p>
          <a:p>
            <a:pPr marL="0" indent="0">
              <a:lnSpc>
                <a:spcPts val="2400"/>
              </a:lnSpc>
              <a:buNone/>
            </a:pPr>
            <a:r>
              <a:rPr lang="en-US" sz="1900" b="1" dirty="0">
                <a:solidFill>
                  <a:srgbClr val="FFFFFF"/>
                </a:solidFill>
                <a:latin typeface="Malgun Gothic" pitchFamily="34" charset="0"/>
                <a:ea typeface="Malgun Gothic" pitchFamily="34" charset="-122"/>
                <a:cs typeface="Malgun Gothic" pitchFamily="34" charset="-120"/>
              </a:rPr>
              <a:t>시뮬레이터와 연결할까?</a:t>
            </a:r>
            <a:endParaRPr lang="en-US" sz="1900" dirty="0"/>
          </a:p>
        </p:txBody>
      </p:sp>
      <p:sp>
        <p:nvSpPr>
          <p:cNvPr id="18" name="Text 13"/>
          <p:cNvSpPr/>
          <p:nvPr/>
        </p:nvSpPr>
        <p:spPr>
          <a:xfrm>
            <a:off x="6519672" y="4160520"/>
            <a:ext cx="4663440" cy="640080"/>
          </a:xfrm>
          <a:prstGeom prst="rect">
            <a:avLst/>
          </a:prstGeom>
          <a:noFill/>
          <a:ln/>
        </p:spPr>
        <p:txBody>
          <a:bodyPr wrap="square" rtlCol="0" anchor="ctr"/>
          <a:lstStyle/>
          <a:p>
            <a:pPr marL="0" indent="0">
              <a:buNone/>
            </a:pPr>
            <a:r>
              <a:rPr lang="en-US" sz="1250" i="1" dirty="0">
                <a:solidFill>
                  <a:srgbClr val="AECAD6"/>
                </a:solidFill>
                <a:latin typeface="Malgun Gothic" pitchFamily="34" charset="0"/>
                <a:ea typeface="Malgun Gothic" pitchFamily="34" charset="-122"/>
                <a:cs typeface="Malgun Gothic" pitchFamily="34" charset="-120"/>
              </a:rPr>
              <a:t>실제로 쓸 수 있는 오픈소스 SOTA 도구로</a:t>
            </a:r>
            <a:endParaRPr lang="en-US" sz="1250" dirty="0"/>
          </a:p>
        </p:txBody>
      </p:sp>
      <p:sp>
        <p:nvSpPr>
          <p:cNvPr id="19" name="Shape 14"/>
          <p:cNvSpPr/>
          <p:nvPr/>
        </p:nvSpPr>
        <p:spPr>
          <a:xfrm>
            <a:off x="548640" y="5212080"/>
            <a:ext cx="11064240" cy="960120"/>
          </a:xfrm>
          <a:prstGeom prst="roundRect">
            <a:avLst>
              <a:gd name="adj" fmla="val 9524"/>
            </a:avLst>
          </a:prstGeom>
          <a:solidFill>
            <a:srgbClr val="EEF3F5"/>
          </a:solidFill>
          <a:ln/>
        </p:spPr>
      </p:sp>
      <p:sp>
        <p:nvSpPr>
          <p:cNvPr id="20" name="Text 15"/>
          <p:cNvSpPr/>
          <p:nvPr/>
        </p:nvSpPr>
        <p:spPr>
          <a:xfrm>
            <a:off x="868680" y="5212080"/>
            <a:ext cx="10424160" cy="960120"/>
          </a:xfrm>
          <a:prstGeom prst="rect">
            <a:avLst/>
          </a:prstGeom>
          <a:noFill/>
          <a:ln/>
        </p:spPr>
        <p:txBody>
          <a:bodyPr wrap="square" rtlCol="0" anchor="ctr"/>
          <a:lstStyle/>
          <a:p>
            <a:pPr marL="0" indent="0">
              <a:lnSpc>
                <a:spcPts val="1800"/>
              </a:lnSpc>
              <a:buNone/>
            </a:pPr>
            <a:r>
              <a:rPr lang="en-US" sz="1350" b="1" dirty="0">
                <a:solidFill>
                  <a:srgbClr val="B97C22"/>
                </a:solidFill>
                <a:latin typeface="Malgun Gothic" pitchFamily="34" charset="0"/>
                <a:ea typeface="Malgun Gothic" pitchFamily="34" charset="-122"/>
                <a:cs typeface="Malgun Gothic" pitchFamily="34" charset="-120"/>
              </a:rPr>
              <a:t>핵심 원칙  </a:t>
            </a:r>
            <a:r>
              <a:rPr lang="en-US" sz="1350" dirty="0">
                <a:solidFill>
                  <a:srgbClr val="2E3B41"/>
                </a:solidFill>
                <a:latin typeface="Malgun Gothic" pitchFamily="34" charset="0"/>
                <a:ea typeface="Malgun Gothic" pitchFamily="34" charset="-122"/>
                <a:cs typeface="Malgun Gothic" pitchFamily="34" charset="-120"/>
              </a:rPr>
              <a:t>— 논문에 나온 도구가 실제로 살아있는지(오픈소스·무료·활발) 확인하고, 검증된 도구를 재활용한다.</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25296" y="457200"/>
            <a:ext cx="10387584" cy="274320"/>
          </a:xfrm>
          <a:prstGeom prst="rect">
            <a:avLst/>
          </a:prstGeom>
          <a:noFill/>
          <a:ln/>
        </p:spPr>
        <p:txBody>
          <a:bodyPr wrap="square" rtlCol="0" anchor="ctr"/>
          <a:lstStyle/>
          <a:p>
            <a:pPr marL="0" indent="0">
              <a:buNone/>
            </a:pPr>
            <a:r>
              <a:rPr lang="en-US" sz="1100" b="1" kern="0" spc="200" dirty="0">
                <a:solidFill>
                  <a:srgbClr val="1C7293"/>
                </a:solidFill>
                <a:latin typeface="Malgun Gothic" pitchFamily="34" charset="0"/>
                <a:ea typeface="Malgun Gothic" pitchFamily="34" charset="-122"/>
                <a:cs typeface="Malgun Gothic" pitchFamily="34" charset="-120"/>
              </a:rPr>
              <a:t>APPROACH · 접근 방법</a:t>
            </a:r>
            <a:endParaRPr lang="en-US" sz="1100" dirty="0"/>
          </a:p>
        </p:txBody>
      </p:sp>
      <p:sp>
        <p:nvSpPr>
          <p:cNvPr id="3" name="Shape 1"/>
          <p:cNvSpPr/>
          <p:nvPr/>
        </p:nvSpPr>
        <p:spPr>
          <a:xfrm>
            <a:off x="548640" y="475488"/>
            <a:ext cx="548640" cy="548640"/>
          </a:xfrm>
          <a:prstGeom prst="ellipse">
            <a:avLst/>
          </a:prstGeom>
          <a:solidFill>
            <a:srgbClr val="0C3B4A"/>
          </a:solidFill>
          <a:ln/>
        </p:spPr>
      </p:sp>
      <p:pic>
        <p:nvPicPr>
          <p:cNvPr id="4" name="Image 0" descr="/tmp/icons2/link.png"/>
          <p:cNvPicPr>
            <a:picLocks noChangeAspect="1"/>
          </p:cNvPicPr>
          <p:nvPr/>
        </p:nvPicPr>
        <p:blipFill>
          <a:blip r:embed="rId3"/>
          <a:stretch>
            <a:fillRect/>
          </a:stretch>
        </p:blipFill>
        <p:spPr>
          <a:xfrm>
            <a:off x="685800" y="612648"/>
            <a:ext cx="274320" cy="274320"/>
          </a:xfrm>
          <a:prstGeom prst="rect">
            <a:avLst/>
          </a:prstGeom>
        </p:spPr>
      </p:pic>
      <p:sp>
        <p:nvSpPr>
          <p:cNvPr id="5" name="Text 2"/>
          <p:cNvSpPr/>
          <p:nvPr/>
        </p:nvSpPr>
        <p:spPr>
          <a:xfrm>
            <a:off x="1225296" y="713232"/>
            <a:ext cx="10387584" cy="457200"/>
          </a:xfrm>
          <a:prstGeom prst="rect">
            <a:avLst/>
          </a:prstGeom>
          <a:noFill/>
          <a:ln/>
        </p:spPr>
        <p:txBody>
          <a:bodyPr wrap="square" rtlCol="0" anchor="ctr"/>
          <a:lstStyle/>
          <a:p>
            <a:pPr marL="0" indent="0">
              <a:buNone/>
            </a:pPr>
            <a:r>
              <a:rPr lang="en-US" sz="2600" b="1" dirty="0">
                <a:solidFill>
                  <a:srgbClr val="17262C"/>
                </a:solidFill>
                <a:latin typeface="Malgun Gothic" pitchFamily="34" charset="0"/>
                <a:ea typeface="Malgun Gothic" pitchFamily="34" charset="-122"/>
                <a:cs typeface="Malgun Gothic" pitchFamily="34" charset="-120"/>
              </a:rPr>
              <a:t>왜 코시뮬레이션인가</a:t>
            </a:r>
            <a:endParaRPr lang="en-US" sz="2600" dirty="0"/>
          </a:p>
        </p:txBody>
      </p:sp>
      <p:sp>
        <p:nvSpPr>
          <p:cNvPr id="6" name="Shape 3"/>
          <p:cNvSpPr/>
          <p:nvPr/>
        </p:nvSpPr>
        <p:spPr>
          <a:xfrm>
            <a:off x="548640" y="1600200"/>
            <a:ext cx="5486400" cy="4572000"/>
          </a:xfrm>
          <a:prstGeom prst="roundRect">
            <a:avLst>
              <a:gd name="adj" fmla="val 2400"/>
            </a:avLst>
          </a:prstGeom>
          <a:solidFill>
            <a:srgbClr val="EEF3F5"/>
          </a:solidFill>
          <a:ln/>
        </p:spPr>
      </p:sp>
      <p:sp>
        <p:nvSpPr>
          <p:cNvPr id="7" name="Text 4"/>
          <p:cNvSpPr/>
          <p:nvPr/>
        </p:nvSpPr>
        <p:spPr>
          <a:xfrm>
            <a:off x="868680" y="1783080"/>
            <a:ext cx="4572000" cy="320040"/>
          </a:xfrm>
          <a:prstGeom prst="rect">
            <a:avLst/>
          </a:prstGeom>
          <a:noFill/>
          <a:ln/>
        </p:spPr>
        <p:txBody>
          <a:bodyPr wrap="square" rtlCol="0" anchor="ctr"/>
          <a:lstStyle/>
          <a:p>
            <a:pPr marL="0" indent="0">
              <a:buNone/>
            </a:pPr>
            <a:r>
              <a:rPr lang="en-US" sz="1400" b="1" dirty="0">
                <a:solidFill>
                  <a:srgbClr val="1C7293"/>
                </a:solidFill>
                <a:latin typeface="Malgun Gothic" pitchFamily="34" charset="0"/>
                <a:ea typeface="Malgun Gothic" pitchFamily="34" charset="-122"/>
                <a:cs typeface="Malgun Gothic" pitchFamily="34" charset="-120"/>
              </a:rPr>
              <a:t>핵심 아이디어</a:t>
            </a:r>
            <a:endParaRPr lang="en-US" sz="1400" dirty="0"/>
          </a:p>
        </p:txBody>
      </p:sp>
      <p:sp>
        <p:nvSpPr>
          <p:cNvPr id="8" name="Text 5"/>
          <p:cNvSpPr/>
          <p:nvPr/>
        </p:nvSpPr>
        <p:spPr>
          <a:xfrm>
            <a:off x="868680" y="2194560"/>
            <a:ext cx="4846320" cy="1828800"/>
          </a:xfrm>
          <a:prstGeom prst="rect">
            <a:avLst/>
          </a:prstGeom>
          <a:noFill/>
          <a:ln/>
        </p:spPr>
        <p:txBody>
          <a:bodyPr wrap="square" rtlCol="0" anchor="t"/>
          <a:lstStyle/>
          <a:p>
            <a:pPr marL="0" indent="0">
              <a:lnSpc>
                <a:spcPts val="2200"/>
              </a:lnSpc>
              <a:buNone/>
            </a:pPr>
            <a:r>
              <a:rPr lang="en-US" sz="1450" b="1" dirty="0">
                <a:solidFill>
                  <a:srgbClr val="17262C"/>
                </a:solidFill>
                <a:latin typeface="Malgun Gothic" pitchFamily="34" charset="0"/>
                <a:ea typeface="Malgun Gothic" pitchFamily="34" charset="-122"/>
                <a:cs typeface="Malgun Gothic" pitchFamily="34" charset="-120"/>
              </a:rPr>
              <a:t>전부 새로 만들지 않는다.</a:t>
            </a:r>
            <a:endParaRPr lang="en-US" sz="1450" dirty="0"/>
          </a:p>
          <a:p>
            <a:pPr marL="0" indent="0">
              <a:lnSpc>
                <a:spcPts val="2200"/>
              </a:lnSpc>
              <a:buNone/>
            </a:pPr>
            <a:r>
              <a:rPr lang="en-US" sz="1450" dirty="0">
                <a:solidFill>
                  <a:srgbClr val="2E3B41"/>
                </a:solidFill>
                <a:latin typeface="Malgun Gothic" pitchFamily="34" charset="0"/>
                <a:ea typeface="Malgun Gothic" pitchFamily="34" charset="-122"/>
                <a:cs typeface="Malgun Gothic" pitchFamily="34" charset="-120"/>
              </a:rPr>
              <a:t>각 분야의 검증된 도구를 그대로 두고, 실행 도중 </a:t>
            </a:r>
            <a:r>
              <a:rPr lang="en-US" sz="1450" b="1" dirty="0">
                <a:solidFill>
                  <a:srgbClr val="1C7293"/>
                </a:solidFill>
                <a:latin typeface="Malgun Gothic" pitchFamily="34" charset="0"/>
                <a:ea typeface="Malgun Gothic" pitchFamily="34" charset="-122"/>
                <a:cs typeface="Malgun Gothic" pitchFamily="34" charset="-120"/>
              </a:rPr>
              <a:t>매 시간 단계마다 데이터를 </a:t>
            </a:r>
            <a:r>
              <a:rPr lang="en-US" sz="1450" b="1" dirty="0" err="1">
                <a:solidFill>
                  <a:srgbClr val="1C7293"/>
                </a:solidFill>
                <a:latin typeface="Malgun Gothic" pitchFamily="34" charset="0"/>
                <a:ea typeface="Malgun Gothic" pitchFamily="34" charset="-122"/>
                <a:cs typeface="Malgun Gothic" pitchFamily="34" charset="-120"/>
              </a:rPr>
              <a:t>주고받게</a:t>
            </a:r>
            <a:r>
              <a:rPr lang="en-US" sz="1450" dirty="0">
                <a:solidFill>
                  <a:srgbClr val="2E3B41"/>
                </a:solidFill>
                <a:latin typeface="Malgun Gothic" pitchFamily="34" charset="0"/>
                <a:ea typeface="Malgun Gothic" pitchFamily="34" charset="-122"/>
                <a:cs typeface="Malgun Gothic" pitchFamily="34" charset="-120"/>
              </a:rPr>
              <a:t> </a:t>
            </a:r>
            <a:r>
              <a:rPr lang="en-US" sz="1450" dirty="0" err="1">
                <a:solidFill>
                  <a:srgbClr val="2E3B41"/>
                </a:solidFill>
                <a:latin typeface="Malgun Gothic" pitchFamily="34" charset="0"/>
                <a:ea typeface="Malgun Gothic" pitchFamily="34" charset="-122"/>
                <a:cs typeface="Malgun Gothic" pitchFamily="34" charset="-120"/>
              </a:rPr>
              <a:t>연결</a:t>
            </a:r>
            <a:endParaRPr lang="en-US" sz="1450" dirty="0"/>
          </a:p>
          <a:p>
            <a:pPr marL="0" indent="0">
              <a:lnSpc>
                <a:spcPts val="2200"/>
              </a:lnSpc>
              <a:buNone/>
            </a:pPr>
            <a:r>
              <a:rPr lang="en-US" sz="800" dirty="0">
                <a:solidFill>
                  <a:srgbClr val="000000"/>
                </a:solidFill>
                <a:latin typeface="Malgun Gothic" pitchFamily="34" charset="0"/>
                <a:ea typeface="Malgun Gothic" pitchFamily="34" charset="-122"/>
                <a:cs typeface="Malgun Gothic" pitchFamily="34" charset="-120"/>
              </a:rPr>
              <a:t> </a:t>
            </a:r>
            <a:endParaRPr lang="en-US" sz="1450" dirty="0"/>
          </a:p>
          <a:p>
            <a:pPr marL="0" indent="0">
              <a:lnSpc>
                <a:spcPts val="2200"/>
              </a:lnSpc>
              <a:buNone/>
            </a:pPr>
            <a:r>
              <a:rPr lang="en-US" sz="1450" b="1" dirty="0">
                <a:solidFill>
                  <a:srgbClr val="B97C22"/>
                </a:solidFill>
                <a:latin typeface="Malgun Gothic" pitchFamily="34" charset="0"/>
                <a:ea typeface="Malgun Gothic" pitchFamily="34" charset="-122"/>
                <a:cs typeface="Malgun Gothic" pitchFamily="34" charset="-120"/>
              </a:rPr>
              <a:t>FMI</a:t>
            </a:r>
            <a:r>
              <a:rPr lang="en-US" sz="1450" dirty="0">
                <a:solidFill>
                  <a:srgbClr val="2E3B41"/>
                </a:solidFill>
                <a:latin typeface="Malgun Gothic" pitchFamily="34" charset="0"/>
                <a:ea typeface="Malgun Gothic" pitchFamily="34" charset="-122"/>
                <a:cs typeface="Malgun Gothic" pitchFamily="34" charset="-120"/>
              </a:rPr>
              <a:t> = 서로 다른 도구를 잇는 '연결 표준'(어댑터 규격). 100개 이상 도구가 지원.</a:t>
            </a:r>
            <a:endParaRPr lang="en-US" sz="1450" dirty="0"/>
          </a:p>
        </p:txBody>
      </p:sp>
      <p:sp>
        <p:nvSpPr>
          <p:cNvPr id="9" name="Text 6"/>
          <p:cNvSpPr/>
          <p:nvPr/>
        </p:nvSpPr>
        <p:spPr>
          <a:xfrm>
            <a:off x="868680" y="4892040"/>
            <a:ext cx="4846320" cy="1097280"/>
          </a:xfrm>
          <a:prstGeom prst="rect">
            <a:avLst/>
          </a:prstGeom>
          <a:noFill/>
          <a:ln/>
        </p:spPr>
        <p:txBody>
          <a:bodyPr wrap="square" rtlCol="0" anchor="t"/>
          <a:lstStyle/>
          <a:p>
            <a:pPr marL="0" indent="0">
              <a:lnSpc>
                <a:spcPts val="1800"/>
              </a:lnSpc>
              <a:buNone/>
            </a:pPr>
            <a:r>
              <a:rPr lang="en-US" sz="1300" i="1" dirty="0">
                <a:solidFill>
                  <a:srgbClr val="6C7C82"/>
                </a:solidFill>
                <a:latin typeface="Malgun Gothic" pitchFamily="34" charset="0"/>
                <a:ea typeface="Malgun Gothic" pitchFamily="34" charset="-122"/>
                <a:cs typeface="Malgun Gothic" pitchFamily="34" charset="-120"/>
              </a:rPr>
              <a:t>장점 — 구현 부담 ↓ · 검증된 도구라 신뢰성 ↑ · 각 전문가가 자기 도구만 맡아 협업 쉬움</a:t>
            </a:r>
            <a:endParaRPr lang="en-US" sz="1300" dirty="0"/>
          </a:p>
        </p:txBody>
      </p:sp>
      <p:sp>
        <p:nvSpPr>
          <p:cNvPr id="10" name="Shape 7"/>
          <p:cNvSpPr/>
          <p:nvPr/>
        </p:nvSpPr>
        <p:spPr>
          <a:xfrm>
            <a:off x="6263640" y="1600200"/>
            <a:ext cx="5349240" cy="4572000"/>
          </a:xfrm>
          <a:prstGeom prst="roundRect">
            <a:avLst>
              <a:gd name="adj" fmla="val 2400"/>
            </a:avLst>
          </a:prstGeom>
          <a:solidFill>
            <a:srgbClr val="FFFFFF"/>
          </a:solidFill>
          <a:ln w="12700">
            <a:solidFill>
              <a:srgbClr val="D3E0E4"/>
            </a:solidFill>
            <a:prstDash val="solid"/>
          </a:ln>
        </p:spPr>
      </p:sp>
      <p:sp>
        <p:nvSpPr>
          <p:cNvPr id="11" name="Shape 8"/>
          <p:cNvSpPr/>
          <p:nvPr/>
        </p:nvSpPr>
        <p:spPr>
          <a:xfrm>
            <a:off x="6583680" y="2743200"/>
            <a:ext cx="1417320" cy="822960"/>
          </a:xfrm>
          <a:prstGeom prst="roundRect">
            <a:avLst>
              <a:gd name="adj" fmla="val 8889"/>
            </a:avLst>
          </a:prstGeom>
          <a:solidFill>
            <a:srgbClr val="1C7293"/>
          </a:solidFill>
          <a:ln/>
        </p:spPr>
      </p:sp>
      <p:sp>
        <p:nvSpPr>
          <p:cNvPr id="12" name="Text 9"/>
          <p:cNvSpPr/>
          <p:nvPr/>
        </p:nvSpPr>
        <p:spPr>
          <a:xfrm>
            <a:off x="6583680" y="2743200"/>
            <a:ext cx="1417320" cy="822960"/>
          </a:xfrm>
          <a:prstGeom prst="rect">
            <a:avLst/>
          </a:prstGeom>
          <a:noFill/>
          <a:ln/>
        </p:spPr>
        <p:txBody>
          <a:bodyPr wrap="square"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도구 A</a:t>
            </a:r>
            <a:endParaRPr lang="en-US" sz="1300" dirty="0"/>
          </a:p>
        </p:txBody>
      </p:sp>
      <p:sp>
        <p:nvSpPr>
          <p:cNvPr id="13" name="Shape 10"/>
          <p:cNvSpPr/>
          <p:nvPr/>
        </p:nvSpPr>
        <p:spPr>
          <a:xfrm>
            <a:off x="9875520" y="2743200"/>
            <a:ext cx="1417320" cy="822960"/>
          </a:xfrm>
          <a:prstGeom prst="roundRect">
            <a:avLst>
              <a:gd name="adj" fmla="val 8889"/>
            </a:avLst>
          </a:prstGeom>
          <a:solidFill>
            <a:srgbClr val="E29A34"/>
          </a:solidFill>
          <a:ln/>
        </p:spPr>
      </p:sp>
      <p:sp>
        <p:nvSpPr>
          <p:cNvPr id="14" name="Text 11"/>
          <p:cNvSpPr/>
          <p:nvPr/>
        </p:nvSpPr>
        <p:spPr>
          <a:xfrm>
            <a:off x="9875520" y="2743200"/>
            <a:ext cx="1417320" cy="822960"/>
          </a:xfrm>
          <a:prstGeom prst="rect">
            <a:avLst/>
          </a:prstGeom>
          <a:noFill/>
          <a:ln/>
        </p:spPr>
        <p:txBody>
          <a:bodyPr wrap="square"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도구 B</a:t>
            </a:r>
            <a:endParaRPr lang="en-US" sz="1300" dirty="0"/>
          </a:p>
        </p:txBody>
      </p:sp>
      <p:sp>
        <p:nvSpPr>
          <p:cNvPr id="15" name="Shape 12"/>
          <p:cNvSpPr/>
          <p:nvPr/>
        </p:nvSpPr>
        <p:spPr>
          <a:xfrm>
            <a:off x="8183880" y="2724912"/>
            <a:ext cx="1508760" cy="859536"/>
          </a:xfrm>
          <a:prstGeom prst="roundRect">
            <a:avLst>
              <a:gd name="adj" fmla="val 8511"/>
            </a:avLst>
          </a:prstGeom>
          <a:solidFill>
            <a:srgbClr val="0C3B4A"/>
          </a:solidFill>
          <a:ln/>
        </p:spPr>
      </p:sp>
      <p:sp>
        <p:nvSpPr>
          <p:cNvPr id="16" name="Text 13"/>
          <p:cNvSpPr/>
          <p:nvPr/>
        </p:nvSpPr>
        <p:spPr>
          <a:xfrm>
            <a:off x="8183880" y="2724912"/>
            <a:ext cx="1508760" cy="859536"/>
          </a:xfrm>
          <a:prstGeom prst="rect">
            <a:avLst/>
          </a:prstGeom>
          <a:noFill/>
          <a:ln/>
        </p:spPr>
        <p:txBody>
          <a:bodyPr wrap="square" rtlCol="0" anchor="ctr"/>
          <a:lstStyle/>
          <a:p>
            <a:pPr marL="0" indent="0" algn="ctr">
              <a:buNone/>
            </a:pPr>
            <a:r>
              <a:rPr lang="en-US" sz="1400" b="1" dirty="0">
                <a:solidFill>
                  <a:srgbClr val="E29A34"/>
                </a:solidFill>
                <a:latin typeface="Malgun Gothic" pitchFamily="34" charset="0"/>
                <a:ea typeface="Malgun Gothic" pitchFamily="34" charset="-122"/>
                <a:cs typeface="Malgun Gothic" pitchFamily="34" charset="-120"/>
              </a:rPr>
              <a:t>FMI</a:t>
            </a:r>
            <a:endParaRPr lang="en-US" sz="1400" dirty="0"/>
          </a:p>
        </p:txBody>
      </p:sp>
      <p:sp>
        <p:nvSpPr>
          <p:cNvPr id="17" name="Shape 14"/>
          <p:cNvSpPr/>
          <p:nvPr/>
        </p:nvSpPr>
        <p:spPr>
          <a:xfrm>
            <a:off x="8001000" y="2999232"/>
            <a:ext cx="182880" cy="0"/>
          </a:xfrm>
          <a:prstGeom prst="line">
            <a:avLst/>
          </a:prstGeom>
          <a:noFill/>
          <a:ln w="25400">
            <a:solidFill>
              <a:srgbClr val="6C7C82"/>
            </a:solidFill>
            <a:prstDash val="solid"/>
            <a:tailEnd type="triangle"/>
          </a:ln>
        </p:spPr>
      </p:sp>
      <p:sp>
        <p:nvSpPr>
          <p:cNvPr id="18" name="Shape 15"/>
          <p:cNvSpPr/>
          <p:nvPr/>
        </p:nvSpPr>
        <p:spPr>
          <a:xfrm>
            <a:off x="8001000" y="3310128"/>
            <a:ext cx="182880" cy="0"/>
          </a:xfrm>
          <a:prstGeom prst="line">
            <a:avLst/>
          </a:prstGeom>
          <a:noFill/>
          <a:ln w="25400">
            <a:solidFill>
              <a:srgbClr val="6C7C82"/>
            </a:solidFill>
            <a:prstDash val="solid"/>
            <a:headEnd type="triangle"/>
          </a:ln>
        </p:spPr>
      </p:sp>
      <p:sp>
        <p:nvSpPr>
          <p:cNvPr id="19" name="Shape 16"/>
          <p:cNvSpPr/>
          <p:nvPr/>
        </p:nvSpPr>
        <p:spPr>
          <a:xfrm>
            <a:off x="9692640" y="2999232"/>
            <a:ext cx="182880" cy="0"/>
          </a:xfrm>
          <a:prstGeom prst="line">
            <a:avLst/>
          </a:prstGeom>
          <a:noFill/>
          <a:ln w="25400">
            <a:solidFill>
              <a:srgbClr val="6C7C82"/>
            </a:solidFill>
            <a:prstDash val="solid"/>
            <a:tailEnd type="triangle"/>
          </a:ln>
        </p:spPr>
      </p:sp>
      <p:sp>
        <p:nvSpPr>
          <p:cNvPr id="20" name="Shape 17"/>
          <p:cNvSpPr/>
          <p:nvPr/>
        </p:nvSpPr>
        <p:spPr>
          <a:xfrm>
            <a:off x="9692640" y="3310128"/>
            <a:ext cx="182880" cy="0"/>
          </a:xfrm>
          <a:prstGeom prst="line">
            <a:avLst/>
          </a:prstGeom>
          <a:noFill/>
          <a:ln w="25400">
            <a:solidFill>
              <a:srgbClr val="6C7C82"/>
            </a:solidFill>
            <a:prstDash val="solid"/>
            <a:headEnd type="triangle"/>
          </a:ln>
        </p:spPr>
      </p:sp>
      <p:sp>
        <p:nvSpPr>
          <p:cNvPr id="21" name="Text 18"/>
          <p:cNvSpPr/>
          <p:nvPr/>
        </p:nvSpPr>
        <p:spPr>
          <a:xfrm>
            <a:off x="6583680" y="3840480"/>
            <a:ext cx="4709160" cy="365760"/>
          </a:xfrm>
          <a:prstGeom prst="rect">
            <a:avLst/>
          </a:prstGeom>
          <a:noFill/>
          <a:ln/>
        </p:spPr>
        <p:txBody>
          <a:bodyPr wrap="square" rtlCol="0" anchor="ctr"/>
          <a:lstStyle/>
          <a:p>
            <a:pPr marL="0" indent="0" algn="ctr">
              <a:buNone/>
            </a:pPr>
            <a:r>
              <a:rPr lang="en-US" sz="1200" i="1" dirty="0">
                <a:solidFill>
                  <a:srgbClr val="6C7C82"/>
                </a:solidFill>
                <a:latin typeface="Malgun Gothic" pitchFamily="34" charset="0"/>
                <a:ea typeface="Malgun Gothic" pitchFamily="34" charset="-122"/>
                <a:cs typeface="Malgun Gothic" pitchFamily="34" charset="-120"/>
              </a:rPr>
              <a:t>매 시간 단계 데이터 교환</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25296" y="457200"/>
            <a:ext cx="10387584" cy="274320"/>
          </a:xfrm>
          <a:prstGeom prst="rect">
            <a:avLst/>
          </a:prstGeom>
          <a:noFill/>
          <a:ln/>
        </p:spPr>
        <p:txBody>
          <a:bodyPr wrap="square" rtlCol="0" anchor="ctr"/>
          <a:lstStyle/>
          <a:p>
            <a:pPr marL="0" indent="0">
              <a:buNone/>
            </a:pPr>
            <a:r>
              <a:rPr lang="en-US" sz="1100" b="1" kern="0" spc="200" dirty="0">
                <a:solidFill>
                  <a:srgbClr val="1C7293"/>
                </a:solidFill>
                <a:latin typeface="Malgun Gothic" pitchFamily="34" charset="0"/>
                <a:ea typeface="Malgun Gothic" pitchFamily="34" charset="-122"/>
                <a:cs typeface="Malgun Gothic" pitchFamily="34" charset="-120"/>
              </a:rPr>
              <a:t>TOOL · 코시뮬레이션 플랫폼</a:t>
            </a:r>
            <a:endParaRPr lang="en-US" sz="1100" dirty="0"/>
          </a:p>
        </p:txBody>
      </p:sp>
      <p:sp>
        <p:nvSpPr>
          <p:cNvPr id="3" name="Shape 1"/>
          <p:cNvSpPr/>
          <p:nvPr/>
        </p:nvSpPr>
        <p:spPr>
          <a:xfrm>
            <a:off x="548640" y="475488"/>
            <a:ext cx="548640" cy="548640"/>
          </a:xfrm>
          <a:prstGeom prst="ellipse">
            <a:avLst/>
          </a:prstGeom>
          <a:solidFill>
            <a:srgbClr val="0C3B4A"/>
          </a:solidFill>
          <a:ln/>
        </p:spPr>
      </p:sp>
      <p:pic>
        <p:nvPicPr>
          <p:cNvPr id="4" name="Image 0" descr="/tmp/icons2/branch.png"/>
          <p:cNvPicPr>
            <a:picLocks noChangeAspect="1"/>
          </p:cNvPicPr>
          <p:nvPr/>
        </p:nvPicPr>
        <p:blipFill>
          <a:blip r:embed="rId3"/>
          <a:stretch>
            <a:fillRect/>
          </a:stretch>
        </p:blipFill>
        <p:spPr>
          <a:xfrm>
            <a:off x="685800" y="612648"/>
            <a:ext cx="274320" cy="274320"/>
          </a:xfrm>
          <a:prstGeom prst="rect">
            <a:avLst/>
          </a:prstGeom>
        </p:spPr>
      </p:pic>
      <p:sp>
        <p:nvSpPr>
          <p:cNvPr id="5" name="Text 2"/>
          <p:cNvSpPr/>
          <p:nvPr/>
        </p:nvSpPr>
        <p:spPr>
          <a:xfrm>
            <a:off x="1225296" y="713232"/>
            <a:ext cx="10387584" cy="457200"/>
          </a:xfrm>
          <a:prstGeom prst="rect">
            <a:avLst/>
          </a:prstGeom>
          <a:noFill/>
          <a:ln/>
        </p:spPr>
        <p:txBody>
          <a:bodyPr wrap="square" rtlCol="0" anchor="ctr"/>
          <a:lstStyle/>
          <a:p>
            <a:pPr marL="0" indent="0">
              <a:buNone/>
            </a:pPr>
            <a:r>
              <a:rPr lang="en-US" sz="2600" b="1" dirty="0">
                <a:solidFill>
                  <a:srgbClr val="17262C"/>
                </a:solidFill>
                <a:latin typeface="Malgun Gothic" pitchFamily="34" charset="0"/>
                <a:ea typeface="Malgun Gothic" pitchFamily="34" charset="-122"/>
                <a:cs typeface="Malgun Gothic" pitchFamily="34" charset="-120"/>
              </a:rPr>
              <a:t>글루 프레임워크: HELICS vs mosaik</a:t>
            </a:r>
            <a:endParaRPr lang="en-US" sz="2600" dirty="0"/>
          </a:p>
        </p:txBody>
      </p:sp>
      <p:sp>
        <p:nvSpPr>
          <p:cNvPr id="6" name="Shape 3"/>
          <p:cNvSpPr/>
          <p:nvPr/>
        </p:nvSpPr>
        <p:spPr>
          <a:xfrm>
            <a:off x="548640" y="1600200"/>
            <a:ext cx="5440680" cy="3291840"/>
          </a:xfrm>
          <a:prstGeom prst="roundRect">
            <a:avLst>
              <a:gd name="adj" fmla="val 3333"/>
            </a:avLst>
          </a:prstGeom>
          <a:solidFill>
            <a:srgbClr val="FFFFFF"/>
          </a:solidFill>
          <a:ln w="12700">
            <a:solidFill>
              <a:srgbClr val="D3E0E4"/>
            </a:solidFill>
            <a:prstDash val="solid"/>
          </a:ln>
          <a:effectLst>
            <a:outerShdw blurRad="88900" dist="38100" dir="5400000" algn="bl" rotWithShape="0">
              <a:srgbClr val="B9C6CE">
                <a:alpha val="30000"/>
              </a:srgbClr>
            </a:outerShdw>
          </a:effectLst>
        </p:spPr>
      </p:sp>
      <p:sp>
        <p:nvSpPr>
          <p:cNvPr id="7" name="Shape 4"/>
          <p:cNvSpPr/>
          <p:nvPr/>
        </p:nvSpPr>
        <p:spPr>
          <a:xfrm>
            <a:off x="548640" y="1600200"/>
            <a:ext cx="5440680" cy="640080"/>
          </a:xfrm>
          <a:prstGeom prst="roundRect">
            <a:avLst>
              <a:gd name="adj" fmla="val 17143"/>
            </a:avLst>
          </a:prstGeom>
          <a:solidFill>
            <a:srgbClr val="1C7293"/>
          </a:solidFill>
          <a:ln/>
        </p:spPr>
      </p:sp>
      <p:sp>
        <p:nvSpPr>
          <p:cNvPr id="8" name="Shape 5"/>
          <p:cNvSpPr/>
          <p:nvPr/>
        </p:nvSpPr>
        <p:spPr>
          <a:xfrm>
            <a:off x="548640" y="1965960"/>
            <a:ext cx="5440680" cy="274320"/>
          </a:xfrm>
          <a:prstGeom prst="rect">
            <a:avLst/>
          </a:prstGeom>
          <a:solidFill>
            <a:srgbClr val="1C7293"/>
          </a:solidFill>
          <a:ln/>
        </p:spPr>
      </p:sp>
      <p:sp>
        <p:nvSpPr>
          <p:cNvPr id="9" name="Text 6"/>
          <p:cNvSpPr/>
          <p:nvPr/>
        </p:nvSpPr>
        <p:spPr>
          <a:xfrm>
            <a:off x="822960" y="1645920"/>
            <a:ext cx="4892040" cy="548640"/>
          </a:xfrm>
          <a:prstGeom prst="rect">
            <a:avLst/>
          </a:prstGeom>
          <a:noFill/>
          <a:ln/>
        </p:spPr>
        <p:txBody>
          <a:bodyPr wrap="square" rtlCol="0" anchor="ctr"/>
          <a:lstStyle/>
          <a:p>
            <a:pPr marL="0" indent="0">
              <a:buNone/>
            </a:pPr>
            <a:r>
              <a:rPr lang="en-US" sz="1900" b="1" dirty="0">
                <a:solidFill>
                  <a:srgbClr val="FFFFFF"/>
                </a:solidFill>
                <a:latin typeface="Malgun Gothic" pitchFamily="34" charset="0"/>
                <a:ea typeface="Malgun Gothic" pitchFamily="34" charset="-122"/>
                <a:cs typeface="Malgun Gothic" pitchFamily="34" charset="-120"/>
              </a:rPr>
              <a:t>HELICS</a:t>
            </a:r>
            <a:endParaRPr lang="en-US" sz="1900" dirty="0"/>
          </a:p>
        </p:txBody>
      </p:sp>
      <p:sp>
        <p:nvSpPr>
          <p:cNvPr id="10" name="Text 7"/>
          <p:cNvSpPr/>
          <p:nvPr/>
        </p:nvSpPr>
        <p:spPr>
          <a:xfrm>
            <a:off x="822960" y="2423160"/>
            <a:ext cx="1005840" cy="457200"/>
          </a:xfrm>
          <a:prstGeom prst="rect">
            <a:avLst/>
          </a:prstGeom>
          <a:noFill/>
          <a:ln/>
        </p:spPr>
        <p:txBody>
          <a:bodyPr wrap="square" rtlCol="0" anchor="ctr"/>
          <a:lstStyle/>
          <a:p>
            <a:pPr marL="0" indent="0">
              <a:buNone/>
            </a:pPr>
            <a:r>
              <a:rPr lang="en-US" sz="1200" b="1" dirty="0">
                <a:solidFill>
                  <a:srgbClr val="1C7293"/>
                </a:solidFill>
                <a:latin typeface="Malgun Gothic" pitchFamily="34" charset="0"/>
                <a:ea typeface="Malgun Gothic" pitchFamily="34" charset="-122"/>
                <a:cs typeface="Malgun Gothic" pitchFamily="34" charset="-120"/>
              </a:rPr>
              <a:t>개발</a:t>
            </a:r>
            <a:endParaRPr lang="en-US" sz="1200" dirty="0"/>
          </a:p>
        </p:txBody>
      </p:sp>
      <p:sp>
        <p:nvSpPr>
          <p:cNvPr id="11" name="Text 8"/>
          <p:cNvSpPr/>
          <p:nvPr/>
        </p:nvSpPr>
        <p:spPr>
          <a:xfrm>
            <a:off x="1828800" y="2423160"/>
            <a:ext cx="3977640" cy="457200"/>
          </a:xfrm>
          <a:prstGeom prst="rect">
            <a:avLst/>
          </a:prstGeom>
          <a:noFill/>
          <a:ln/>
        </p:spPr>
        <p:txBody>
          <a:bodyPr wrap="square" rtlCol="0" anchor="ctr"/>
          <a:lstStyle/>
          <a:p>
            <a:pPr marL="0" indent="0">
              <a:lnSpc>
                <a:spcPts val="1500"/>
              </a:lnSpc>
              <a:buNone/>
            </a:pPr>
            <a:r>
              <a:rPr lang="en-US" sz="1250" dirty="0">
                <a:solidFill>
                  <a:srgbClr val="2E3B41"/>
                </a:solidFill>
                <a:latin typeface="Malgun Gothic" pitchFamily="34" charset="0"/>
                <a:ea typeface="Malgun Gothic" pitchFamily="34" charset="-122"/>
                <a:cs typeface="Malgun Gothic" pitchFamily="34" charset="-120"/>
              </a:rPr>
              <a:t>美 DOE 연구소(NREL 등)</a:t>
            </a:r>
            <a:endParaRPr lang="en-US" sz="1250" dirty="0"/>
          </a:p>
        </p:txBody>
      </p:sp>
      <p:sp>
        <p:nvSpPr>
          <p:cNvPr id="12" name="Shape 9"/>
          <p:cNvSpPr/>
          <p:nvPr/>
        </p:nvSpPr>
        <p:spPr>
          <a:xfrm>
            <a:off x="822960" y="2926080"/>
            <a:ext cx="4892040" cy="0"/>
          </a:xfrm>
          <a:prstGeom prst="line">
            <a:avLst/>
          </a:prstGeom>
          <a:noFill/>
          <a:ln w="12700">
            <a:solidFill>
              <a:srgbClr val="E8EEF0"/>
            </a:solidFill>
            <a:prstDash val="solid"/>
          </a:ln>
        </p:spPr>
      </p:sp>
      <p:sp>
        <p:nvSpPr>
          <p:cNvPr id="13" name="Text 10"/>
          <p:cNvSpPr/>
          <p:nvPr/>
        </p:nvSpPr>
        <p:spPr>
          <a:xfrm>
            <a:off x="822960" y="2990088"/>
            <a:ext cx="1005840" cy="457200"/>
          </a:xfrm>
          <a:prstGeom prst="rect">
            <a:avLst/>
          </a:prstGeom>
          <a:noFill/>
          <a:ln/>
        </p:spPr>
        <p:txBody>
          <a:bodyPr wrap="square" rtlCol="0" anchor="ctr"/>
          <a:lstStyle/>
          <a:p>
            <a:pPr marL="0" indent="0">
              <a:buNone/>
            </a:pPr>
            <a:r>
              <a:rPr lang="en-US" sz="1200" b="1" dirty="0">
                <a:solidFill>
                  <a:srgbClr val="1C7293"/>
                </a:solidFill>
                <a:latin typeface="Malgun Gothic" pitchFamily="34" charset="0"/>
                <a:ea typeface="Malgun Gothic" pitchFamily="34" charset="-122"/>
                <a:cs typeface="Malgun Gothic" pitchFamily="34" charset="-120"/>
              </a:rPr>
              <a:t>강점</a:t>
            </a:r>
            <a:endParaRPr lang="en-US" sz="1200" dirty="0"/>
          </a:p>
        </p:txBody>
      </p:sp>
      <p:sp>
        <p:nvSpPr>
          <p:cNvPr id="14" name="Text 11"/>
          <p:cNvSpPr/>
          <p:nvPr/>
        </p:nvSpPr>
        <p:spPr>
          <a:xfrm>
            <a:off x="1828800" y="2990088"/>
            <a:ext cx="3977640" cy="457200"/>
          </a:xfrm>
          <a:prstGeom prst="rect">
            <a:avLst/>
          </a:prstGeom>
          <a:noFill/>
          <a:ln/>
        </p:spPr>
        <p:txBody>
          <a:bodyPr wrap="square" rtlCol="0" anchor="ctr"/>
          <a:lstStyle/>
          <a:p>
            <a:pPr marL="0" indent="0">
              <a:lnSpc>
                <a:spcPts val="1500"/>
              </a:lnSpc>
              <a:buNone/>
            </a:pPr>
            <a:r>
              <a:rPr lang="en-US" sz="1250" dirty="0">
                <a:solidFill>
                  <a:srgbClr val="2E3B41"/>
                </a:solidFill>
                <a:latin typeface="Malgun Gothic" pitchFamily="34" charset="0"/>
                <a:ea typeface="Malgun Gothic" pitchFamily="34" charset="-122"/>
                <a:cs typeface="Malgun Gothic" pitchFamily="34" charset="-120"/>
              </a:rPr>
              <a:t>대규모(2만+ 노드)·고성능</a:t>
            </a:r>
            <a:endParaRPr lang="en-US" sz="1250" dirty="0"/>
          </a:p>
        </p:txBody>
      </p:sp>
      <p:sp>
        <p:nvSpPr>
          <p:cNvPr id="15" name="Shape 12"/>
          <p:cNvSpPr/>
          <p:nvPr/>
        </p:nvSpPr>
        <p:spPr>
          <a:xfrm>
            <a:off x="822960" y="3493008"/>
            <a:ext cx="4892040" cy="0"/>
          </a:xfrm>
          <a:prstGeom prst="line">
            <a:avLst/>
          </a:prstGeom>
          <a:noFill/>
          <a:ln w="12700">
            <a:solidFill>
              <a:srgbClr val="E8EEF0"/>
            </a:solidFill>
            <a:prstDash val="solid"/>
          </a:ln>
        </p:spPr>
      </p:sp>
      <p:sp>
        <p:nvSpPr>
          <p:cNvPr id="16" name="Text 13"/>
          <p:cNvSpPr/>
          <p:nvPr/>
        </p:nvSpPr>
        <p:spPr>
          <a:xfrm>
            <a:off x="822960" y="3557016"/>
            <a:ext cx="1005840" cy="457200"/>
          </a:xfrm>
          <a:prstGeom prst="rect">
            <a:avLst/>
          </a:prstGeom>
          <a:noFill/>
          <a:ln/>
        </p:spPr>
        <p:txBody>
          <a:bodyPr wrap="square" rtlCol="0" anchor="ctr"/>
          <a:lstStyle/>
          <a:p>
            <a:pPr marL="0" indent="0">
              <a:buNone/>
            </a:pPr>
            <a:r>
              <a:rPr lang="en-US" sz="1200" b="1" dirty="0">
                <a:solidFill>
                  <a:srgbClr val="1C7293"/>
                </a:solidFill>
                <a:latin typeface="Malgun Gothic" pitchFamily="34" charset="0"/>
                <a:ea typeface="Malgun Gothic" pitchFamily="34" charset="-122"/>
                <a:cs typeface="Malgun Gothic" pitchFamily="34" charset="-120"/>
              </a:rPr>
              <a:t>언어</a:t>
            </a:r>
            <a:endParaRPr lang="en-US" sz="1200" dirty="0"/>
          </a:p>
        </p:txBody>
      </p:sp>
      <p:sp>
        <p:nvSpPr>
          <p:cNvPr id="17" name="Text 14"/>
          <p:cNvSpPr/>
          <p:nvPr/>
        </p:nvSpPr>
        <p:spPr>
          <a:xfrm>
            <a:off x="1828800" y="3557016"/>
            <a:ext cx="3977640" cy="457200"/>
          </a:xfrm>
          <a:prstGeom prst="rect">
            <a:avLst/>
          </a:prstGeom>
          <a:noFill/>
          <a:ln/>
        </p:spPr>
        <p:txBody>
          <a:bodyPr wrap="square" rtlCol="0" anchor="ctr"/>
          <a:lstStyle/>
          <a:p>
            <a:pPr marL="0" indent="0">
              <a:lnSpc>
                <a:spcPts val="1500"/>
              </a:lnSpc>
              <a:buNone/>
            </a:pPr>
            <a:r>
              <a:rPr lang="en-US" sz="1250" dirty="0">
                <a:solidFill>
                  <a:srgbClr val="2E3B41"/>
                </a:solidFill>
                <a:latin typeface="Malgun Gothic" pitchFamily="34" charset="0"/>
                <a:ea typeface="Malgun Gothic" pitchFamily="34" charset="-122"/>
                <a:cs typeface="Malgun Gothic" pitchFamily="34" charset="-120"/>
              </a:rPr>
              <a:t>C++ (다언어 바인딩)</a:t>
            </a:r>
            <a:endParaRPr lang="en-US" sz="1250" dirty="0"/>
          </a:p>
        </p:txBody>
      </p:sp>
      <p:sp>
        <p:nvSpPr>
          <p:cNvPr id="18" name="Shape 15"/>
          <p:cNvSpPr/>
          <p:nvPr/>
        </p:nvSpPr>
        <p:spPr>
          <a:xfrm>
            <a:off x="822960" y="4059936"/>
            <a:ext cx="4892040" cy="0"/>
          </a:xfrm>
          <a:prstGeom prst="line">
            <a:avLst/>
          </a:prstGeom>
          <a:noFill/>
          <a:ln w="12700">
            <a:solidFill>
              <a:srgbClr val="E8EEF0"/>
            </a:solidFill>
            <a:prstDash val="solid"/>
          </a:ln>
        </p:spPr>
      </p:sp>
      <p:sp>
        <p:nvSpPr>
          <p:cNvPr id="19" name="Text 16"/>
          <p:cNvSpPr/>
          <p:nvPr/>
        </p:nvSpPr>
        <p:spPr>
          <a:xfrm>
            <a:off x="822960" y="4123944"/>
            <a:ext cx="1005840" cy="457200"/>
          </a:xfrm>
          <a:prstGeom prst="rect">
            <a:avLst/>
          </a:prstGeom>
          <a:noFill/>
          <a:ln/>
        </p:spPr>
        <p:txBody>
          <a:bodyPr wrap="square" rtlCol="0" anchor="ctr"/>
          <a:lstStyle/>
          <a:p>
            <a:pPr marL="0" indent="0">
              <a:buNone/>
            </a:pPr>
            <a:r>
              <a:rPr lang="en-US" sz="1200" b="1" dirty="0">
                <a:solidFill>
                  <a:srgbClr val="1C7293"/>
                </a:solidFill>
                <a:latin typeface="Malgun Gothic" pitchFamily="34" charset="0"/>
                <a:ea typeface="Malgun Gothic" pitchFamily="34" charset="-122"/>
                <a:cs typeface="Malgun Gothic" pitchFamily="34" charset="-120"/>
              </a:rPr>
              <a:t>난이도</a:t>
            </a:r>
            <a:endParaRPr lang="en-US" sz="1200" dirty="0"/>
          </a:p>
        </p:txBody>
      </p:sp>
      <p:sp>
        <p:nvSpPr>
          <p:cNvPr id="20" name="Text 17"/>
          <p:cNvSpPr/>
          <p:nvPr/>
        </p:nvSpPr>
        <p:spPr>
          <a:xfrm>
            <a:off x="1828800" y="4123944"/>
            <a:ext cx="3977640" cy="457200"/>
          </a:xfrm>
          <a:prstGeom prst="rect">
            <a:avLst/>
          </a:prstGeom>
          <a:noFill/>
          <a:ln/>
        </p:spPr>
        <p:txBody>
          <a:bodyPr wrap="square" rtlCol="0" anchor="ctr"/>
          <a:lstStyle/>
          <a:p>
            <a:pPr marL="0" indent="0">
              <a:lnSpc>
                <a:spcPts val="1500"/>
              </a:lnSpc>
              <a:buNone/>
            </a:pPr>
            <a:r>
              <a:rPr lang="en-US" sz="1250" dirty="0">
                <a:solidFill>
                  <a:srgbClr val="2E3B41"/>
                </a:solidFill>
                <a:latin typeface="Malgun Gothic" pitchFamily="34" charset="0"/>
                <a:ea typeface="Malgun Gothic" pitchFamily="34" charset="-122"/>
                <a:cs typeface="Malgun Gothic" pitchFamily="34" charset="-120"/>
              </a:rPr>
              <a:t>높음 · 가장 강력</a:t>
            </a:r>
            <a:endParaRPr lang="en-US" sz="1250" dirty="0"/>
          </a:p>
        </p:txBody>
      </p:sp>
      <p:sp>
        <p:nvSpPr>
          <p:cNvPr id="21" name="Shape 18"/>
          <p:cNvSpPr/>
          <p:nvPr/>
        </p:nvSpPr>
        <p:spPr>
          <a:xfrm>
            <a:off x="6172200" y="1600200"/>
            <a:ext cx="5440680" cy="3291840"/>
          </a:xfrm>
          <a:prstGeom prst="roundRect">
            <a:avLst>
              <a:gd name="adj" fmla="val 3333"/>
            </a:avLst>
          </a:prstGeom>
          <a:solidFill>
            <a:srgbClr val="FFFFFF"/>
          </a:solidFill>
          <a:ln w="12700">
            <a:solidFill>
              <a:srgbClr val="D3E0E4"/>
            </a:solidFill>
            <a:prstDash val="solid"/>
          </a:ln>
          <a:effectLst>
            <a:outerShdw blurRad="88900" dist="38100" dir="5400000" algn="bl" rotWithShape="0">
              <a:srgbClr val="B9C6CE">
                <a:alpha val="30000"/>
              </a:srgbClr>
            </a:outerShdw>
          </a:effectLst>
        </p:spPr>
      </p:sp>
      <p:sp>
        <p:nvSpPr>
          <p:cNvPr id="22" name="Shape 19"/>
          <p:cNvSpPr/>
          <p:nvPr/>
        </p:nvSpPr>
        <p:spPr>
          <a:xfrm>
            <a:off x="6172200" y="1600200"/>
            <a:ext cx="5440680" cy="640080"/>
          </a:xfrm>
          <a:prstGeom prst="roundRect">
            <a:avLst>
              <a:gd name="adj" fmla="val 17143"/>
            </a:avLst>
          </a:prstGeom>
          <a:solidFill>
            <a:srgbClr val="0C3B4A"/>
          </a:solidFill>
          <a:ln/>
        </p:spPr>
      </p:sp>
      <p:sp>
        <p:nvSpPr>
          <p:cNvPr id="23" name="Shape 20"/>
          <p:cNvSpPr/>
          <p:nvPr/>
        </p:nvSpPr>
        <p:spPr>
          <a:xfrm>
            <a:off x="6172200" y="1965960"/>
            <a:ext cx="5440680" cy="274320"/>
          </a:xfrm>
          <a:prstGeom prst="rect">
            <a:avLst/>
          </a:prstGeom>
          <a:solidFill>
            <a:srgbClr val="0C3B4A"/>
          </a:solidFill>
          <a:ln/>
        </p:spPr>
      </p:sp>
      <p:sp>
        <p:nvSpPr>
          <p:cNvPr id="24" name="Text 21"/>
          <p:cNvSpPr/>
          <p:nvPr/>
        </p:nvSpPr>
        <p:spPr>
          <a:xfrm>
            <a:off x="6446520" y="1645920"/>
            <a:ext cx="4892040" cy="548640"/>
          </a:xfrm>
          <a:prstGeom prst="rect">
            <a:avLst/>
          </a:prstGeom>
          <a:noFill/>
          <a:ln/>
        </p:spPr>
        <p:txBody>
          <a:bodyPr wrap="square" rtlCol="0" anchor="ctr"/>
          <a:lstStyle/>
          <a:p>
            <a:pPr marL="0" indent="0">
              <a:buNone/>
            </a:pPr>
            <a:r>
              <a:rPr lang="en-US" sz="1900" b="1" dirty="0">
                <a:solidFill>
                  <a:srgbClr val="FFFFFF"/>
                </a:solidFill>
                <a:latin typeface="Malgun Gothic" pitchFamily="34" charset="0"/>
                <a:ea typeface="Malgun Gothic" pitchFamily="34" charset="-122"/>
                <a:cs typeface="Malgun Gothic" pitchFamily="34" charset="-120"/>
              </a:rPr>
              <a:t>mosaik</a:t>
            </a:r>
            <a:endParaRPr lang="en-US" sz="1900" dirty="0"/>
          </a:p>
        </p:txBody>
      </p:sp>
      <p:sp>
        <p:nvSpPr>
          <p:cNvPr id="25" name="Text 22"/>
          <p:cNvSpPr/>
          <p:nvPr/>
        </p:nvSpPr>
        <p:spPr>
          <a:xfrm>
            <a:off x="6446520" y="2423160"/>
            <a:ext cx="1005840" cy="457200"/>
          </a:xfrm>
          <a:prstGeom prst="rect">
            <a:avLst/>
          </a:prstGeom>
          <a:noFill/>
          <a:ln/>
        </p:spPr>
        <p:txBody>
          <a:bodyPr wrap="square" rtlCol="0" anchor="ctr"/>
          <a:lstStyle/>
          <a:p>
            <a:pPr marL="0" indent="0">
              <a:buNone/>
            </a:pPr>
            <a:r>
              <a:rPr lang="en-US" sz="1200" b="1" dirty="0">
                <a:solidFill>
                  <a:srgbClr val="0C3B4A"/>
                </a:solidFill>
                <a:latin typeface="Malgun Gothic" pitchFamily="34" charset="0"/>
                <a:ea typeface="Malgun Gothic" pitchFamily="34" charset="-122"/>
                <a:cs typeface="Malgun Gothic" pitchFamily="34" charset="-120"/>
              </a:rPr>
              <a:t>개발</a:t>
            </a:r>
            <a:endParaRPr lang="en-US" sz="1200" dirty="0"/>
          </a:p>
        </p:txBody>
      </p:sp>
      <p:sp>
        <p:nvSpPr>
          <p:cNvPr id="26" name="Text 23"/>
          <p:cNvSpPr/>
          <p:nvPr/>
        </p:nvSpPr>
        <p:spPr>
          <a:xfrm>
            <a:off x="7452360" y="2423160"/>
            <a:ext cx="3977640" cy="457200"/>
          </a:xfrm>
          <a:prstGeom prst="rect">
            <a:avLst/>
          </a:prstGeom>
          <a:noFill/>
          <a:ln/>
        </p:spPr>
        <p:txBody>
          <a:bodyPr wrap="square" rtlCol="0" anchor="ctr"/>
          <a:lstStyle/>
          <a:p>
            <a:pPr marL="0" indent="0">
              <a:lnSpc>
                <a:spcPts val="1500"/>
              </a:lnSpc>
              <a:buNone/>
            </a:pPr>
            <a:r>
              <a:rPr lang="en-US" sz="1250" dirty="0">
                <a:solidFill>
                  <a:srgbClr val="2E3B41"/>
                </a:solidFill>
                <a:latin typeface="Malgun Gothic" pitchFamily="34" charset="0"/>
                <a:ea typeface="Malgun Gothic" pitchFamily="34" charset="-122"/>
                <a:cs typeface="Malgun Gothic" pitchFamily="34" charset="-120"/>
              </a:rPr>
              <a:t>OFFIS (독일)</a:t>
            </a:r>
            <a:endParaRPr lang="en-US" sz="1250" dirty="0"/>
          </a:p>
        </p:txBody>
      </p:sp>
      <p:sp>
        <p:nvSpPr>
          <p:cNvPr id="27" name="Shape 24"/>
          <p:cNvSpPr/>
          <p:nvPr/>
        </p:nvSpPr>
        <p:spPr>
          <a:xfrm>
            <a:off x="6446520" y="2926080"/>
            <a:ext cx="4892040" cy="0"/>
          </a:xfrm>
          <a:prstGeom prst="line">
            <a:avLst/>
          </a:prstGeom>
          <a:noFill/>
          <a:ln w="12700">
            <a:solidFill>
              <a:srgbClr val="E8EEF0"/>
            </a:solidFill>
            <a:prstDash val="solid"/>
          </a:ln>
        </p:spPr>
      </p:sp>
      <p:sp>
        <p:nvSpPr>
          <p:cNvPr id="28" name="Text 25"/>
          <p:cNvSpPr/>
          <p:nvPr/>
        </p:nvSpPr>
        <p:spPr>
          <a:xfrm>
            <a:off x="6446520" y="2990088"/>
            <a:ext cx="1005840" cy="457200"/>
          </a:xfrm>
          <a:prstGeom prst="rect">
            <a:avLst/>
          </a:prstGeom>
          <a:noFill/>
          <a:ln/>
        </p:spPr>
        <p:txBody>
          <a:bodyPr wrap="square" rtlCol="0" anchor="ctr"/>
          <a:lstStyle/>
          <a:p>
            <a:pPr marL="0" indent="0">
              <a:buNone/>
            </a:pPr>
            <a:r>
              <a:rPr lang="en-US" sz="1200" b="1" dirty="0">
                <a:solidFill>
                  <a:srgbClr val="0C3B4A"/>
                </a:solidFill>
                <a:latin typeface="Malgun Gothic" pitchFamily="34" charset="0"/>
                <a:ea typeface="Malgun Gothic" pitchFamily="34" charset="-122"/>
                <a:cs typeface="Malgun Gothic" pitchFamily="34" charset="-120"/>
              </a:rPr>
              <a:t>강점</a:t>
            </a:r>
            <a:endParaRPr lang="en-US" sz="1200" dirty="0"/>
          </a:p>
        </p:txBody>
      </p:sp>
      <p:sp>
        <p:nvSpPr>
          <p:cNvPr id="29" name="Text 26"/>
          <p:cNvSpPr/>
          <p:nvPr/>
        </p:nvSpPr>
        <p:spPr>
          <a:xfrm>
            <a:off x="7452360" y="2990088"/>
            <a:ext cx="3977640" cy="457200"/>
          </a:xfrm>
          <a:prstGeom prst="rect">
            <a:avLst/>
          </a:prstGeom>
          <a:noFill/>
          <a:ln/>
        </p:spPr>
        <p:txBody>
          <a:bodyPr wrap="square" rtlCol="0" anchor="ctr"/>
          <a:lstStyle/>
          <a:p>
            <a:pPr marL="0" indent="0">
              <a:lnSpc>
                <a:spcPts val="1500"/>
              </a:lnSpc>
              <a:buNone/>
            </a:pPr>
            <a:r>
              <a:rPr lang="en-US" sz="1250" dirty="0">
                <a:solidFill>
                  <a:srgbClr val="2E3B41"/>
                </a:solidFill>
                <a:latin typeface="Malgun Gothic" pitchFamily="34" charset="0"/>
                <a:ea typeface="Malgun Gothic" pitchFamily="34" charset="-122"/>
                <a:cs typeface="Malgun Gothic" pitchFamily="34" charset="-120"/>
              </a:rPr>
              <a:t>파이썬·스마트그리드 특화</a:t>
            </a:r>
            <a:endParaRPr lang="en-US" sz="1250" dirty="0"/>
          </a:p>
        </p:txBody>
      </p:sp>
      <p:sp>
        <p:nvSpPr>
          <p:cNvPr id="30" name="Shape 27"/>
          <p:cNvSpPr/>
          <p:nvPr/>
        </p:nvSpPr>
        <p:spPr>
          <a:xfrm>
            <a:off x="6446520" y="3493008"/>
            <a:ext cx="4892040" cy="0"/>
          </a:xfrm>
          <a:prstGeom prst="line">
            <a:avLst/>
          </a:prstGeom>
          <a:noFill/>
          <a:ln w="12700">
            <a:solidFill>
              <a:srgbClr val="E8EEF0"/>
            </a:solidFill>
            <a:prstDash val="solid"/>
          </a:ln>
        </p:spPr>
      </p:sp>
      <p:sp>
        <p:nvSpPr>
          <p:cNvPr id="31" name="Text 28"/>
          <p:cNvSpPr/>
          <p:nvPr/>
        </p:nvSpPr>
        <p:spPr>
          <a:xfrm>
            <a:off x="6446520" y="3557016"/>
            <a:ext cx="1005840" cy="457200"/>
          </a:xfrm>
          <a:prstGeom prst="rect">
            <a:avLst/>
          </a:prstGeom>
          <a:noFill/>
          <a:ln/>
        </p:spPr>
        <p:txBody>
          <a:bodyPr wrap="square" rtlCol="0" anchor="ctr"/>
          <a:lstStyle/>
          <a:p>
            <a:pPr marL="0" indent="0">
              <a:buNone/>
            </a:pPr>
            <a:r>
              <a:rPr lang="en-US" sz="1200" b="1" dirty="0">
                <a:solidFill>
                  <a:srgbClr val="0C3B4A"/>
                </a:solidFill>
                <a:latin typeface="Malgun Gothic" pitchFamily="34" charset="0"/>
                <a:ea typeface="Malgun Gothic" pitchFamily="34" charset="-122"/>
                <a:cs typeface="Malgun Gothic" pitchFamily="34" charset="-120"/>
              </a:rPr>
              <a:t>언어</a:t>
            </a:r>
            <a:endParaRPr lang="en-US" sz="1200" dirty="0"/>
          </a:p>
        </p:txBody>
      </p:sp>
      <p:sp>
        <p:nvSpPr>
          <p:cNvPr id="32" name="Text 29"/>
          <p:cNvSpPr/>
          <p:nvPr/>
        </p:nvSpPr>
        <p:spPr>
          <a:xfrm>
            <a:off x="7452360" y="3557016"/>
            <a:ext cx="3977640" cy="457200"/>
          </a:xfrm>
          <a:prstGeom prst="rect">
            <a:avLst/>
          </a:prstGeom>
          <a:noFill/>
          <a:ln/>
        </p:spPr>
        <p:txBody>
          <a:bodyPr wrap="square" rtlCol="0" anchor="ctr"/>
          <a:lstStyle/>
          <a:p>
            <a:pPr marL="0" indent="0">
              <a:lnSpc>
                <a:spcPts val="1500"/>
              </a:lnSpc>
              <a:buNone/>
            </a:pPr>
            <a:r>
              <a:rPr lang="en-US" sz="1250" dirty="0">
                <a:solidFill>
                  <a:srgbClr val="2E3B41"/>
                </a:solidFill>
                <a:latin typeface="Malgun Gothic" pitchFamily="34" charset="0"/>
                <a:ea typeface="Malgun Gothic" pitchFamily="34" charset="-122"/>
                <a:cs typeface="Malgun Gothic" pitchFamily="34" charset="-120"/>
              </a:rPr>
              <a:t>Python (FMI·pandapower 연동)</a:t>
            </a:r>
            <a:endParaRPr lang="en-US" sz="1250" dirty="0"/>
          </a:p>
        </p:txBody>
      </p:sp>
      <p:sp>
        <p:nvSpPr>
          <p:cNvPr id="33" name="Shape 30"/>
          <p:cNvSpPr/>
          <p:nvPr/>
        </p:nvSpPr>
        <p:spPr>
          <a:xfrm>
            <a:off x="6446520" y="4059936"/>
            <a:ext cx="4892040" cy="0"/>
          </a:xfrm>
          <a:prstGeom prst="line">
            <a:avLst/>
          </a:prstGeom>
          <a:noFill/>
          <a:ln w="12700">
            <a:solidFill>
              <a:srgbClr val="E8EEF0"/>
            </a:solidFill>
            <a:prstDash val="solid"/>
          </a:ln>
        </p:spPr>
      </p:sp>
      <p:sp>
        <p:nvSpPr>
          <p:cNvPr id="34" name="Text 31"/>
          <p:cNvSpPr/>
          <p:nvPr/>
        </p:nvSpPr>
        <p:spPr>
          <a:xfrm>
            <a:off x="6446520" y="4123944"/>
            <a:ext cx="1005840" cy="457200"/>
          </a:xfrm>
          <a:prstGeom prst="rect">
            <a:avLst/>
          </a:prstGeom>
          <a:noFill/>
          <a:ln/>
        </p:spPr>
        <p:txBody>
          <a:bodyPr wrap="square" rtlCol="0" anchor="ctr"/>
          <a:lstStyle/>
          <a:p>
            <a:pPr marL="0" indent="0">
              <a:buNone/>
            </a:pPr>
            <a:r>
              <a:rPr lang="en-US" sz="1200" b="1" dirty="0">
                <a:solidFill>
                  <a:srgbClr val="0C3B4A"/>
                </a:solidFill>
                <a:latin typeface="Malgun Gothic" pitchFamily="34" charset="0"/>
                <a:ea typeface="Malgun Gothic" pitchFamily="34" charset="-122"/>
                <a:cs typeface="Malgun Gothic" pitchFamily="34" charset="-120"/>
              </a:rPr>
              <a:t>난이도</a:t>
            </a:r>
            <a:endParaRPr lang="en-US" sz="1200" dirty="0"/>
          </a:p>
        </p:txBody>
      </p:sp>
      <p:sp>
        <p:nvSpPr>
          <p:cNvPr id="35" name="Text 32"/>
          <p:cNvSpPr/>
          <p:nvPr/>
        </p:nvSpPr>
        <p:spPr>
          <a:xfrm>
            <a:off x="7452360" y="4123944"/>
            <a:ext cx="3977640" cy="457200"/>
          </a:xfrm>
          <a:prstGeom prst="rect">
            <a:avLst/>
          </a:prstGeom>
          <a:noFill/>
          <a:ln/>
        </p:spPr>
        <p:txBody>
          <a:bodyPr wrap="square" rtlCol="0" anchor="ctr"/>
          <a:lstStyle/>
          <a:p>
            <a:pPr marL="0" indent="0">
              <a:lnSpc>
                <a:spcPts val="1500"/>
              </a:lnSpc>
              <a:buNone/>
            </a:pPr>
            <a:r>
              <a:rPr lang="en-US" sz="1250" dirty="0">
                <a:solidFill>
                  <a:srgbClr val="2E3B41"/>
                </a:solidFill>
                <a:latin typeface="Malgun Gothic" pitchFamily="34" charset="0"/>
                <a:ea typeface="Malgun Gothic" pitchFamily="34" charset="-122"/>
                <a:cs typeface="Malgun Gothic" pitchFamily="34" charset="-120"/>
              </a:rPr>
              <a:t>낮음 · 입문 쉬움</a:t>
            </a:r>
            <a:endParaRPr lang="en-US" sz="1250" dirty="0"/>
          </a:p>
        </p:txBody>
      </p:sp>
      <p:sp>
        <p:nvSpPr>
          <p:cNvPr id="36" name="Shape 33"/>
          <p:cNvSpPr/>
          <p:nvPr/>
        </p:nvSpPr>
        <p:spPr>
          <a:xfrm>
            <a:off x="548640" y="5120640"/>
            <a:ext cx="11064240" cy="1051560"/>
          </a:xfrm>
          <a:prstGeom prst="roundRect">
            <a:avLst>
              <a:gd name="adj" fmla="val 8696"/>
            </a:avLst>
          </a:prstGeom>
          <a:solidFill>
            <a:srgbClr val="EEF3F5"/>
          </a:solidFill>
          <a:ln/>
        </p:spPr>
      </p:sp>
      <p:sp>
        <p:nvSpPr>
          <p:cNvPr id="37" name="Shape 34"/>
          <p:cNvSpPr/>
          <p:nvPr/>
        </p:nvSpPr>
        <p:spPr>
          <a:xfrm>
            <a:off x="804672" y="5330952"/>
            <a:ext cx="621792" cy="621792"/>
          </a:xfrm>
          <a:prstGeom prst="ellipse">
            <a:avLst/>
          </a:prstGeom>
          <a:solidFill>
            <a:srgbClr val="E29A34"/>
          </a:solidFill>
          <a:ln/>
        </p:spPr>
      </p:sp>
      <p:pic>
        <p:nvPicPr>
          <p:cNvPr id="38" name="Image 1" descr="/tmp/icons2/bulb.png"/>
          <p:cNvPicPr>
            <a:picLocks noChangeAspect="1"/>
          </p:cNvPicPr>
          <p:nvPr/>
        </p:nvPicPr>
        <p:blipFill>
          <a:blip r:embed="rId4"/>
          <a:stretch>
            <a:fillRect/>
          </a:stretch>
        </p:blipFill>
        <p:spPr>
          <a:xfrm>
            <a:off x="960120" y="5486400"/>
            <a:ext cx="310896" cy="310896"/>
          </a:xfrm>
          <a:prstGeom prst="rect">
            <a:avLst/>
          </a:prstGeom>
        </p:spPr>
      </p:pic>
      <p:sp>
        <p:nvSpPr>
          <p:cNvPr id="39" name="Text 35"/>
          <p:cNvSpPr/>
          <p:nvPr/>
        </p:nvSpPr>
        <p:spPr>
          <a:xfrm>
            <a:off x="1600200" y="5120640"/>
            <a:ext cx="9784080" cy="1051560"/>
          </a:xfrm>
          <a:prstGeom prst="rect">
            <a:avLst/>
          </a:prstGeom>
          <a:noFill/>
          <a:ln/>
        </p:spPr>
        <p:txBody>
          <a:bodyPr wrap="square" rtlCol="0" anchor="ctr"/>
          <a:lstStyle/>
          <a:p>
            <a:pPr marL="0" indent="0">
              <a:lnSpc>
                <a:spcPts val="1800"/>
              </a:lnSpc>
              <a:buNone/>
            </a:pPr>
            <a:r>
              <a:rPr lang="en-US" sz="1350" b="1" dirty="0">
                <a:solidFill>
                  <a:srgbClr val="B97C22"/>
                </a:solidFill>
                <a:latin typeface="Malgun Gothic" pitchFamily="34" charset="0"/>
                <a:ea typeface="Malgun Gothic" pitchFamily="34" charset="-122"/>
                <a:cs typeface="Malgun Gothic" pitchFamily="34" charset="-120"/>
              </a:rPr>
              <a:t>제안  </a:t>
            </a:r>
            <a:r>
              <a:rPr lang="en-US" sz="1350" dirty="0">
                <a:solidFill>
                  <a:srgbClr val="2E3B41"/>
                </a:solidFill>
                <a:latin typeface="Malgun Gothic" pitchFamily="34" charset="0"/>
                <a:ea typeface="Malgun Gothic" pitchFamily="34" charset="-122"/>
                <a:cs typeface="Malgun Gothic" pitchFamily="34" charset="-120"/>
              </a:rPr>
              <a:t>— 초기 프로토타입은 </a:t>
            </a:r>
            <a:r>
              <a:rPr lang="en-US" sz="1350" b="1" dirty="0">
                <a:solidFill>
                  <a:srgbClr val="17262C"/>
                </a:solidFill>
                <a:latin typeface="Malgun Gothic" pitchFamily="34" charset="0"/>
                <a:ea typeface="Malgun Gothic" pitchFamily="34" charset="-122"/>
                <a:cs typeface="Malgun Gothic" pitchFamily="34" charset="-120"/>
              </a:rPr>
              <a:t>mosaik</a:t>
            </a:r>
            <a:r>
              <a:rPr lang="en-US" sz="1350" dirty="0">
                <a:solidFill>
                  <a:srgbClr val="2E3B41"/>
                </a:solidFill>
                <a:latin typeface="Malgun Gothic" pitchFamily="34" charset="0"/>
                <a:ea typeface="Malgun Gothic" pitchFamily="34" charset="-122"/>
                <a:cs typeface="Malgun Gothic" pitchFamily="34" charset="-120"/>
              </a:rPr>
              <a:t>(파이썬·빠른 실험), 규모를 키울 때 </a:t>
            </a:r>
            <a:r>
              <a:rPr lang="en-US" sz="1350" b="1" dirty="0">
                <a:solidFill>
                  <a:srgbClr val="17262C"/>
                </a:solidFill>
                <a:latin typeface="Malgun Gothic" pitchFamily="34" charset="0"/>
                <a:ea typeface="Malgun Gothic" pitchFamily="34" charset="-122"/>
                <a:cs typeface="Malgun Gothic" pitchFamily="34" charset="-120"/>
              </a:rPr>
              <a:t>HELICS</a:t>
            </a:r>
            <a:r>
              <a:rPr lang="en-US" sz="1350" dirty="0">
                <a:solidFill>
                  <a:srgbClr val="2E3B41"/>
                </a:solidFill>
                <a:latin typeface="Malgun Gothic" pitchFamily="34" charset="0"/>
                <a:ea typeface="Malgun Gothic" pitchFamily="34" charset="-122"/>
                <a:cs typeface="Malgun Gothic" pitchFamily="34" charset="-120"/>
              </a:rPr>
              <a:t>로 확장.</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25296" y="457200"/>
            <a:ext cx="10387584" cy="274320"/>
          </a:xfrm>
          <a:prstGeom prst="rect">
            <a:avLst/>
          </a:prstGeom>
          <a:noFill/>
          <a:ln/>
        </p:spPr>
        <p:txBody>
          <a:bodyPr wrap="square" rtlCol="0" anchor="ctr"/>
          <a:lstStyle/>
          <a:p>
            <a:pPr marL="0" indent="0">
              <a:buNone/>
            </a:pPr>
            <a:r>
              <a:rPr lang="en-US" sz="1100" b="1" kern="0" spc="200" dirty="0">
                <a:solidFill>
                  <a:srgbClr val="1C7293"/>
                </a:solidFill>
                <a:latin typeface="Malgun Gothic" pitchFamily="34" charset="0"/>
                <a:ea typeface="Malgun Gothic" pitchFamily="34" charset="-122"/>
                <a:cs typeface="Malgun Gothic" pitchFamily="34" charset="-120"/>
              </a:rPr>
              <a:t>OUR ASSET · 우리 자산</a:t>
            </a:r>
            <a:endParaRPr lang="en-US" sz="1100" dirty="0"/>
          </a:p>
        </p:txBody>
      </p:sp>
      <p:sp>
        <p:nvSpPr>
          <p:cNvPr id="3" name="Shape 1"/>
          <p:cNvSpPr/>
          <p:nvPr/>
        </p:nvSpPr>
        <p:spPr>
          <a:xfrm>
            <a:off x="548640" y="475488"/>
            <a:ext cx="548640" cy="548640"/>
          </a:xfrm>
          <a:prstGeom prst="ellipse">
            <a:avLst/>
          </a:prstGeom>
          <a:solidFill>
            <a:srgbClr val="0C3B4A"/>
          </a:solidFill>
          <a:ln/>
        </p:spPr>
      </p:sp>
      <p:pic>
        <p:nvPicPr>
          <p:cNvPr id="4" name="Image 0" descr="/tmp/icons2/carside.png"/>
          <p:cNvPicPr>
            <a:picLocks noChangeAspect="1"/>
          </p:cNvPicPr>
          <p:nvPr/>
        </p:nvPicPr>
        <p:blipFill>
          <a:blip r:embed="rId3"/>
          <a:stretch>
            <a:fillRect/>
          </a:stretch>
        </p:blipFill>
        <p:spPr>
          <a:xfrm>
            <a:off x="685800" y="612648"/>
            <a:ext cx="274320" cy="274320"/>
          </a:xfrm>
          <a:prstGeom prst="rect">
            <a:avLst/>
          </a:prstGeom>
        </p:spPr>
      </p:pic>
      <p:sp>
        <p:nvSpPr>
          <p:cNvPr id="5" name="Text 2"/>
          <p:cNvSpPr/>
          <p:nvPr/>
        </p:nvSpPr>
        <p:spPr>
          <a:xfrm>
            <a:off x="1225296" y="713232"/>
            <a:ext cx="10387584" cy="457200"/>
          </a:xfrm>
          <a:prstGeom prst="rect">
            <a:avLst/>
          </a:prstGeom>
          <a:noFill/>
          <a:ln/>
        </p:spPr>
        <p:txBody>
          <a:bodyPr wrap="square" rtlCol="0" anchor="ctr"/>
          <a:lstStyle/>
          <a:p>
            <a:pPr marL="0" indent="0">
              <a:buNone/>
            </a:pPr>
            <a:r>
              <a:rPr lang="en-US" sz="2600" b="1" dirty="0">
                <a:solidFill>
                  <a:srgbClr val="17262C"/>
                </a:solidFill>
                <a:latin typeface="Malgun Gothic" pitchFamily="34" charset="0"/>
                <a:ea typeface="Malgun Gothic" pitchFamily="34" charset="-122"/>
                <a:cs typeface="Malgun Gothic" pitchFamily="34" charset="-120"/>
              </a:rPr>
              <a:t>DTUMOS</a:t>
            </a:r>
            <a:endParaRPr lang="en-US" sz="2600" dirty="0"/>
          </a:p>
        </p:txBody>
      </p:sp>
      <p:sp>
        <p:nvSpPr>
          <p:cNvPr id="6" name="Text 3"/>
          <p:cNvSpPr/>
          <p:nvPr/>
        </p:nvSpPr>
        <p:spPr>
          <a:xfrm>
            <a:off x="1225296" y="1188720"/>
            <a:ext cx="10387584" cy="310896"/>
          </a:xfrm>
          <a:prstGeom prst="rect">
            <a:avLst/>
          </a:prstGeom>
          <a:noFill/>
          <a:ln/>
        </p:spPr>
        <p:txBody>
          <a:bodyPr wrap="square" rtlCol="0" anchor="ctr"/>
          <a:lstStyle/>
          <a:p>
            <a:pPr marL="0" indent="0">
              <a:buNone/>
            </a:pPr>
            <a:r>
              <a:rPr lang="en-US" sz="1250" i="1" dirty="0">
                <a:solidFill>
                  <a:srgbClr val="6C7C82"/>
                </a:solidFill>
                <a:latin typeface="Malgun Gothic" pitchFamily="34" charset="0"/>
                <a:ea typeface="Malgun Gothic" pitchFamily="34" charset="-122"/>
                <a:cs typeface="Malgun Gothic" pitchFamily="34" charset="-120"/>
              </a:rPr>
              <a:t>오픈소스 도시 모빌리티 디지털 트윈 (서울·뉴욕·시카고 검증) — MatSim 계열.</a:t>
            </a:r>
            <a:endParaRPr lang="en-US" sz="1250" dirty="0"/>
          </a:p>
        </p:txBody>
      </p:sp>
      <p:sp>
        <p:nvSpPr>
          <p:cNvPr id="7" name="Shape 4"/>
          <p:cNvSpPr/>
          <p:nvPr/>
        </p:nvSpPr>
        <p:spPr>
          <a:xfrm>
            <a:off x="548640" y="1691640"/>
            <a:ext cx="5440680" cy="4480560"/>
          </a:xfrm>
          <a:prstGeom prst="roundRect">
            <a:avLst>
              <a:gd name="adj" fmla="val 2449"/>
            </a:avLst>
          </a:prstGeom>
          <a:solidFill>
            <a:srgbClr val="EEF3F5"/>
          </a:solidFill>
          <a:ln/>
        </p:spPr>
      </p:sp>
      <p:sp>
        <p:nvSpPr>
          <p:cNvPr id="8" name="Shape 5"/>
          <p:cNvSpPr/>
          <p:nvPr/>
        </p:nvSpPr>
        <p:spPr>
          <a:xfrm>
            <a:off x="822960" y="1938528"/>
            <a:ext cx="603504" cy="603504"/>
          </a:xfrm>
          <a:prstGeom prst="ellipse">
            <a:avLst/>
          </a:prstGeom>
          <a:solidFill>
            <a:srgbClr val="1C7293"/>
          </a:solidFill>
          <a:ln/>
        </p:spPr>
      </p:sp>
      <p:pic>
        <p:nvPicPr>
          <p:cNvPr id="9" name="Image 1" descr="/tmp/icons2/check.png"/>
          <p:cNvPicPr>
            <a:picLocks noChangeAspect="1"/>
          </p:cNvPicPr>
          <p:nvPr/>
        </p:nvPicPr>
        <p:blipFill>
          <a:blip r:embed="rId4"/>
          <a:stretch>
            <a:fillRect/>
          </a:stretch>
        </p:blipFill>
        <p:spPr>
          <a:xfrm>
            <a:off x="973836" y="2089404"/>
            <a:ext cx="301752" cy="301752"/>
          </a:xfrm>
          <a:prstGeom prst="rect">
            <a:avLst/>
          </a:prstGeom>
        </p:spPr>
      </p:pic>
      <p:sp>
        <p:nvSpPr>
          <p:cNvPr id="10" name="Text 6"/>
          <p:cNvSpPr/>
          <p:nvPr/>
        </p:nvSpPr>
        <p:spPr>
          <a:xfrm>
            <a:off x="1554480" y="1938528"/>
            <a:ext cx="3657600" cy="603504"/>
          </a:xfrm>
          <a:prstGeom prst="rect">
            <a:avLst/>
          </a:prstGeom>
          <a:noFill/>
          <a:ln/>
        </p:spPr>
        <p:txBody>
          <a:bodyPr wrap="square" rtlCol="0" anchor="ctr"/>
          <a:lstStyle/>
          <a:p>
            <a:pPr marL="0" indent="0">
              <a:buNone/>
            </a:pPr>
            <a:r>
              <a:rPr lang="en-US" sz="1700" b="1" dirty="0">
                <a:solidFill>
                  <a:srgbClr val="1C7293"/>
                </a:solidFill>
                <a:latin typeface="Malgun Gothic" pitchFamily="34" charset="0"/>
                <a:ea typeface="Malgun Gothic" pitchFamily="34" charset="-122"/>
                <a:cs typeface="Malgun Gothic" pitchFamily="34" charset="-120"/>
              </a:rPr>
              <a:t>가진 것</a:t>
            </a:r>
            <a:endParaRPr lang="en-US" sz="1700" dirty="0"/>
          </a:p>
        </p:txBody>
      </p:sp>
      <p:sp>
        <p:nvSpPr>
          <p:cNvPr id="11" name="Shape 7"/>
          <p:cNvSpPr/>
          <p:nvPr/>
        </p:nvSpPr>
        <p:spPr>
          <a:xfrm>
            <a:off x="868680" y="2862072"/>
            <a:ext cx="182880" cy="182880"/>
          </a:xfrm>
          <a:prstGeom prst="ellipse">
            <a:avLst/>
          </a:prstGeom>
          <a:solidFill>
            <a:srgbClr val="1C7293"/>
          </a:solidFill>
          <a:ln/>
        </p:spPr>
      </p:sp>
      <p:sp>
        <p:nvSpPr>
          <p:cNvPr id="12" name="Text 8"/>
          <p:cNvSpPr/>
          <p:nvPr/>
        </p:nvSpPr>
        <p:spPr>
          <a:xfrm>
            <a:off x="1207008" y="2743200"/>
            <a:ext cx="4572000" cy="914400"/>
          </a:xfrm>
          <a:prstGeom prst="rect">
            <a:avLst/>
          </a:prstGeom>
          <a:noFill/>
          <a:ln/>
        </p:spPr>
        <p:txBody>
          <a:bodyPr wrap="square" rtlCol="0" anchor="t"/>
          <a:lstStyle/>
          <a:p>
            <a:pPr marL="0" indent="0">
              <a:lnSpc>
                <a:spcPts val="1600"/>
              </a:lnSpc>
              <a:buNone/>
            </a:pPr>
            <a:r>
              <a:rPr lang="en-US" sz="1350" b="1" dirty="0">
                <a:solidFill>
                  <a:srgbClr val="17262C"/>
                </a:solidFill>
                <a:latin typeface="Malgun Gothic" pitchFamily="34" charset="0"/>
                <a:ea typeface="Malgun Gothic" pitchFamily="34" charset="-122"/>
                <a:cs typeface="Malgun Gothic" pitchFamily="34" charset="-120"/>
              </a:rPr>
              <a:t>차량 라우팅 · 경로 생성</a:t>
            </a:r>
            <a:endParaRPr lang="en-US" sz="1350" dirty="0"/>
          </a:p>
          <a:p>
            <a:pPr marL="0" indent="0">
              <a:lnSpc>
                <a:spcPts val="1600"/>
              </a:lnSpc>
              <a:buNone/>
            </a:pPr>
            <a:r>
              <a:rPr lang="en-US" sz="1150" dirty="0">
                <a:solidFill>
                  <a:srgbClr val="6C7C82"/>
                </a:solidFill>
                <a:latin typeface="Malgun Gothic" pitchFamily="34" charset="0"/>
                <a:ea typeface="Malgun Gothic" pitchFamily="34" charset="-122"/>
                <a:cs typeface="Malgun Gothic" pitchFamily="34" charset="-120"/>
              </a:rPr>
              <a:t>도시 내 수천 대 차량의 이동을 재현</a:t>
            </a:r>
            <a:endParaRPr lang="en-US" sz="1350" dirty="0"/>
          </a:p>
        </p:txBody>
      </p:sp>
      <p:sp>
        <p:nvSpPr>
          <p:cNvPr id="13" name="Shape 9"/>
          <p:cNvSpPr/>
          <p:nvPr/>
        </p:nvSpPr>
        <p:spPr>
          <a:xfrm>
            <a:off x="868680" y="3913632"/>
            <a:ext cx="182880" cy="182880"/>
          </a:xfrm>
          <a:prstGeom prst="ellipse">
            <a:avLst/>
          </a:prstGeom>
          <a:solidFill>
            <a:srgbClr val="1C7293"/>
          </a:solidFill>
          <a:ln/>
        </p:spPr>
      </p:sp>
      <p:sp>
        <p:nvSpPr>
          <p:cNvPr id="14" name="Text 10"/>
          <p:cNvSpPr/>
          <p:nvPr/>
        </p:nvSpPr>
        <p:spPr>
          <a:xfrm>
            <a:off x="1207008" y="3794760"/>
            <a:ext cx="4572000" cy="914400"/>
          </a:xfrm>
          <a:prstGeom prst="rect">
            <a:avLst/>
          </a:prstGeom>
          <a:noFill/>
          <a:ln/>
        </p:spPr>
        <p:txBody>
          <a:bodyPr wrap="square" rtlCol="0" anchor="t"/>
          <a:lstStyle/>
          <a:p>
            <a:pPr marL="0" indent="0">
              <a:lnSpc>
                <a:spcPts val="1600"/>
              </a:lnSpc>
              <a:buNone/>
            </a:pPr>
            <a:r>
              <a:rPr lang="en-US" sz="1350" b="1" dirty="0">
                <a:solidFill>
                  <a:srgbClr val="17262C"/>
                </a:solidFill>
                <a:latin typeface="Malgun Gothic" pitchFamily="34" charset="0"/>
                <a:ea typeface="Malgun Gothic" pitchFamily="34" charset="-122"/>
                <a:cs typeface="Malgun Gothic" pitchFamily="34" charset="-120"/>
              </a:rPr>
              <a:t>AI 기반 도착시간(ETA) 예측</a:t>
            </a:r>
            <a:endParaRPr lang="en-US" sz="1350" dirty="0"/>
          </a:p>
          <a:p>
            <a:pPr marL="0" indent="0">
              <a:lnSpc>
                <a:spcPts val="1600"/>
              </a:lnSpc>
              <a:buNone/>
            </a:pPr>
            <a:r>
              <a:rPr lang="en-US" sz="1150" dirty="0">
                <a:solidFill>
                  <a:srgbClr val="6C7C82"/>
                </a:solidFill>
                <a:latin typeface="Malgun Gothic" pitchFamily="34" charset="0"/>
                <a:ea typeface="Malgun Gothic" pitchFamily="34" charset="-122"/>
                <a:cs typeface="Malgun Gothic" pitchFamily="34" charset="-120"/>
              </a:rPr>
              <a:t>빠른 속도로 대규모 시뮬레이션</a:t>
            </a:r>
            <a:endParaRPr lang="en-US" sz="1350" dirty="0"/>
          </a:p>
        </p:txBody>
      </p:sp>
      <p:sp>
        <p:nvSpPr>
          <p:cNvPr id="15" name="Shape 11"/>
          <p:cNvSpPr/>
          <p:nvPr/>
        </p:nvSpPr>
        <p:spPr>
          <a:xfrm>
            <a:off x="868680" y="4965192"/>
            <a:ext cx="182880" cy="182880"/>
          </a:xfrm>
          <a:prstGeom prst="ellipse">
            <a:avLst/>
          </a:prstGeom>
          <a:solidFill>
            <a:srgbClr val="1C7293"/>
          </a:solidFill>
          <a:ln/>
        </p:spPr>
      </p:sp>
      <p:sp>
        <p:nvSpPr>
          <p:cNvPr id="16" name="Text 12"/>
          <p:cNvSpPr/>
          <p:nvPr/>
        </p:nvSpPr>
        <p:spPr>
          <a:xfrm>
            <a:off x="1207008" y="4846320"/>
            <a:ext cx="4572000" cy="914400"/>
          </a:xfrm>
          <a:prstGeom prst="rect">
            <a:avLst/>
          </a:prstGeom>
          <a:noFill/>
          <a:ln/>
        </p:spPr>
        <p:txBody>
          <a:bodyPr wrap="square" rtlCol="0" anchor="t"/>
          <a:lstStyle/>
          <a:p>
            <a:pPr marL="0" indent="0">
              <a:lnSpc>
                <a:spcPts val="1600"/>
              </a:lnSpc>
              <a:buNone/>
            </a:pPr>
            <a:r>
              <a:rPr lang="en-US" sz="1350" b="1" dirty="0">
                <a:solidFill>
                  <a:srgbClr val="17262C"/>
                </a:solidFill>
                <a:latin typeface="Malgun Gothic" pitchFamily="34" charset="0"/>
                <a:ea typeface="Malgun Gothic" pitchFamily="34" charset="-122"/>
                <a:cs typeface="Malgun Gothic" pitchFamily="34" charset="-120"/>
              </a:rPr>
              <a:t>대규모 시각화 · 확장성</a:t>
            </a:r>
            <a:endParaRPr lang="en-US" sz="1350" dirty="0"/>
          </a:p>
          <a:p>
            <a:pPr marL="0" indent="0">
              <a:lnSpc>
                <a:spcPts val="1600"/>
              </a:lnSpc>
              <a:buNone/>
            </a:pPr>
            <a:r>
              <a:rPr lang="en-US" sz="1150" dirty="0">
                <a:solidFill>
                  <a:srgbClr val="6C7C82"/>
                </a:solidFill>
                <a:latin typeface="Malgun Gothic" pitchFamily="34" charset="0"/>
                <a:ea typeface="Malgun Gothic" pitchFamily="34" charset="-122"/>
                <a:cs typeface="Malgun Gothic" pitchFamily="34" charset="-120"/>
              </a:rPr>
              <a:t>어느 도시에나 적용 가능한 경량 구조</a:t>
            </a:r>
            <a:endParaRPr lang="en-US" sz="1350" dirty="0"/>
          </a:p>
        </p:txBody>
      </p:sp>
      <p:sp>
        <p:nvSpPr>
          <p:cNvPr id="17" name="Shape 13"/>
          <p:cNvSpPr/>
          <p:nvPr/>
        </p:nvSpPr>
        <p:spPr>
          <a:xfrm>
            <a:off x="6172200" y="1691640"/>
            <a:ext cx="5440680" cy="4480560"/>
          </a:xfrm>
          <a:prstGeom prst="roundRect">
            <a:avLst>
              <a:gd name="adj" fmla="val 2449"/>
            </a:avLst>
          </a:prstGeom>
          <a:solidFill>
            <a:srgbClr val="0C3B4A"/>
          </a:solidFill>
          <a:ln/>
          <a:effectLst>
            <a:outerShdw blurRad="88900" dist="38100" dir="5400000" algn="bl" rotWithShape="0">
              <a:srgbClr val="B9C6CE">
                <a:alpha val="30000"/>
              </a:srgbClr>
            </a:outerShdw>
          </a:effectLst>
        </p:spPr>
      </p:sp>
      <p:sp>
        <p:nvSpPr>
          <p:cNvPr id="18" name="Shape 14"/>
          <p:cNvSpPr/>
          <p:nvPr/>
        </p:nvSpPr>
        <p:spPr>
          <a:xfrm>
            <a:off x="6446520" y="1938528"/>
            <a:ext cx="603504" cy="603504"/>
          </a:xfrm>
          <a:prstGeom prst="ellipse">
            <a:avLst/>
          </a:prstGeom>
          <a:solidFill>
            <a:srgbClr val="E29A34"/>
          </a:solidFill>
          <a:ln/>
        </p:spPr>
      </p:sp>
      <p:pic>
        <p:nvPicPr>
          <p:cNvPr id="19" name="Image 2" descr="/tmp/icons2/times.png"/>
          <p:cNvPicPr>
            <a:picLocks noChangeAspect="1"/>
          </p:cNvPicPr>
          <p:nvPr/>
        </p:nvPicPr>
        <p:blipFill>
          <a:blip r:embed="rId5"/>
          <a:stretch>
            <a:fillRect/>
          </a:stretch>
        </p:blipFill>
        <p:spPr>
          <a:xfrm>
            <a:off x="6597396" y="2089404"/>
            <a:ext cx="301752" cy="301752"/>
          </a:xfrm>
          <a:prstGeom prst="rect">
            <a:avLst/>
          </a:prstGeom>
        </p:spPr>
      </p:pic>
      <p:sp>
        <p:nvSpPr>
          <p:cNvPr id="20" name="Text 15"/>
          <p:cNvSpPr/>
          <p:nvPr/>
        </p:nvSpPr>
        <p:spPr>
          <a:xfrm>
            <a:off x="7178040" y="1938528"/>
            <a:ext cx="4206240" cy="603504"/>
          </a:xfrm>
          <a:prstGeom prst="rect">
            <a:avLst/>
          </a:prstGeom>
          <a:noFill/>
          <a:ln/>
        </p:spPr>
        <p:txBody>
          <a:bodyPr wrap="square" rtlCol="0" anchor="ctr"/>
          <a:lstStyle/>
          <a:p>
            <a:pPr marL="0" indent="0">
              <a:buNone/>
            </a:pPr>
            <a:r>
              <a:rPr lang="en-US" sz="1700" b="1" dirty="0">
                <a:solidFill>
                  <a:srgbClr val="E29A34"/>
                </a:solidFill>
                <a:latin typeface="Malgun Gothic" pitchFamily="34" charset="0"/>
                <a:ea typeface="Malgun Gothic" pitchFamily="34" charset="-122"/>
                <a:cs typeface="Malgun Gothic" pitchFamily="34" charset="-120"/>
              </a:rPr>
              <a:t>없는 것 (그래서 만들어야 함)</a:t>
            </a:r>
            <a:endParaRPr lang="en-US" sz="1700" dirty="0"/>
          </a:p>
        </p:txBody>
      </p:sp>
      <p:sp>
        <p:nvSpPr>
          <p:cNvPr id="21" name="Shape 16"/>
          <p:cNvSpPr/>
          <p:nvPr/>
        </p:nvSpPr>
        <p:spPr>
          <a:xfrm>
            <a:off x="6492240" y="2862072"/>
            <a:ext cx="182880" cy="182880"/>
          </a:xfrm>
          <a:prstGeom prst="ellipse">
            <a:avLst/>
          </a:prstGeom>
          <a:solidFill>
            <a:srgbClr val="E29A34"/>
          </a:solidFill>
          <a:ln/>
        </p:spPr>
      </p:sp>
      <p:sp>
        <p:nvSpPr>
          <p:cNvPr id="22" name="Text 17"/>
          <p:cNvSpPr/>
          <p:nvPr/>
        </p:nvSpPr>
        <p:spPr>
          <a:xfrm>
            <a:off x="6830568" y="2743200"/>
            <a:ext cx="4572000" cy="914400"/>
          </a:xfrm>
          <a:prstGeom prst="rect">
            <a:avLst/>
          </a:prstGeom>
          <a:noFill/>
          <a:ln/>
        </p:spPr>
        <p:txBody>
          <a:bodyPr wrap="square" rtlCol="0" anchor="t"/>
          <a:lstStyle/>
          <a:p>
            <a:pPr marL="0" indent="0">
              <a:lnSpc>
                <a:spcPts val="1600"/>
              </a:lnSpc>
              <a:buNone/>
            </a:pPr>
            <a:r>
              <a:rPr lang="en-US" sz="1350" b="1" dirty="0">
                <a:solidFill>
                  <a:srgbClr val="FFFFFF"/>
                </a:solidFill>
                <a:latin typeface="Malgun Gothic" pitchFamily="34" charset="0"/>
                <a:ea typeface="Malgun Gothic" pitchFamily="34" charset="-122"/>
                <a:cs typeface="Malgun Gothic" pitchFamily="34" charset="-120"/>
              </a:rPr>
              <a:t>에너지 모델링</a:t>
            </a:r>
            <a:endParaRPr lang="en-US" sz="1350" dirty="0"/>
          </a:p>
          <a:p>
            <a:pPr marL="0" indent="0">
              <a:lnSpc>
                <a:spcPts val="1600"/>
              </a:lnSpc>
              <a:buNone/>
            </a:pPr>
            <a:r>
              <a:rPr lang="en-US" sz="1150" dirty="0">
                <a:solidFill>
                  <a:srgbClr val="AECAD6"/>
                </a:solidFill>
                <a:latin typeface="Malgun Gothic" pitchFamily="34" charset="0"/>
                <a:ea typeface="Malgun Gothic" pitchFamily="34" charset="-122"/>
                <a:cs typeface="Malgun Gothic" pitchFamily="34" charset="-120"/>
              </a:rPr>
              <a:t>전기차가 배터리를 얼마나 쓰는지 계산 못 함</a:t>
            </a:r>
            <a:endParaRPr lang="en-US" sz="1350" dirty="0"/>
          </a:p>
        </p:txBody>
      </p:sp>
      <p:sp>
        <p:nvSpPr>
          <p:cNvPr id="23" name="Shape 18"/>
          <p:cNvSpPr/>
          <p:nvPr/>
        </p:nvSpPr>
        <p:spPr>
          <a:xfrm>
            <a:off x="6492240" y="3913632"/>
            <a:ext cx="182880" cy="182880"/>
          </a:xfrm>
          <a:prstGeom prst="ellipse">
            <a:avLst/>
          </a:prstGeom>
          <a:solidFill>
            <a:srgbClr val="E29A34"/>
          </a:solidFill>
          <a:ln/>
        </p:spPr>
      </p:sp>
      <p:sp>
        <p:nvSpPr>
          <p:cNvPr id="24" name="Text 19"/>
          <p:cNvSpPr/>
          <p:nvPr/>
        </p:nvSpPr>
        <p:spPr>
          <a:xfrm>
            <a:off x="6830568" y="3794760"/>
            <a:ext cx="4572000" cy="914400"/>
          </a:xfrm>
          <a:prstGeom prst="rect">
            <a:avLst/>
          </a:prstGeom>
          <a:noFill/>
          <a:ln/>
        </p:spPr>
        <p:txBody>
          <a:bodyPr wrap="square" rtlCol="0" anchor="t"/>
          <a:lstStyle/>
          <a:p>
            <a:pPr marL="0" indent="0">
              <a:lnSpc>
                <a:spcPts val="1600"/>
              </a:lnSpc>
              <a:buNone/>
            </a:pPr>
            <a:r>
              <a:rPr lang="en-US" sz="1350" b="1" dirty="0">
                <a:solidFill>
                  <a:srgbClr val="FFFFFF"/>
                </a:solidFill>
                <a:latin typeface="Malgun Gothic" pitchFamily="34" charset="0"/>
                <a:ea typeface="Malgun Gothic" pitchFamily="34" charset="-122"/>
                <a:cs typeface="Malgun Gothic" pitchFamily="34" charset="-120"/>
              </a:rPr>
              <a:t>충전 모델링</a:t>
            </a:r>
            <a:endParaRPr lang="en-US" sz="1350" dirty="0"/>
          </a:p>
          <a:p>
            <a:pPr marL="0" indent="0">
              <a:lnSpc>
                <a:spcPts val="1600"/>
              </a:lnSpc>
              <a:buNone/>
            </a:pPr>
            <a:r>
              <a:rPr lang="en-US" sz="1150" dirty="0">
                <a:solidFill>
                  <a:srgbClr val="AECAD6"/>
                </a:solidFill>
                <a:latin typeface="Malgun Gothic" pitchFamily="34" charset="0"/>
                <a:ea typeface="Malgun Gothic" pitchFamily="34" charset="-122"/>
                <a:cs typeface="Malgun Gothic" pitchFamily="34" charset="-120"/>
              </a:rPr>
              <a:t>언제·어디서 충전하는지 없음</a:t>
            </a:r>
            <a:endParaRPr lang="en-US" sz="1350" dirty="0"/>
          </a:p>
        </p:txBody>
      </p:sp>
      <p:sp>
        <p:nvSpPr>
          <p:cNvPr id="25" name="Shape 20"/>
          <p:cNvSpPr/>
          <p:nvPr/>
        </p:nvSpPr>
        <p:spPr>
          <a:xfrm>
            <a:off x="6492240" y="4965192"/>
            <a:ext cx="182880" cy="182880"/>
          </a:xfrm>
          <a:prstGeom prst="ellipse">
            <a:avLst/>
          </a:prstGeom>
          <a:solidFill>
            <a:srgbClr val="E29A34"/>
          </a:solidFill>
          <a:ln/>
        </p:spPr>
      </p:sp>
      <p:sp>
        <p:nvSpPr>
          <p:cNvPr id="26" name="Text 21"/>
          <p:cNvSpPr/>
          <p:nvPr/>
        </p:nvSpPr>
        <p:spPr>
          <a:xfrm>
            <a:off x="6830568" y="4846320"/>
            <a:ext cx="4572000" cy="914400"/>
          </a:xfrm>
          <a:prstGeom prst="rect">
            <a:avLst/>
          </a:prstGeom>
          <a:noFill/>
          <a:ln/>
        </p:spPr>
        <p:txBody>
          <a:bodyPr wrap="square" rtlCol="0" anchor="t"/>
          <a:lstStyle/>
          <a:p>
            <a:pPr marL="0" indent="0">
              <a:lnSpc>
                <a:spcPts val="1600"/>
              </a:lnSpc>
              <a:buNone/>
            </a:pPr>
            <a:r>
              <a:rPr lang="en-US" sz="1350" b="1" dirty="0">
                <a:solidFill>
                  <a:srgbClr val="FFFFFF"/>
                </a:solidFill>
                <a:latin typeface="Malgun Gothic" pitchFamily="34" charset="0"/>
                <a:ea typeface="Malgun Gothic" pitchFamily="34" charset="-122"/>
                <a:cs typeface="Malgun Gothic" pitchFamily="34" charset="-120"/>
              </a:rPr>
              <a:t>전력망 연결</a:t>
            </a:r>
            <a:endParaRPr lang="en-US" sz="1350" dirty="0"/>
          </a:p>
          <a:p>
            <a:pPr marL="0" indent="0">
              <a:lnSpc>
                <a:spcPts val="1600"/>
              </a:lnSpc>
              <a:buNone/>
            </a:pPr>
            <a:r>
              <a:rPr lang="en-US" sz="1150" dirty="0">
                <a:solidFill>
                  <a:srgbClr val="AECAD6"/>
                </a:solidFill>
                <a:latin typeface="Malgun Gothic" pitchFamily="34" charset="0"/>
                <a:ea typeface="Malgun Gothic" pitchFamily="34" charset="-122"/>
                <a:cs typeface="Malgun Gothic" pitchFamily="34" charset="-120"/>
              </a:rPr>
              <a:t>충전 부하가 전력망에 주는 영향 없음</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25296" y="457200"/>
            <a:ext cx="10387584" cy="274320"/>
          </a:xfrm>
          <a:prstGeom prst="rect">
            <a:avLst/>
          </a:prstGeom>
          <a:noFill/>
          <a:ln/>
        </p:spPr>
        <p:txBody>
          <a:bodyPr wrap="square" rtlCol="0" anchor="ctr"/>
          <a:lstStyle/>
          <a:p>
            <a:pPr marL="0" indent="0">
              <a:buNone/>
            </a:pPr>
            <a:r>
              <a:rPr lang="en-US" sz="1100" b="1" kern="0" spc="200" dirty="0">
                <a:solidFill>
                  <a:srgbClr val="1C7293"/>
                </a:solidFill>
                <a:latin typeface="Malgun Gothic" pitchFamily="34" charset="0"/>
                <a:ea typeface="Malgun Gothic" pitchFamily="34" charset="-122"/>
                <a:cs typeface="Malgun Gothic" pitchFamily="34" charset="-120"/>
              </a:rPr>
              <a:t>CANDIDATES · 오픈소스 후보</a:t>
            </a:r>
            <a:endParaRPr lang="en-US" sz="1100" dirty="0"/>
          </a:p>
        </p:txBody>
      </p:sp>
      <p:sp>
        <p:nvSpPr>
          <p:cNvPr id="3" name="Shape 1"/>
          <p:cNvSpPr/>
          <p:nvPr/>
        </p:nvSpPr>
        <p:spPr>
          <a:xfrm>
            <a:off x="548640" y="475488"/>
            <a:ext cx="548640" cy="548640"/>
          </a:xfrm>
          <a:prstGeom prst="ellipse">
            <a:avLst/>
          </a:prstGeom>
          <a:solidFill>
            <a:srgbClr val="0C3B4A"/>
          </a:solidFill>
          <a:ln/>
        </p:spPr>
      </p:sp>
      <p:pic>
        <p:nvPicPr>
          <p:cNvPr id="4" name="Image 0" descr="/tmp/icons2/layers.png"/>
          <p:cNvPicPr>
            <a:picLocks noChangeAspect="1"/>
          </p:cNvPicPr>
          <p:nvPr/>
        </p:nvPicPr>
        <p:blipFill>
          <a:blip r:embed="rId3"/>
          <a:stretch>
            <a:fillRect/>
          </a:stretch>
        </p:blipFill>
        <p:spPr>
          <a:xfrm>
            <a:off x="685800" y="612648"/>
            <a:ext cx="274320" cy="274320"/>
          </a:xfrm>
          <a:prstGeom prst="rect">
            <a:avLst/>
          </a:prstGeom>
        </p:spPr>
      </p:pic>
      <p:sp>
        <p:nvSpPr>
          <p:cNvPr id="5" name="Text 2"/>
          <p:cNvSpPr/>
          <p:nvPr/>
        </p:nvSpPr>
        <p:spPr>
          <a:xfrm>
            <a:off x="1225296" y="713232"/>
            <a:ext cx="10387584" cy="457200"/>
          </a:xfrm>
          <a:prstGeom prst="rect">
            <a:avLst/>
          </a:prstGeom>
          <a:noFill/>
          <a:ln/>
        </p:spPr>
        <p:txBody>
          <a:bodyPr wrap="square" rtlCol="0" anchor="ctr"/>
          <a:lstStyle/>
          <a:p>
            <a:pPr marL="0" indent="0">
              <a:buNone/>
            </a:pPr>
            <a:r>
              <a:rPr lang="en-US" sz="2600" b="1" dirty="0">
                <a:solidFill>
                  <a:srgbClr val="17262C"/>
                </a:solidFill>
                <a:latin typeface="Malgun Gothic" pitchFamily="34" charset="0"/>
                <a:ea typeface="Malgun Gothic" pitchFamily="34" charset="-122"/>
                <a:cs typeface="Malgun Gothic" pitchFamily="34" charset="-120"/>
              </a:rPr>
              <a:t>도메인별 오픈소스 후보</a:t>
            </a:r>
            <a:endParaRPr lang="en-US" sz="2600" dirty="0"/>
          </a:p>
        </p:txBody>
      </p:sp>
      <p:sp>
        <p:nvSpPr>
          <p:cNvPr id="6" name="Text 3"/>
          <p:cNvSpPr/>
          <p:nvPr/>
        </p:nvSpPr>
        <p:spPr>
          <a:xfrm>
            <a:off x="1225296" y="1188720"/>
            <a:ext cx="10387584" cy="310896"/>
          </a:xfrm>
          <a:prstGeom prst="rect">
            <a:avLst/>
          </a:prstGeom>
          <a:noFill/>
          <a:ln/>
        </p:spPr>
        <p:txBody>
          <a:bodyPr wrap="square" rtlCol="0" anchor="ctr"/>
          <a:lstStyle/>
          <a:p>
            <a:pPr marL="0" indent="0">
              <a:buNone/>
            </a:pPr>
            <a:r>
              <a:rPr lang="en-US" sz="1250" i="1" dirty="0">
                <a:solidFill>
                  <a:srgbClr val="6C7C82"/>
                </a:solidFill>
                <a:latin typeface="Malgun Gothic" pitchFamily="34" charset="0"/>
                <a:ea typeface="Malgun Gothic" pitchFamily="34" charset="-122"/>
                <a:cs typeface="Malgun Gothic" pitchFamily="34" charset="-120"/>
              </a:rPr>
              <a:t>모두 오픈소스이며 현재도 활발히 유지되는 도구 — </a:t>
            </a:r>
            <a:r>
              <a:rPr lang="ko-KR" altLang="en-US" sz="1250" i="1" dirty="0">
                <a:solidFill>
                  <a:srgbClr val="6C7C82"/>
                </a:solidFill>
                <a:latin typeface="Malgun Gothic" pitchFamily="34" charset="0"/>
                <a:ea typeface="Malgun Gothic" pitchFamily="34" charset="-122"/>
                <a:cs typeface="Malgun Gothic" pitchFamily="34" charset="-120"/>
              </a:rPr>
              <a:t>오픈소스</a:t>
            </a:r>
            <a:r>
              <a:rPr lang="en-US" altLang="ko-KR" sz="1250" i="1" dirty="0">
                <a:solidFill>
                  <a:srgbClr val="6C7C82"/>
                </a:solidFill>
                <a:latin typeface="Malgun Gothic" pitchFamily="34" charset="0"/>
                <a:ea typeface="Malgun Gothic" pitchFamily="34" charset="-122"/>
                <a:cs typeface="Malgun Gothic" pitchFamily="34" charset="-120"/>
              </a:rPr>
              <a:t>,</a:t>
            </a:r>
            <a:r>
              <a:rPr lang="ko-KR" altLang="en-US" sz="1250" i="1" dirty="0">
                <a:solidFill>
                  <a:srgbClr val="6C7C82"/>
                </a:solidFill>
                <a:latin typeface="Malgun Gothic" pitchFamily="34" charset="0"/>
                <a:ea typeface="Malgun Gothic" pitchFamily="34" charset="-122"/>
                <a:cs typeface="Malgun Gothic" pitchFamily="34" charset="-120"/>
              </a:rPr>
              <a:t>유지되고 있음</a:t>
            </a:r>
            <a:endParaRPr lang="en-US" sz="1250" dirty="0"/>
          </a:p>
        </p:txBody>
      </p:sp>
      <p:sp>
        <p:nvSpPr>
          <p:cNvPr id="7" name="Shape 4"/>
          <p:cNvSpPr/>
          <p:nvPr/>
        </p:nvSpPr>
        <p:spPr>
          <a:xfrm>
            <a:off x="548640" y="1737360"/>
            <a:ext cx="3566160" cy="3200400"/>
          </a:xfrm>
          <a:prstGeom prst="roundRect">
            <a:avLst>
              <a:gd name="adj" fmla="val 3429"/>
            </a:avLst>
          </a:prstGeom>
          <a:solidFill>
            <a:srgbClr val="FFFFFF"/>
          </a:solidFill>
          <a:ln w="12700">
            <a:solidFill>
              <a:srgbClr val="D3E0E4"/>
            </a:solidFill>
            <a:prstDash val="solid"/>
          </a:ln>
          <a:effectLst>
            <a:outerShdw blurRad="88900" dist="38100" dir="5400000" algn="bl" rotWithShape="0">
              <a:srgbClr val="B9C6CE">
                <a:alpha val="30000"/>
              </a:srgbClr>
            </a:outerShdw>
          </a:effectLst>
        </p:spPr>
      </p:sp>
      <p:sp>
        <p:nvSpPr>
          <p:cNvPr id="8" name="Shape 5"/>
          <p:cNvSpPr/>
          <p:nvPr/>
        </p:nvSpPr>
        <p:spPr>
          <a:xfrm>
            <a:off x="1920240" y="1965960"/>
            <a:ext cx="822960" cy="822960"/>
          </a:xfrm>
          <a:prstGeom prst="ellipse">
            <a:avLst/>
          </a:prstGeom>
          <a:solidFill>
            <a:srgbClr val="1C7293"/>
          </a:solidFill>
          <a:ln/>
        </p:spPr>
      </p:sp>
      <p:pic>
        <p:nvPicPr>
          <p:cNvPr id="9" name="Image 1" descr="/tmp/icons2/car.png"/>
          <p:cNvPicPr>
            <a:picLocks noChangeAspect="1"/>
          </p:cNvPicPr>
          <p:nvPr/>
        </p:nvPicPr>
        <p:blipFill>
          <a:blip r:embed="rId4"/>
          <a:stretch>
            <a:fillRect/>
          </a:stretch>
        </p:blipFill>
        <p:spPr>
          <a:xfrm>
            <a:off x="2125980" y="2171700"/>
            <a:ext cx="411480" cy="411480"/>
          </a:xfrm>
          <a:prstGeom prst="rect">
            <a:avLst/>
          </a:prstGeom>
        </p:spPr>
      </p:pic>
      <p:sp>
        <p:nvSpPr>
          <p:cNvPr id="10" name="Text 6"/>
          <p:cNvSpPr/>
          <p:nvPr/>
        </p:nvSpPr>
        <p:spPr>
          <a:xfrm>
            <a:off x="548640" y="2834640"/>
            <a:ext cx="3566160" cy="320040"/>
          </a:xfrm>
          <a:prstGeom prst="rect">
            <a:avLst/>
          </a:prstGeom>
          <a:noFill/>
          <a:ln/>
        </p:spPr>
        <p:txBody>
          <a:bodyPr wrap="square" rtlCol="0" anchor="ctr"/>
          <a:lstStyle/>
          <a:p>
            <a:pPr marL="0" indent="0" algn="ctr">
              <a:buNone/>
            </a:pPr>
            <a:r>
              <a:rPr lang="en-US" sz="1300" b="1" dirty="0">
                <a:solidFill>
                  <a:srgbClr val="6C7C82"/>
                </a:solidFill>
                <a:latin typeface="Malgun Gothic" pitchFamily="34" charset="0"/>
                <a:ea typeface="Malgun Gothic" pitchFamily="34" charset="-122"/>
                <a:cs typeface="Malgun Gothic" pitchFamily="34" charset="-120"/>
              </a:rPr>
              <a:t>교통</a:t>
            </a:r>
            <a:endParaRPr lang="en-US" sz="1300" dirty="0"/>
          </a:p>
        </p:txBody>
      </p:sp>
      <p:sp>
        <p:nvSpPr>
          <p:cNvPr id="11" name="Text 7"/>
          <p:cNvSpPr/>
          <p:nvPr/>
        </p:nvSpPr>
        <p:spPr>
          <a:xfrm>
            <a:off x="548640" y="3127248"/>
            <a:ext cx="3566160" cy="411480"/>
          </a:xfrm>
          <a:prstGeom prst="rect">
            <a:avLst/>
          </a:prstGeom>
          <a:noFill/>
          <a:ln/>
        </p:spPr>
        <p:txBody>
          <a:bodyPr wrap="square" rtlCol="0" anchor="ctr"/>
          <a:lstStyle/>
          <a:p>
            <a:pPr marL="0" indent="0" algn="ctr">
              <a:buNone/>
            </a:pPr>
            <a:r>
              <a:rPr lang="en-US" sz="2000" b="1" dirty="0">
                <a:solidFill>
                  <a:srgbClr val="17262C"/>
                </a:solidFill>
                <a:latin typeface="Malgun Gothic" pitchFamily="34" charset="0"/>
                <a:ea typeface="Malgun Gothic" pitchFamily="34" charset="-122"/>
                <a:cs typeface="Malgun Gothic" pitchFamily="34" charset="-120"/>
              </a:rPr>
              <a:t>DTUMOS</a:t>
            </a:r>
            <a:endParaRPr lang="en-US" sz="2000" dirty="0"/>
          </a:p>
        </p:txBody>
      </p:sp>
      <p:sp>
        <p:nvSpPr>
          <p:cNvPr id="12" name="Text 8"/>
          <p:cNvSpPr/>
          <p:nvPr/>
        </p:nvSpPr>
        <p:spPr>
          <a:xfrm>
            <a:off x="777240" y="3611880"/>
            <a:ext cx="3108960" cy="457200"/>
          </a:xfrm>
          <a:prstGeom prst="rect">
            <a:avLst/>
          </a:prstGeom>
          <a:noFill/>
          <a:ln/>
        </p:spPr>
        <p:txBody>
          <a:bodyPr wrap="square" rtlCol="0" anchor="ctr"/>
          <a:lstStyle/>
          <a:p>
            <a:pPr marL="0" indent="0" algn="ctr">
              <a:lnSpc>
                <a:spcPts val="1500"/>
              </a:lnSpc>
              <a:buNone/>
            </a:pPr>
            <a:r>
              <a:rPr lang="en-US" sz="1150" dirty="0">
                <a:solidFill>
                  <a:srgbClr val="2E3B41"/>
                </a:solidFill>
                <a:latin typeface="Malgun Gothic" pitchFamily="34" charset="0"/>
                <a:ea typeface="Malgun Gothic" pitchFamily="34" charset="-122"/>
                <a:cs typeface="Malgun Gothic" pitchFamily="34" charset="-120"/>
              </a:rPr>
              <a:t>우리 자산 (여기에 에너지 추가)</a:t>
            </a:r>
            <a:endParaRPr lang="en-US" sz="1150" dirty="0"/>
          </a:p>
        </p:txBody>
      </p:sp>
      <p:sp>
        <p:nvSpPr>
          <p:cNvPr id="13" name="Shape 9"/>
          <p:cNvSpPr/>
          <p:nvPr/>
        </p:nvSpPr>
        <p:spPr>
          <a:xfrm>
            <a:off x="914400" y="4160520"/>
            <a:ext cx="2834640" cy="0"/>
          </a:xfrm>
          <a:prstGeom prst="line">
            <a:avLst/>
          </a:prstGeom>
          <a:noFill/>
          <a:ln w="12700">
            <a:solidFill>
              <a:srgbClr val="D3E0E4"/>
            </a:solidFill>
            <a:prstDash val="solid"/>
          </a:ln>
        </p:spPr>
      </p:sp>
      <p:sp>
        <p:nvSpPr>
          <p:cNvPr id="14" name="Text 10"/>
          <p:cNvSpPr/>
          <p:nvPr/>
        </p:nvSpPr>
        <p:spPr>
          <a:xfrm>
            <a:off x="777240" y="4224528"/>
            <a:ext cx="3108960" cy="640080"/>
          </a:xfrm>
          <a:prstGeom prst="rect">
            <a:avLst/>
          </a:prstGeom>
          <a:noFill/>
          <a:ln/>
        </p:spPr>
        <p:txBody>
          <a:bodyPr wrap="square" rtlCol="0" anchor="ctr"/>
          <a:lstStyle/>
          <a:p>
            <a:pPr marL="0" indent="0" algn="ctr">
              <a:lnSpc>
                <a:spcPts val="1400"/>
              </a:lnSpc>
              <a:buNone/>
            </a:pPr>
            <a:r>
              <a:rPr lang="en-US" sz="1100" i="1" dirty="0">
                <a:solidFill>
                  <a:srgbClr val="1C7293"/>
                </a:solidFill>
                <a:latin typeface="Malgun Gothic" pitchFamily="34" charset="0"/>
                <a:ea typeface="Malgun Gothic" pitchFamily="34" charset="-122"/>
                <a:cs typeface="Malgun Gothic" pitchFamily="34" charset="-120"/>
              </a:rPr>
              <a:t>참고: SUMO — 전기차 에너지 내장</a:t>
            </a:r>
            <a:endParaRPr lang="en-US" sz="1100" dirty="0"/>
          </a:p>
        </p:txBody>
      </p:sp>
      <p:sp>
        <p:nvSpPr>
          <p:cNvPr id="15" name="Shape 11"/>
          <p:cNvSpPr/>
          <p:nvPr/>
        </p:nvSpPr>
        <p:spPr>
          <a:xfrm>
            <a:off x="4325112" y="1737360"/>
            <a:ext cx="3566160" cy="3200400"/>
          </a:xfrm>
          <a:prstGeom prst="roundRect">
            <a:avLst>
              <a:gd name="adj" fmla="val 3429"/>
            </a:avLst>
          </a:prstGeom>
          <a:solidFill>
            <a:srgbClr val="FFFFFF"/>
          </a:solidFill>
          <a:ln w="12700">
            <a:solidFill>
              <a:srgbClr val="D3E0E4"/>
            </a:solidFill>
            <a:prstDash val="solid"/>
          </a:ln>
          <a:effectLst>
            <a:outerShdw blurRad="88900" dist="38100" dir="5400000" algn="bl" rotWithShape="0">
              <a:srgbClr val="B9C6CE">
                <a:alpha val="30000"/>
              </a:srgbClr>
            </a:outerShdw>
          </a:effectLst>
        </p:spPr>
      </p:sp>
      <p:sp>
        <p:nvSpPr>
          <p:cNvPr id="16" name="Shape 12"/>
          <p:cNvSpPr/>
          <p:nvPr/>
        </p:nvSpPr>
        <p:spPr>
          <a:xfrm>
            <a:off x="5696712" y="1965960"/>
            <a:ext cx="822960" cy="822960"/>
          </a:xfrm>
          <a:prstGeom prst="ellipse">
            <a:avLst/>
          </a:prstGeom>
          <a:solidFill>
            <a:srgbClr val="E29A34"/>
          </a:solidFill>
          <a:ln/>
        </p:spPr>
      </p:sp>
      <p:pic>
        <p:nvPicPr>
          <p:cNvPr id="17" name="Image 2" descr="/tmp/icons2/building.png"/>
          <p:cNvPicPr>
            <a:picLocks noChangeAspect="1"/>
          </p:cNvPicPr>
          <p:nvPr/>
        </p:nvPicPr>
        <p:blipFill>
          <a:blip r:embed="rId5"/>
          <a:stretch>
            <a:fillRect/>
          </a:stretch>
        </p:blipFill>
        <p:spPr>
          <a:xfrm>
            <a:off x="5902452" y="2171700"/>
            <a:ext cx="411480" cy="411480"/>
          </a:xfrm>
          <a:prstGeom prst="rect">
            <a:avLst/>
          </a:prstGeom>
        </p:spPr>
      </p:pic>
      <p:sp>
        <p:nvSpPr>
          <p:cNvPr id="18" name="Text 13"/>
          <p:cNvSpPr/>
          <p:nvPr/>
        </p:nvSpPr>
        <p:spPr>
          <a:xfrm>
            <a:off x="4325112" y="2834640"/>
            <a:ext cx="3566160" cy="320040"/>
          </a:xfrm>
          <a:prstGeom prst="rect">
            <a:avLst/>
          </a:prstGeom>
          <a:noFill/>
          <a:ln/>
        </p:spPr>
        <p:txBody>
          <a:bodyPr wrap="square" rtlCol="0" anchor="ctr"/>
          <a:lstStyle/>
          <a:p>
            <a:pPr marL="0" indent="0" algn="ctr">
              <a:buNone/>
            </a:pPr>
            <a:r>
              <a:rPr lang="en-US" sz="1300" b="1" dirty="0">
                <a:solidFill>
                  <a:srgbClr val="6C7C82"/>
                </a:solidFill>
                <a:latin typeface="Malgun Gothic" pitchFamily="34" charset="0"/>
                <a:ea typeface="Malgun Gothic" pitchFamily="34" charset="-122"/>
                <a:cs typeface="Malgun Gothic" pitchFamily="34" charset="-120"/>
              </a:rPr>
              <a:t>건물</a:t>
            </a:r>
            <a:endParaRPr lang="en-US" sz="1300" dirty="0"/>
          </a:p>
        </p:txBody>
      </p:sp>
      <p:sp>
        <p:nvSpPr>
          <p:cNvPr id="19" name="Text 14"/>
          <p:cNvSpPr/>
          <p:nvPr/>
        </p:nvSpPr>
        <p:spPr>
          <a:xfrm>
            <a:off x="4325112" y="3127248"/>
            <a:ext cx="3566160" cy="411480"/>
          </a:xfrm>
          <a:prstGeom prst="rect">
            <a:avLst/>
          </a:prstGeom>
          <a:noFill/>
          <a:ln/>
        </p:spPr>
        <p:txBody>
          <a:bodyPr wrap="square" rtlCol="0" anchor="ctr"/>
          <a:lstStyle/>
          <a:p>
            <a:pPr marL="0" indent="0" algn="ctr">
              <a:buNone/>
            </a:pPr>
            <a:r>
              <a:rPr lang="en-US" sz="2000" b="1" dirty="0">
                <a:solidFill>
                  <a:srgbClr val="17262C"/>
                </a:solidFill>
                <a:latin typeface="Malgun Gothic" pitchFamily="34" charset="0"/>
                <a:ea typeface="Malgun Gothic" pitchFamily="34" charset="-122"/>
                <a:cs typeface="Malgun Gothic" pitchFamily="34" charset="-120"/>
              </a:rPr>
              <a:t>EnergyPlus</a:t>
            </a:r>
            <a:endParaRPr lang="en-US" sz="2000" dirty="0"/>
          </a:p>
        </p:txBody>
      </p:sp>
      <p:sp>
        <p:nvSpPr>
          <p:cNvPr id="20" name="Text 15"/>
          <p:cNvSpPr/>
          <p:nvPr/>
        </p:nvSpPr>
        <p:spPr>
          <a:xfrm>
            <a:off x="4553712" y="3611880"/>
            <a:ext cx="3108960" cy="457200"/>
          </a:xfrm>
          <a:prstGeom prst="rect">
            <a:avLst/>
          </a:prstGeom>
          <a:noFill/>
          <a:ln/>
        </p:spPr>
        <p:txBody>
          <a:bodyPr wrap="square" rtlCol="0" anchor="ctr"/>
          <a:lstStyle/>
          <a:p>
            <a:pPr marL="0" indent="0" algn="ctr">
              <a:lnSpc>
                <a:spcPts val="1500"/>
              </a:lnSpc>
              <a:buNone/>
            </a:pPr>
            <a:r>
              <a:rPr lang="en-US" sz="1150" dirty="0">
                <a:solidFill>
                  <a:srgbClr val="2E3B41"/>
                </a:solidFill>
                <a:latin typeface="Malgun Gothic" pitchFamily="34" charset="0"/>
                <a:ea typeface="Malgun Gothic" pitchFamily="34" charset="-122"/>
                <a:cs typeface="Malgun Gothic" pitchFamily="34" charset="-120"/>
              </a:rPr>
              <a:t>美 DOE 표준 건물 에너지</a:t>
            </a:r>
            <a:endParaRPr lang="en-US" sz="1150" dirty="0"/>
          </a:p>
        </p:txBody>
      </p:sp>
      <p:sp>
        <p:nvSpPr>
          <p:cNvPr id="21" name="Shape 16"/>
          <p:cNvSpPr/>
          <p:nvPr/>
        </p:nvSpPr>
        <p:spPr>
          <a:xfrm>
            <a:off x="4690872" y="4160520"/>
            <a:ext cx="2834640" cy="0"/>
          </a:xfrm>
          <a:prstGeom prst="line">
            <a:avLst/>
          </a:prstGeom>
          <a:noFill/>
          <a:ln w="12700">
            <a:solidFill>
              <a:srgbClr val="D3E0E4"/>
            </a:solidFill>
            <a:prstDash val="solid"/>
          </a:ln>
        </p:spPr>
      </p:sp>
      <p:sp>
        <p:nvSpPr>
          <p:cNvPr id="22" name="Text 17"/>
          <p:cNvSpPr/>
          <p:nvPr/>
        </p:nvSpPr>
        <p:spPr>
          <a:xfrm>
            <a:off x="4553712" y="4224528"/>
            <a:ext cx="3108960" cy="640080"/>
          </a:xfrm>
          <a:prstGeom prst="rect">
            <a:avLst/>
          </a:prstGeom>
          <a:noFill/>
          <a:ln/>
        </p:spPr>
        <p:txBody>
          <a:bodyPr wrap="square" rtlCol="0" anchor="ctr"/>
          <a:lstStyle/>
          <a:p>
            <a:pPr marL="0" indent="0" algn="ctr">
              <a:lnSpc>
                <a:spcPts val="1400"/>
              </a:lnSpc>
              <a:buNone/>
            </a:pPr>
            <a:r>
              <a:rPr lang="en-US" sz="1100" i="1" dirty="0">
                <a:solidFill>
                  <a:srgbClr val="1C7293"/>
                </a:solidFill>
                <a:latin typeface="Malgun Gothic" pitchFamily="34" charset="0"/>
                <a:ea typeface="Malgun Gothic" pitchFamily="34" charset="-122"/>
                <a:cs typeface="Malgun Gothic" pitchFamily="34" charset="-120"/>
              </a:rPr>
              <a:t>참고: Modelica Buildings 라이브러리</a:t>
            </a:r>
            <a:endParaRPr lang="en-US" sz="1100" dirty="0"/>
          </a:p>
        </p:txBody>
      </p:sp>
      <p:sp>
        <p:nvSpPr>
          <p:cNvPr id="23" name="Shape 18"/>
          <p:cNvSpPr/>
          <p:nvPr/>
        </p:nvSpPr>
        <p:spPr>
          <a:xfrm>
            <a:off x="8101584" y="1737360"/>
            <a:ext cx="3566160" cy="3200400"/>
          </a:xfrm>
          <a:prstGeom prst="roundRect">
            <a:avLst>
              <a:gd name="adj" fmla="val 3429"/>
            </a:avLst>
          </a:prstGeom>
          <a:solidFill>
            <a:srgbClr val="FFFFFF"/>
          </a:solidFill>
          <a:ln w="12700">
            <a:solidFill>
              <a:srgbClr val="D3E0E4"/>
            </a:solidFill>
            <a:prstDash val="solid"/>
          </a:ln>
          <a:effectLst>
            <a:outerShdw blurRad="88900" dist="38100" dir="5400000" algn="bl" rotWithShape="0">
              <a:srgbClr val="B9C6CE">
                <a:alpha val="30000"/>
              </a:srgbClr>
            </a:outerShdw>
          </a:effectLst>
        </p:spPr>
      </p:sp>
      <p:sp>
        <p:nvSpPr>
          <p:cNvPr id="24" name="Shape 19"/>
          <p:cNvSpPr/>
          <p:nvPr/>
        </p:nvSpPr>
        <p:spPr>
          <a:xfrm>
            <a:off x="9473184" y="1965960"/>
            <a:ext cx="822960" cy="822960"/>
          </a:xfrm>
          <a:prstGeom prst="ellipse">
            <a:avLst/>
          </a:prstGeom>
          <a:solidFill>
            <a:srgbClr val="0C3B4A"/>
          </a:solidFill>
          <a:ln/>
        </p:spPr>
      </p:sp>
      <p:pic>
        <p:nvPicPr>
          <p:cNvPr id="25" name="Image 3" descr="/tmp/icons2/bolt.png"/>
          <p:cNvPicPr>
            <a:picLocks noChangeAspect="1"/>
          </p:cNvPicPr>
          <p:nvPr/>
        </p:nvPicPr>
        <p:blipFill>
          <a:blip r:embed="rId6"/>
          <a:stretch>
            <a:fillRect/>
          </a:stretch>
        </p:blipFill>
        <p:spPr>
          <a:xfrm>
            <a:off x="9678924" y="2171700"/>
            <a:ext cx="411480" cy="411480"/>
          </a:xfrm>
          <a:prstGeom prst="rect">
            <a:avLst/>
          </a:prstGeom>
        </p:spPr>
      </p:pic>
      <p:sp>
        <p:nvSpPr>
          <p:cNvPr id="26" name="Text 20"/>
          <p:cNvSpPr/>
          <p:nvPr/>
        </p:nvSpPr>
        <p:spPr>
          <a:xfrm>
            <a:off x="8101584" y="2834640"/>
            <a:ext cx="3566160" cy="320040"/>
          </a:xfrm>
          <a:prstGeom prst="rect">
            <a:avLst/>
          </a:prstGeom>
          <a:noFill/>
          <a:ln/>
        </p:spPr>
        <p:txBody>
          <a:bodyPr wrap="square" rtlCol="0" anchor="ctr"/>
          <a:lstStyle/>
          <a:p>
            <a:pPr marL="0" indent="0" algn="ctr">
              <a:buNone/>
            </a:pPr>
            <a:r>
              <a:rPr lang="en-US" sz="1300" b="1" dirty="0">
                <a:solidFill>
                  <a:srgbClr val="6C7C82"/>
                </a:solidFill>
                <a:latin typeface="Malgun Gothic" pitchFamily="34" charset="0"/>
                <a:ea typeface="Malgun Gothic" pitchFamily="34" charset="-122"/>
                <a:cs typeface="Malgun Gothic" pitchFamily="34" charset="-120"/>
              </a:rPr>
              <a:t>전력망</a:t>
            </a:r>
            <a:endParaRPr lang="en-US" sz="1300" dirty="0"/>
          </a:p>
        </p:txBody>
      </p:sp>
      <p:sp>
        <p:nvSpPr>
          <p:cNvPr id="27" name="Text 21"/>
          <p:cNvSpPr/>
          <p:nvPr/>
        </p:nvSpPr>
        <p:spPr>
          <a:xfrm>
            <a:off x="8101584" y="3127248"/>
            <a:ext cx="3566160" cy="411480"/>
          </a:xfrm>
          <a:prstGeom prst="rect">
            <a:avLst/>
          </a:prstGeom>
          <a:noFill/>
          <a:ln/>
        </p:spPr>
        <p:txBody>
          <a:bodyPr wrap="square" rtlCol="0" anchor="ctr"/>
          <a:lstStyle/>
          <a:p>
            <a:pPr marL="0" indent="0" algn="ctr">
              <a:buNone/>
            </a:pPr>
            <a:r>
              <a:rPr lang="en-US" sz="2000" b="1" dirty="0">
                <a:solidFill>
                  <a:srgbClr val="17262C"/>
                </a:solidFill>
                <a:latin typeface="Malgun Gothic" pitchFamily="34" charset="0"/>
                <a:ea typeface="Malgun Gothic" pitchFamily="34" charset="-122"/>
                <a:cs typeface="Malgun Gothic" pitchFamily="34" charset="-120"/>
              </a:rPr>
              <a:t>OpenDSS</a:t>
            </a:r>
            <a:endParaRPr lang="en-US" sz="2000" dirty="0"/>
          </a:p>
        </p:txBody>
      </p:sp>
      <p:sp>
        <p:nvSpPr>
          <p:cNvPr id="28" name="Text 22"/>
          <p:cNvSpPr/>
          <p:nvPr/>
        </p:nvSpPr>
        <p:spPr>
          <a:xfrm>
            <a:off x="8330184" y="3611880"/>
            <a:ext cx="3108960" cy="457200"/>
          </a:xfrm>
          <a:prstGeom prst="rect">
            <a:avLst/>
          </a:prstGeom>
          <a:noFill/>
          <a:ln/>
        </p:spPr>
        <p:txBody>
          <a:bodyPr wrap="square" rtlCol="0" anchor="ctr"/>
          <a:lstStyle/>
          <a:p>
            <a:pPr marL="0" indent="0" algn="ctr">
              <a:lnSpc>
                <a:spcPts val="1500"/>
              </a:lnSpc>
              <a:buNone/>
            </a:pPr>
            <a:r>
              <a:rPr lang="en-US" sz="1150" dirty="0">
                <a:solidFill>
                  <a:srgbClr val="2E3B41"/>
                </a:solidFill>
                <a:latin typeface="Malgun Gothic" pitchFamily="34" charset="0"/>
                <a:ea typeface="Malgun Gothic" pitchFamily="34" charset="-122"/>
                <a:cs typeface="Malgun Gothic" pitchFamily="34" charset="-120"/>
              </a:rPr>
              <a:t>EPRI 배전 시뮬레이터</a:t>
            </a:r>
            <a:endParaRPr lang="en-US" sz="1150" dirty="0"/>
          </a:p>
        </p:txBody>
      </p:sp>
      <p:sp>
        <p:nvSpPr>
          <p:cNvPr id="29" name="Shape 23"/>
          <p:cNvSpPr/>
          <p:nvPr/>
        </p:nvSpPr>
        <p:spPr>
          <a:xfrm>
            <a:off x="8467344" y="4160520"/>
            <a:ext cx="2834640" cy="0"/>
          </a:xfrm>
          <a:prstGeom prst="line">
            <a:avLst/>
          </a:prstGeom>
          <a:noFill/>
          <a:ln w="12700">
            <a:solidFill>
              <a:srgbClr val="D3E0E4"/>
            </a:solidFill>
            <a:prstDash val="solid"/>
          </a:ln>
        </p:spPr>
      </p:sp>
      <p:sp>
        <p:nvSpPr>
          <p:cNvPr id="30" name="Text 24"/>
          <p:cNvSpPr/>
          <p:nvPr/>
        </p:nvSpPr>
        <p:spPr>
          <a:xfrm>
            <a:off x="8330184" y="4224528"/>
            <a:ext cx="3108960" cy="640080"/>
          </a:xfrm>
          <a:prstGeom prst="rect">
            <a:avLst/>
          </a:prstGeom>
          <a:noFill/>
          <a:ln/>
        </p:spPr>
        <p:txBody>
          <a:bodyPr wrap="square" rtlCol="0" anchor="ctr"/>
          <a:lstStyle/>
          <a:p>
            <a:pPr marL="0" indent="0" algn="ctr">
              <a:lnSpc>
                <a:spcPts val="1400"/>
              </a:lnSpc>
              <a:buNone/>
            </a:pPr>
            <a:r>
              <a:rPr lang="en-US" sz="1100" i="1" dirty="0">
                <a:solidFill>
                  <a:srgbClr val="1C7293"/>
                </a:solidFill>
                <a:latin typeface="Malgun Gothic" pitchFamily="34" charset="0"/>
                <a:ea typeface="Malgun Gothic" pitchFamily="34" charset="-122"/>
                <a:cs typeface="Malgun Gothic" pitchFamily="34" charset="-120"/>
              </a:rPr>
              <a:t>대안: GridLAB-D · pandapower</a:t>
            </a:r>
            <a:endParaRPr lang="en-US" sz="1100" dirty="0"/>
          </a:p>
        </p:txBody>
      </p:sp>
      <p:sp>
        <p:nvSpPr>
          <p:cNvPr id="31" name="Shape 25"/>
          <p:cNvSpPr/>
          <p:nvPr/>
        </p:nvSpPr>
        <p:spPr>
          <a:xfrm>
            <a:off x="548640" y="5166360"/>
            <a:ext cx="11064240" cy="1005840"/>
          </a:xfrm>
          <a:prstGeom prst="roundRect">
            <a:avLst>
              <a:gd name="adj" fmla="val 9091"/>
            </a:avLst>
          </a:prstGeom>
          <a:solidFill>
            <a:srgbClr val="0C3B4A"/>
          </a:solidFill>
          <a:ln/>
        </p:spPr>
      </p:sp>
      <p:sp>
        <p:nvSpPr>
          <p:cNvPr id="32" name="Text 26"/>
          <p:cNvSpPr/>
          <p:nvPr/>
        </p:nvSpPr>
        <p:spPr>
          <a:xfrm>
            <a:off x="868680" y="5166360"/>
            <a:ext cx="10424160" cy="1005840"/>
          </a:xfrm>
          <a:prstGeom prst="rect">
            <a:avLst/>
          </a:prstGeom>
          <a:noFill/>
          <a:ln/>
        </p:spPr>
        <p:txBody>
          <a:bodyPr wrap="square" rtlCol="0" anchor="ctr"/>
          <a:lstStyle/>
          <a:p>
            <a:pPr marL="0" indent="0">
              <a:lnSpc>
                <a:spcPts val="1800"/>
              </a:lnSpc>
              <a:buNone/>
            </a:pPr>
            <a:r>
              <a:rPr lang="en-US" sz="1350" b="1" dirty="0">
                <a:solidFill>
                  <a:srgbClr val="E29A34"/>
                </a:solidFill>
                <a:latin typeface="Malgun Gothic" pitchFamily="34" charset="0"/>
                <a:ea typeface="Malgun Gothic" pitchFamily="34" charset="-122"/>
                <a:cs typeface="Malgun Gothic" pitchFamily="34" charset="-120"/>
              </a:rPr>
              <a:t>참고 사례  </a:t>
            </a:r>
            <a:r>
              <a:rPr lang="en-US" sz="1350" dirty="0">
                <a:solidFill>
                  <a:srgbClr val="DDEEF3"/>
                </a:solidFill>
                <a:latin typeface="Malgun Gothic" pitchFamily="34" charset="0"/>
                <a:ea typeface="Malgun Gothic" pitchFamily="34" charset="-122"/>
                <a:cs typeface="Malgun Gothic" pitchFamily="34" charset="-120"/>
              </a:rPr>
              <a:t>논문의 </a:t>
            </a:r>
            <a:r>
              <a:rPr lang="en-US" sz="1350" b="1" dirty="0">
                <a:solidFill>
                  <a:srgbClr val="FFFFFF"/>
                </a:solidFill>
                <a:latin typeface="Malgun Gothic" pitchFamily="34" charset="0"/>
                <a:ea typeface="Malgun Gothic" pitchFamily="34" charset="-122"/>
                <a:cs typeface="Malgun Gothic" pitchFamily="34" charset="-120"/>
              </a:rPr>
              <a:t>URBANopt = EnergyPlus(건물) + OpenDSS(전력망)</a:t>
            </a:r>
            <a:r>
              <a:rPr lang="en-US" sz="1350" dirty="0">
                <a:solidFill>
                  <a:srgbClr val="DDEEF3"/>
                </a:solidFill>
                <a:latin typeface="Malgun Gothic" pitchFamily="34" charset="0"/>
                <a:ea typeface="Malgun Gothic" pitchFamily="34" charset="-122"/>
                <a:cs typeface="Malgun Gothic" pitchFamily="34" charset="-120"/>
              </a:rPr>
              <a:t>  →  여기에 우리 DTUMOS(교통)를 더하면 된다.</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25296" y="457200"/>
            <a:ext cx="10387584" cy="274320"/>
          </a:xfrm>
          <a:prstGeom prst="rect">
            <a:avLst/>
          </a:prstGeom>
          <a:noFill/>
          <a:ln/>
        </p:spPr>
        <p:txBody>
          <a:bodyPr wrap="square" rtlCol="0" anchor="ctr"/>
          <a:lstStyle/>
          <a:p>
            <a:pPr marL="0" indent="0">
              <a:buNone/>
            </a:pPr>
            <a:r>
              <a:rPr lang="en-US" sz="1100" b="1" kern="0" spc="200" dirty="0">
                <a:solidFill>
                  <a:srgbClr val="1C7293"/>
                </a:solidFill>
                <a:latin typeface="Malgun Gothic" pitchFamily="34" charset="0"/>
                <a:ea typeface="Malgun Gothic" pitchFamily="34" charset="-122"/>
                <a:cs typeface="Malgun Gothic" pitchFamily="34" charset="-120"/>
              </a:rPr>
              <a:t>PROPOSAL ① · 추가 모듈</a:t>
            </a:r>
            <a:endParaRPr lang="en-US" sz="1100" dirty="0"/>
          </a:p>
        </p:txBody>
      </p:sp>
      <p:sp>
        <p:nvSpPr>
          <p:cNvPr id="3" name="Shape 1"/>
          <p:cNvSpPr/>
          <p:nvPr/>
        </p:nvSpPr>
        <p:spPr>
          <a:xfrm>
            <a:off x="548640" y="475488"/>
            <a:ext cx="548640" cy="548640"/>
          </a:xfrm>
          <a:prstGeom prst="ellipse">
            <a:avLst/>
          </a:prstGeom>
          <a:solidFill>
            <a:srgbClr val="0C3B4A"/>
          </a:solidFill>
          <a:ln/>
        </p:spPr>
      </p:sp>
      <p:pic>
        <p:nvPicPr>
          <p:cNvPr id="4" name="Image 0" descr="/tmp/icons2/puzzle.png"/>
          <p:cNvPicPr>
            <a:picLocks noChangeAspect="1"/>
          </p:cNvPicPr>
          <p:nvPr/>
        </p:nvPicPr>
        <p:blipFill>
          <a:blip r:embed="rId3"/>
          <a:stretch>
            <a:fillRect/>
          </a:stretch>
        </p:blipFill>
        <p:spPr>
          <a:xfrm>
            <a:off x="685800" y="612648"/>
            <a:ext cx="274320" cy="274320"/>
          </a:xfrm>
          <a:prstGeom prst="rect">
            <a:avLst/>
          </a:prstGeom>
        </p:spPr>
      </p:pic>
      <p:sp>
        <p:nvSpPr>
          <p:cNvPr id="5" name="Text 2"/>
          <p:cNvSpPr/>
          <p:nvPr/>
        </p:nvSpPr>
        <p:spPr>
          <a:xfrm>
            <a:off x="1225296" y="713232"/>
            <a:ext cx="10387584" cy="457200"/>
          </a:xfrm>
          <a:prstGeom prst="rect">
            <a:avLst/>
          </a:prstGeom>
          <a:noFill/>
          <a:ln/>
        </p:spPr>
        <p:txBody>
          <a:bodyPr wrap="square" rtlCol="0" anchor="ctr"/>
          <a:lstStyle/>
          <a:p>
            <a:pPr marL="0" indent="0">
              <a:buNone/>
            </a:pPr>
            <a:r>
              <a:rPr lang="en-US" sz="2600" b="1" dirty="0">
                <a:solidFill>
                  <a:srgbClr val="17262C"/>
                </a:solidFill>
                <a:latin typeface="Malgun Gothic" pitchFamily="34" charset="0"/>
                <a:ea typeface="Malgun Gothic" pitchFamily="34" charset="-122"/>
                <a:cs typeface="Malgun Gothic" pitchFamily="34" charset="-120"/>
              </a:rPr>
              <a:t>제안 ① DTUMOS에 추가할 3개 모듈</a:t>
            </a:r>
            <a:endParaRPr lang="en-US" sz="2600" dirty="0"/>
          </a:p>
        </p:txBody>
      </p:sp>
      <p:sp>
        <p:nvSpPr>
          <p:cNvPr id="6" name="Shape 3"/>
          <p:cNvSpPr/>
          <p:nvPr/>
        </p:nvSpPr>
        <p:spPr>
          <a:xfrm>
            <a:off x="548640" y="1737360"/>
            <a:ext cx="3566160" cy="3063240"/>
          </a:xfrm>
          <a:prstGeom prst="roundRect">
            <a:avLst>
              <a:gd name="adj" fmla="val 3582"/>
            </a:avLst>
          </a:prstGeom>
          <a:solidFill>
            <a:srgbClr val="EEF3F5"/>
          </a:solidFill>
          <a:ln/>
        </p:spPr>
      </p:sp>
      <p:sp>
        <p:nvSpPr>
          <p:cNvPr id="7" name="Shape 4"/>
          <p:cNvSpPr/>
          <p:nvPr/>
        </p:nvSpPr>
        <p:spPr>
          <a:xfrm>
            <a:off x="822960" y="1965960"/>
            <a:ext cx="713232" cy="713232"/>
          </a:xfrm>
          <a:prstGeom prst="ellipse">
            <a:avLst/>
          </a:prstGeom>
          <a:solidFill>
            <a:srgbClr val="1C7293"/>
          </a:solidFill>
          <a:ln/>
        </p:spPr>
      </p:sp>
      <p:pic>
        <p:nvPicPr>
          <p:cNvPr id="8" name="Image 1" descr="/tmp/icons2/battery.png"/>
          <p:cNvPicPr>
            <a:picLocks noChangeAspect="1"/>
          </p:cNvPicPr>
          <p:nvPr/>
        </p:nvPicPr>
        <p:blipFill>
          <a:blip r:embed="rId4"/>
          <a:stretch>
            <a:fillRect/>
          </a:stretch>
        </p:blipFill>
        <p:spPr>
          <a:xfrm>
            <a:off x="1001268" y="2144268"/>
            <a:ext cx="356616" cy="356616"/>
          </a:xfrm>
          <a:prstGeom prst="rect">
            <a:avLst/>
          </a:prstGeom>
        </p:spPr>
      </p:pic>
      <p:sp>
        <p:nvSpPr>
          <p:cNvPr id="9" name="Text 5"/>
          <p:cNvSpPr/>
          <p:nvPr/>
        </p:nvSpPr>
        <p:spPr>
          <a:xfrm>
            <a:off x="777240" y="2788920"/>
            <a:ext cx="3108960" cy="365760"/>
          </a:xfrm>
          <a:prstGeom prst="rect">
            <a:avLst/>
          </a:prstGeom>
          <a:noFill/>
          <a:ln/>
        </p:spPr>
        <p:txBody>
          <a:bodyPr wrap="square" rtlCol="0" anchor="ctr"/>
          <a:lstStyle/>
          <a:p>
            <a:pPr marL="0" indent="0">
              <a:buNone/>
            </a:pPr>
            <a:r>
              <a:rPr lang="en-US" sz="1550" b="1" dirty="0">
                <a:solidFill>
                  <a:srgbClr val="17262C"/>
                </a:solidFill>
                <a:latin typeface="Malgun Gothic" pitchFamily="34" charset="0"/>
                <a:ea typeface="Malgun Gothic" pitchFamily="34" charset="-122"/>
                <a:cs typeface="Malgun Gothic" pitchFamily="34" charset="-120"/>
              </a:rPr>
              <a:t>① EV 에너지 모듈</a:t>
            </a:r>
            <a:endParaRPr lang="en-US" sz="1550" dirty="0"/>
          </a:p>
        </p:txBody>
      </p:sp>
      <p:sp>
        <p:nvSpPr>
          <p:cNvPr id="10" name="Text 6"/>
          <p:cNvSpPr/>
          <p:nvPr/>
        </p:nvSpPr>
        <p:spPr>
          <a:xfrm>
            <a:off x="777240" y="3200400"/>
            <a:ext cx="3108960" cy="822960"/>
          </a:xfrm>
          <a:prstGeom prst="rect">
            <a:avLst/>
          </a:prstGeom>
          <a:noFill/>
          <a:ln/>
        </p:spPr>
        <p:txBody>
          <a:bodyPr wrap="square" rtlCol="0" anchor="t"/>
          <a:lstStyle/>
          <a:p>
            <a:pPr marL="0" indent="0">
              <a:lnSpc>
                <a:spcPts val="1600"/>
              </a:lnSpc>
              <a:buNone/>
            </a:pPr>
            <a:r>
              <a:rPr lang="en-US" sz="1250" dirty="0">
                <a:solidFill>
                  <a:srgbClr val="2E3B41"/>
                </a:solidFill>
                <a:latin typeface="Malgun Gothic" pitchFamily="34" charset="0"/>
                <a:ea typeface="Malgun Gothic" pitchFamily="34" charset="-122"/>
                <a:cs typeface="Malgun Gothic" pitchFamily="34" charset="-120"/>
              </a:rPr>
              <a:t>각 차량의 경로·속도 → 배터리 소모량 계산</a:t>
            </a:r>
            <a:endParaRPr lang="en-US" sz="1250" dirty="0"/>
          </a:p>
        </p:txBody>
      </p:sp>
      <p:sp>
        <p:nvSpPr>
          <p:cNvPr id="11" name="Shape 7"/>
          <p:cNvSpPr/>
          <p:nvPr/>
        </p:nvSpPr>
        <p:spPr>
          <a:xfrm>
            <a:off x="777240" y="4114800"/>
            <a:ext cx="3108960" cy="0"/>
          </a:xfrm>
          <a:prstGeom prst="line">
            <a:avLst/>
          </a:prstGeom>
          <a:noFill/>
          <a:ln w="12700">
            <a:solidFill>
              <a:srgbClr val="D3E0E4"/>
            </a:solidFill>
            <a:prstDash val="solid"/>
          </a:ln>
        </p:spPr>
      </p:sp>
      <p:sp>
        <p:nvSpPr>
          <p:cNvPr id="12" name="Text 8"/>
          <p:cNvSpPr/>
          <p:nvPr/>
        </p:nvSpPr>
        <p:spPr>
          <a:xfrm>
            <a:off x="777240" y="4187952"/>
            <a:ext cx="3108960" cy="548640"/>
          </a:xfrm>
          <a:prstGeom prst="rect">
            <a:avLst/>
          </a:prstGeom>
          <a:noFill/>
          <a:ln/>
        </p:spPr>
        <p:txBody>
          <a:bodyPr wrap="square" rtlCol="0" anchor="ctr"/>
          <a:lstStyle/>
          <a:p>
            <a:pPr marL="0" indent="0">
              <a:lnSpc>
                <a:spcPts val="1400"/>
              </a:lnSpc>
              <a:buNone/>
            </a:pPr>
            <a:r>
              <a:rPr lang="en-US" sz="1100" i="1" dirty="0">
                <a:solidFill>
                  <a:srgbClr val="1C7293"/>
                </a:solidFill>
                <a:latin typeface="Malgun Gothic" pitchFamily="34" charset="0"/>
                <a:ea typeface="Malgun Gothic" pitchFamily="34" charset="-122"/>
                <a:cs typeface="Malgun Gothic" pitchFamily="34" charset="-120"/>
              </a:rPr>
              <a:t>SUMO의 물리 기반 EV 에너지 모델(MMPEVEM) 참고</a:t>
            </a:r>
            <a:endParaRPr lang="en-US" sz="1100" dirty="0"/>
          </a:p>
        </p:txBody>
      </p:sp>
      <p:sp>
        <p:nvSpPr>
          <p:cNvPr id="13" name="Shape 9"/>
          <p:cNvSpPr/>
          <p:nvPr/>
        </p:nvSpPr>
        <p:spPr>
          <a:xfrm>
            <a:off x="4325112" y="1737360"/>
            <a:ext cx="3566160" cy="3063240"/>
          </a:xfrm>
          <a:prstGeom prst="roundRect">
            <a:avLst>
              <a:gd name="adj" fmla="val 3582"/>
            </a:avLst>
          </a:prstGeom>
          <a:solidFill>
            <a:srgbClr val="EEF3F5"/>
          </a:solidFill>
          <a:ln/>
        </p:spPr>
      </p:sp>
      <p:sp>
        <p:nvSpPr>
          <p:cNvPr id="14" name="Shape 10"/>
          <p:cNvSpPr/>
          <p:nvPr/>
        </p:nvSpPr>
        <p:spPr>
          <a:xfrm>
            <a:off x="4599432" y="1965960"/>
            <a:ext cx="713232" cy="713232"/>
          </a:xfrm>
          <a:prstGeom prst="ellipse">
            <a:avLst/>
          </a:prstGeom>
          <a:solidFill>
            <a:srgbClr val="E29A34"/>
          </a:solidFill>
          <a:ln/>
        </p:spPr>
      </p:sp>
      <p:pic>
        <p:nvPicPr>
          <p:cNvPr id="15" name="Image 2" descr="/tmp/icons2/charge.png"/>
          <p:cNvPicPr>
            <a:picLocks noChangeAspect="1"/>
          </p:cNvPicPr>
          <p:nvPr/>
        </p:nvPicPr>
        <p:blipFill>
          <a:blip r:embed="rId5"/>
          <a:stretch>
            <a:fillRect/>
          </a:stretch>
        </p:blipFill>
        <p:spPr>
          <a:xfrm>
            <a:off x="4777740" y="2144268"/>
            <a:ext cx="356616" cy="356616"/>
          </a:xfrm>
          <a:prstGeom prst="rect">
            <a:avLst/>
          </a:prstGeom>
        </p:spPr>
      </p:pic>
      <p:sp>
        <p:nvSpPr>
          <p:cNvPr id="16" name="Text 11"/>
          <p:cNvSpPr/>
          <p:nvPr/>
        </p:nvSpPr>
        <p:spPr>
          <a:xfrm>
            <a:off x="4553712" y="2788920"/>
            <a:ext cx="3108960" cy="365760"/>
          </a:xfrm>
          <a:prstGeom prst="rect">
            <a:avLst/>
          </a:prstGeom>
          <a:noFill/>
          <a:ln/>
        </p:spPr>
        <p:txBody>
          <a:bodyPr wrap="square" rtlCol="0" anchor="ctr"/>
          <a:lstStyle/>
          <a:p>
            <a:pPr marL="0" indent="0">
              <a:buNone/>
            </a:pPr>
            <a:r>
              <a:rPr lang="en-US" sz="1550" b="1" dirty="0">
                <a:solidFill>
                  <a:srgbClr val="17262C"/>
                </a:solidFill>
                <a:latin typeface="Malgun Gothic" pitchFamily="34" charset="0"/>
                <a:ea typeface="Malgun Gothic" pitchFamily="34" charset="-122"/>
                <a:cs typeface="Malgun Gothic" pitchFamily="34" charset="-120"/>
              </a:rPr>
              <a:t>② 충전 모듈</a:t>
            </a:r>
            <a:endParaRPr lang="en-US" sz="1550" dirty="0"/>
          </a:p>
        </p:txBody>
      </p:sp>
      <p:sp>
        <p:nvSpPr>
          <p:cNvPr id="17" name="Text 12"/>
          <p:cNvSpPr/>
          <p:nvPr/>
        </p:nvSpPr>
        <p:spPr>
          <a:xfrm>
            <a:off x="4553712" y="3200400"/>
            <a:ext cx="3108960" cy="822960"/>
          </a:xfrm>
          <a:prstGeom prst="rect">
            <a:avLst/>
          </a:prstGeom>
          <a:noFill/>
          <a:ln/>
        </p:spPr>
        <p:txBody>
          <a:bodyPr wrap="square" rtlCol="0" anchor="t"/>
          <a:lstStyle/>
          <a:p>
            <a:pPr marL="0" indent="0">
              <a:lnSpc>
                <a:spcPts val="1600"/>
              </a:lnSpc>
              <a:buNone/>
            </a:pPr>
            <a:r>
              <a:rPr lang="en-US" sz="1250" dirty="0">
                <a:solidFill>
                  <a:srgbClr val="2E3B41"/>
                </a:solidFill>
                <a:latin typeface="Malgun Gothic" pitchFamily="34" charset="0"/>
                <a:ea typeface="Malgun Gothic" pitchFamily="34" charset="-122"/>
                <a:cs typeface="Malgun Gothic" pitchFamily="34" charset="-120"/>
              </a:rPr>
              <a:t>언제·어디서 충전하는지 → 충전 수요 발생</a:t>
            </a:r>
            <a:endParaRPr lang="en-US" sz="1250" dirty="0"/>
          </a:p>
        </p:txBody>
      </p:sp>
      <p:sp>
        <p:nvSpPr>
          <p:cNvPr id="18" name="Shape 13"/>
          <p:cNvSpPr/>
          <p:nvPr/>
        </p:nvSpPr>
        <p:spPr>
          <a:xfrm>
            <a:off x="4553712" y="4114800"/>
            <a:ext cx="3108960" cy="0"/>
          </a:xfrm>
          <a:prstGeom prst="line">
            <a:avLst/>
          </a:prstGeom>
          <a:noFill/>
          <a:ln w="12700">
            <a:solidFill>
              <a:srgbClr val="D3E0E4"/>
            </a:solidFill>
            <a:prstDash val="solid"/>
          </a:ln>
        </p:spPr>
      </p:sp>
      <p:sp>
        <p:nvSpPr>
          <p:cNvPr id="19" name="Text 14"/>
          <p:cNvSpPr/>
          <p:nvPr/>
        </p:nvSpPr>
        <p:spPr>
          <a:xfrm>
            <a:off x="4553712" y="4187952"/>
            <a:ext cx="3108960" cy="548640"/>
          </a:xfrm>
          <a:prstGeom prst="rect">
            <a:avLst/>
          </a:prstGeom>
          <a:noFill/>
          <a:ln/>
        </p:spPr>
        <p:txBody>
          <a:bodyPr wrap="square" rtlCol="0" anchor="ctr"/>
          <a:lstStyle/>
          <a:p>
            <a:pPr marL="0" indent="0">
              <a:lnSpc>
                <a:spcPts val="1400"/>
              </a:lnSpc>
              <a:buNone/>
            </a:pPr>
            <a:r>
              <a:rPr lang="en-US" sz="1100" i="1" dirty="0">
                <a:solidFill>
                  <a:srgbClr val="1C7293"/>
                </a:solidFill>
                <a:latin typeface="Malgun Gothic" pitchFamily="34" charset="0"/>
                <a:ea typeface="Malgun Gothic" pitchFamily="34" charset="-122"/>
                <a:cs typeface="Malgun Gothic" pitchFamily="34" charset="-120"/>
              </a:rPr>
              <a:t>충전소 위치·시간대별 부하 산출</a:t>
            </a:r>
            <a:endParaRPr lang="en-US" sz="1100" dirty="0"/>
          </a:p>
        </p:txBody>
      </p:sp>
      <p:sp>
        <p:nvSpPr>
          <p:cNvPr id="20" name="Shape 15"/>
          <p:cNvSpPr/>
          <p:nvPr/>
        </p:nvSpPr>
        <p:spPr>
          <a:xfrm>
            <a:off x="8101584" y="1737360"/>
            <a:ext cx="3566160" cy="3063240"/>
          </a:xfrm>
          <a:prstGeom prst="roundRect">
            <a:avLst>
              <a:gd name="adj" fmla="val 3582"/>
            </a:avLst>
          </a:prstGeom>
          <a:solidFill>
            <a:srgbClr val="EEF3F5"/>
          </a:solidFill>
          <a:ln/>
        </p:spPr>
      </p:sp>
      <p:sp>
        <p:nvSpPr>
          <p:cNvPr id="21" name="Shape 16"/>
          <p:cNvSpPr/>
          <p:nvPr/>
        </p:nvSpPr>
        <p:spPr>
          <a:xfrm>
            <a:off x="8375904" y="1965960"/>
            <a:ext cx="713232" cy="713232"/>
          </a:xfrm>
          <a:prstGeom prst="ellipse">
            <a:avLst/>
          </a:prstGeom>
          <a:solidFill>
            <a:srgbClr val="0C3B4A"/>
          </a:solidFill>
          <a:ln/>
        </p:spPr>
      </p:sp>
      <p:pic>
        <p:nvPicPr>
          <p:cNvPr id="22" name="Image 3" descr="/tmp/icons2/plug.png"/>
          <p:cNvPicPr>
            <a:picLocks noChangeAspect="1"/>
          </p:cNvPicPr>
          <p:nvPr/>
        </p:nvPicPr>
        <p:blipFill>
          <a:blip r:embed="rId6"/>
          <a:stretch>
            <a:fillRect/>
          </a:stretch>
        </p:blipFill>
        <p:spPr>
          <a:xfrm>
            <a:off x="8554212" y="2144268"/>
            <a:ext cx="356616" cy="356616"/>
          </a:xfrm>
          <a:prstGeom prst="rect">
            <a:avLst/>
          </a:prstGeom>
        </p:spPr>
      </p:pic>
      <p:sp>
        <p:nvSpPr>
          <p:cNvPr id="23" name="Text 17"/>
          <p:cNvSpPr/>
          <p:nvPr/>
        </p:nvSpPr>
        <p:spPr>
          <a:xfrm>
            <a:off x="8330184" y="2788920"/>
            <a:ext cx="3108960" cy="365760"/>
          </a:xfrm>
          <a:prstGeom prst="rect">
            <a:avLst/>
          </a:prstGeom>
          <a:noFill/>
          <a:ln/>
        </p:spPr>
        <p:txBody>
          <a:bodyPr wrap="square" rtlCol="0" anchor="ctr"/>
          <a:lstStyle/>
          <a:p>
            <a:pPr marL="0" indent="0">
              <a:buNone/>
            </a:pPr>
            <a:r>
              <a:rPr lang="en-US" sz="1550" b="1" dirty="0">
                <a:solidFill>
                  <a:srgbClr val="17262C"/>
                </a:solidFill>
                <a:latin typeface="Malgun Gothic" pitchFamily="34" charset="0"/>
                <a:ea typeface="Malgun Gothic" pitchFamily="34" charset="-122"/>
                <a:cs typeface="Malgun Gothic" pitchFamily="34" charset="-120"/>
              </a:rPr>
              <a:t>③ 그리드 연결</a:t>
            </a:r>
            <a:endParaRPr lang="en-US" sz="1550" dirty="0"/>
          </a:p>
        </p:txBody>
      </p:sp>
      <p:sp>
        <p:nvSpPr>
          <p:cNvPr id="24" name="Text 18"/>
          <p:cNvSpPr/>
          <p:nvPr/>
        </p:nvSpPr>
        <p:spPr>
          <a:xfrm>
            <a:off x="8330184" y="3200400"/>
            <a:ext cx="3108960" cy="822960"/>
          </a:xfrm>
          <a:prstGeom prst="rect">
            <a:avLst/>
          </a:prstGeom>
          <a:noFill/>
          <a:ln/>
        </p:spPr>
        <p:txBody>
          <a:bodyPr wrap="square" rtlCol="0" anchor="t"/>
          <a:lstStyle/>
          <a:p>
            <a:pPr marL="0" indent="0">
              <a:lnSpc>
                <a:spcPts val="1600"/>
              </a:lnSpc>
              <a:buNone/>
            </a:pPr>
            <a:r>
              <a:rPr lang="en-US" sz="1250" dirty="0">
                <a:solidFill>
                  <a:srgbClr val="2E3B41"/>
                </a:solidFill>
                <a:latin typeface="Malgun Gothic" pitchFamily="34" charset="0"/>
                <a:ea typeface="Malgun Gothic" pitchFamily="34" charset="-122"/>
                <a:cs typeface="Malgun Gothic" pitchFamily="34" charset="-120"/>
              </a:rPr>
              <a:t>충전 부하를 전력망 시뮬레이터로 전달</a:t>
            </a:r>
            <a:endParaRPr lang="en-US" sz="1250" dirty="0"/>
          </a:p>
        </p:txBody>
      </p:sp>
      <p:sp>
        <p:nvSpPr>
          <p:cNvPr id="25" name="Shape 19"/>
          <p:cNvSpPr/>
          <p:nvPr/>
        </p:nvSpPr>
        <p:spPr>
          <a:xfrm>
            <a:off x="8330184" y="4114800"/>
            <a:ext cx="3108960" cy="0"/>
          </a:xfrm>
          <a:prstGeom prst="line">
            <a:avLst/>
          </a:prstGeom>
          <a:noFill/>
          <a:ln w="12700">
            <a:solidFill>
              <a:srgbClr val="D3E0E4"/>
            </a:solidFill>
            <a:prstDash val="solid"/>
          </a:ln>
        </p:spPr>
      </p:sp>
      <p:sp>
        <p:nvSpPr>
          <p:cNvPr id="26" name="Text 20"/>
          <p:cNvSpPr/>
          <p:nvPr/>
        </p:nvSpPr>
        <p:spPr>
          <a:xfrm>
            <a:off x="8330184" y="4187952"/>
            <a:ext cx="3108960" cy="548640"/>
          </a:xfrm>
          <a:prstGeom prst="rect">
            <a:avLst/>
          </a:prstGeom>
          <a:noFill/>
          <a:ln/>
        </p:spPr>
        <p:txBody>
          <a:bodyPr wrap="square" rtlCol="0" anchor="ctr"/>
          <a:lstStyle/>
          <a:p>
            <a:pPr marL="0" indent="0">
              <a:lnSpc>
                <a:spcPts val="1400"/>
              </a:lnSpc>
              <a:buNone/>
            </a:pPr>
            <a:r>
              <a:rPr lang="en-US" sz="1100" i="1" dirty="0">
                <a:solidFill>
                  <a:srgbClr val="1C7293"/>
                </a:solidFill>
                <a:latin typeface="Malgun Gothic" pitchFamily="34" charset="0"/>
                <a:ea typeface="Malgun Gothic" pitchFamily="34" charset="-122"/>
                <a:cs typeface="Malgun Gothic" pitchFamily="34" charset="-120"/>
              </a:rPr>
              <a:t>전력망 영향(전압·부하)까지 평가</a:t>
            </a:r>
            <a:endParaRPr lang="en-US" sz="1100" dirty="0"/>
          </a:p>
        </p:txBody>
      </p:sp>
      <p:sp>
        <p:nvSpPr>
          <p:cNvPr id="27" name="Shape 21"/>
          <p:cNvSpPr/>
          <p:nvPr/>
        </p:nvSpPr>
        <p:spPr>
          <a:xfrm>
            <a:off x="548640" y="5029200"/>
            <a:ext cx="11064240" cy="1143000"/>
          </a:xfrm>
          <a:prstGeom prst="roundRect">
            <a:avLst>
              <a:gd name="adj" fmla="val 8000"/>
            </a:avLst>
          </a:prstGeom>
          <a:solidFill>
            <a:srgbClr val="FFFFFF"/>
          </a:solidFill>
          <a:ln w="12700">
            <a:solidFill>
              <a:srgbClr val="D3E0E4"/>
            </a:solidFill>
            <a:prstDash val="solid"/>
          </a:ln>
        </p:spPr>
      </p:sp>
      <p:sp>
        <p:nvSpPr>
          <p:cNvPr id="28" name="Shape 22"/>
          <p:cNvSpPr/>
          <p:nvPr/>
        </p:nvSpPr>
        <p:spPr>
          <a:xfrm>
            <a:off x="822960" y="5330952"/>
            <a:ext cx="603504" cy="603504"/>
          </a:xfrm>
          <a:prstGeom prst="ellipse">
            <a:avLst/>
          </a:prstGeom>
          <a:solidFill>
            <a:srgbClr val="E29A34"/>
          </a:solidFill>
          <a:ln/>
        </p:spPr>
      </p:sp>
      <p:pic>
        <p:nvPicPr>
          <p:cNvPr id="29" name="Image 4" descr="/tmp/icons2/bulb.png"/>
          <p:cNvPicPr>
            <a:picLocks noChangeAspect="1"/>
          </p:cNvPicPr>
          <p:nvPr/>
        </p:nvPicPr>
        <p:blipFill>
          <a:blip r:embed="rId7"/>
          <a:stretch>
            <a:fillRect/>
          </a:stretch>
        </p:blipFill>
        <p:spPr>
          <a:xfrm>
            <a:off x="973836" y="5481828"/>
            <a:ext cx="301752" cy="301752"/>
          </a:xfrm>
          <a:prstGeom prst="rect">
            <a:avLst/>
          </a:prstGeom>
        </p:spPr>
      </p:pic>
      <p:sp>
        <p:nvSpPr>
          <p:cNvPr id="30" name="Text 23"/>
          <p:cNvSpPr/>
          <p:nvPr/>
        </p:nvSpPr>
        <p:spPr>
          <a:xfrm>
            <a:off x="1600200" y="5029200"/>
            <a:ext cx="9784080" cy="1143000"/>
          </a:xfrm>
          <a:prstGeom prst="rect">
            <a:avLst/>
          </a:prstGeom>
          <a:noFill/>
          <a:ln/>
        </p:spPr>
        <p:txBody>
          <a:bodyPr wrap="square" rtlCol="0" anchor="ctr"/>
          <a:lstStyle/>
          <a:p>
            <a:pPr marL="0" indent="0">
              <a:lnSpc>
                <a:spcPts val="1800"/>
              </a:lnSpc>
              <a:buNone/>
            </a:pPr>
            <a:r>
              <a:rPr lang="en-US" sz="1300" b="1" dirty="0">
                <a:solidFill>
                  <a:srgbClr val="B97C22"/>
                </a:solidFill>
                <a:latin typeface="Malgun Gothic" pitchFamily="34" charset="0"/>
                <a:ea typeface="Malgun Gothic" pitchFamily="34" charset="-122"/>
                <a:cs typeface="Malgun Gothic" pitchFamily="34" charset="-120"/>
              </a:rPr>
              <a:t>교수님 질문(가감속→배터리)에 대한 답  </a:t>
            </a:r>
            <a:r>
              <a:rPr lang="en-US" sz="1300" dirty="0">
                <a:solidFill>
                  <a:srgbClr val="2E3B41"/>
                </a:solidFill>
                <a:latin typeface="Malgun Gothic" pitchFamily="34" charset="0"/>
                <a:ea typeface="Malgun Gothic" pitchFamily="34" charset="-122"/>
                <a:cs typeface="Malgun Gothic" pitchFamily="34" charset="-120"/>
              </a:rPr>
              <a:t>— 도시 스케일(수천 대)은 </a:t>
            </a:r>
            <a:r>
              <a:rPr lang="en-US" sz="1300" b="1" dirty="0">
                <a:solidFill>
                  <a:srgbClr val="17262C"/>
                </a:solidFill>
                <a:latin typeface="Malgun Gothic" pitchFamily="34" charset="0"/>
                <a:ea typeface="Malgun Gothic" pitchFamily="34" charset="-122"/>
                <a:cs typeface="Malgun Gothic" pitchFamily="34" charset="-120"/>
              </a:rPr>
              <a:t>간이 에너지 모델</a:t>
            </a:r>
            <a:r>
              <a:rPr lang="en-US" sz="1300" dirty="0">
                <a:solidFill>
                  <a:srgbClr val="2E3B41"/>
                </a:solidFill>
                <a:latin typeface="Malgun Gothic" pitchFamily="34" charset="0"/>
                <a:ea typeface="Malgun Gothic" pitchFamily="34" charset="-122"/>
                <a:cs typeface="Malgun Gothic" pitchFamily="34" charset="-120"/>
              </a:rPr>
              <a:t>로, 핵심 구간만 </a:t>
            </a:r>
            <a:r>
              <a:rPr lang="en-US" sz="1300" b="1" dirty="0">
                <a:solidFill>
                  <a:srgbClr val="17262C"/>
                </a:solidFill>
                <a:latin typeface="Malgun Gothic" pitchFamily="34" charset="0"/>
                <a:ea typeface="Malgun Gothic" pitchFamily="34" charset="-122"/>
                <a:cs typeface="Malgun Gothic" pitchFamily="34" charset="-120"/>
              </a:rPr>
              <a:t>SUMO로 정밀 계산</a:t>
            </a:r>
            <a:r>
              <a:rPr lang="en-US" sz="1300" dirty="0">
                <a:solidFill>
                  <a:srgbClr val="2E3B41"/>
                </a:solidFill>
                <a:latin typeface="Malgun Gothic" pitchFamily="34" charset="0"/>
                <a:ea typeface="Malgun Gothic" pitchFamily="34" charset="-122"/>
                <a:cs typeface="Malgun Gothic" pitchFamily="34" charset="-120"/>
              </a:rPr>
              <a:t>하는 하이브리드가 현실적.</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25296" y="457200"/>
            <a:ext cx="10387584" cy="274320"/>
          </a:xfrm>
          <a:prstGeom prst="rect">
            <a:avLst/>
          </a:prstGeom>
          <a:noFill/>
          <a:ln/>
        </p:spPr>
        <p:txBody>
          <a:bodyPr wrap="square" rtlCol="0" anchor="ctr"/>
          <a:lstStyle/>
          <a:p>
            <a:pPr marL="0" indent="0">
              <a:buNone/>
            </a:pPr>
            <a:r>
              <a:rPr lang="en-US" sz="1100" b="1" kern="0" spc="200" dirty="0">
                <a:solidFill>
                  <a:srgbClr val="1C7293"/>
                </a:solidFill>
                <a:latin typeface="Malgun Gothic" pitchFamily="34" charset="0"/>
                <a:ea typeface="Malgun Gothic" pitchFamily="34" charset="-122"/>
                <a:cs typeface="Malgun Gothic" pitchFamily="34" charset="-120"/>
              </a:rPr>
              <a:t>PROPOSAL ② · 통합 구조</a:t>
            </a:r>
            <a:endParaRPr lang="en-US" sz="1100" dirty="0"/>
          </a:p>
        </p:txBody>
      </p:sp>
      <p:sp>
        <p:nvSpPr>
          <p:cNvPr id="3" name="Shape 1"/>
          <p:cNvSpPr/>
          <p:nvPr/>
        </p:nvSpPr>
        <p:spPr>
          <a:xfrm>
            <a:off x="548640" y="475488"/>
            <a:ext cx="548640" cy="548640"/>
          </a:xfrm>
          <a:prstGeom prst="ellipse">
            <a:avLst/>
          </a:prstGeom>
          <a:solidFill>
            <a:srgbClr val="0C3B4A"/>
          </a:solidFill>
          <a:ln/>
        </p:spPr>
      </p:sp>
      <p:pic>
        <p:nvPicPr>
          <p:cNvPr id="4" name="Image 0" descr="/tmp/icons2/diagram.png"/>
          <p:cNvPicPr>
            <a:picLocks noChangeAspect="1"/>
          </p:cNvPicPr>
          <p:nvPr/>
        </p:nvPicPr>
        <p:blipFill>
          <a:blip r:embed="rId3"/>
          <a:stretch>
            <a:fillRect/>
          </a:stretch>
        </p:blipFill>
        <p:spPr>
          <a:xfrm>
            <a:off x="685800" y="612648"/>
            <a:ext cx="274320" cy="274320"/>
          </a:xfrm>
          <a:prstGeom prst="rect">
            <a:avLst/>
          </a:prstGeom>
        </p:spPr>
      </p:pic>
      <p:sp>
        <p:nvSpPr>
          <p:cNvPr id="5" name="Text 2"/>
          <p:cNvSpPr/>
          <p:nvPr/>
        </p:nvSpPr>
        <p:spPr>
          <a:xfrm>
            <a:off x="1225296" y="713232"/>
            <a:ext cx="10387584" cy="457200"/>
          </a:xfrm>
          <a:prstGeom prst="rect">
            <a:avLst/>
          </a:prstGeom>
          <a:noFill/>
          <a:ln/>
        </p:spPr>
        <p:txBody>
          <a:bodyPr wrap="square" rtlCol="0" anchor="ctr"/>
          <a:lstStyle/>
          <a:p>
            <a:pPr marL="0" indent="0">
              <a:buNone/>
            </a:pPr>
            <a:r>
              <a:rPr lang="en-US" sz="2600" b="1" dirty="0">
                <a:solidFill>
                  <a:srgbClr val="17262C"/>
                </a:solidFill>
                <a:latin typeface="Malgun Gothic" pitchFamily="34" charset="0"/>
                <a:ea typeface="Malgun Gothic" pitchFamily="34" charset="-122"/>
                <a:cs typeface="Malgun Gothic" pitchFamily="34" charset="-120"/>
              </a:rPr>
              <a:t>제안 ② 코시뮬레이션 구조</a:t>
            </a:r>
            <a:endParaRPr lang="en-US" sz="2600" dirty="0"/>
          </a:p>
        </p:txBody>
      </p:sp>
      <p:sp>
        <p:nvSpPr>
          <p:cNvPr id="6" name="Shape 3"/>
          <p:cNvSpPr/>
          <p:nvPr/>
        </p:nvSpPr>
        <p:spPr>
          <a:xfrm>
            <a:off x="2194560" y="1737360"/>
            <a:ext cx="7772400" cy="914400"/>
          </a:xfrm>
          <a:prstGeom prst="roundRect">
            <a:avLst>
              <a:gd name="adj" fmla="val 12000"/>
            </a:avLst>
          </a:prstGeom>
          <a:solidFill>
            <a:srgbClr val="0C3B4A"/>
          </a:solidFill>
          <a:ln/>
          <a:effectLst>
            <a:outerShdw blurRad="88900" dist="38100" dir="5400000" algn="bl" rotWithShape="0">
              <a:srgbClr val="B9C6CE">
                <a:alpha val="30000"/>
              </a:srgbClr>
            </a:outerShdw>
          </a:effectLst>
        </p:spPr>
      </p:sp>
      <p:sp>
        <p:nvSpPr>
          <p:cNvPr id="7" name="Text 4"/>
          <p:cNvSpPr/>
          <p:nvPr/>
        </p:nvSpPr>
        <p:spPr>
          <a:xfrm>
            <a:off x="2194560" y="1737360"/>
            <a:ext cx="7772400" cy="914400"/>
          </a:xfrm>
          <a:prstGeom prst="rect">
            <a:avLst/>
          </a:prstGeom>
          <a:noFill/>
          <a:ln/>
        </p:spPr>
        <p:txBody>
          <a:bodyPr wrap="square"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코시뮬레이션 플랫폼  </a:t>
            </a:r>
            <a:r>
              <a:rPr lang="en-US" sz="1500" dirty="0">
                <a:solidFill>
                  <a:srgbClr val="E29A34"/>
                </a:solidFill>
                <a:latin typeface="Malgun Gothic" pitchFamily="34" charset="0"/>
                <a:ea typeface="Malgun Gothic" pitchFamily="34" charset="-122"/>
                <a:cs typeface="Malgun Gothic" pitchFamily="34" charset="-120"/>
              </a:rPr>
              <a:t>(HELICS / mosaik)</a:t>
            </a:r>
            <a:r>
              <a:rPr lang="en-US" sz="1500" dirty="0">
                <a:solidFill>
                  <a:srgbClr val="AECAD6"/>
                </a:solidFill>
                <a:latin typeface="Malgun Gothic" pitchFamily="34" charset="0"/>
                <a:ea typeface="Malgun Gothic" pitchFamily="34" charset="-122"/>
                <a:cs typeface="Malgun Gothic" pitchFamily="34" charset="-120"/>
              </a:rPr>
              <a:t>   ·   FMI 표준으로 연결</a:t>
            </a:r>
            <a:endParaRPr lang="en-US" sz="1500" dirty="0"/>
          </a:p>
        </p:txBody>
      </p:sp>
      <p:sp>
        <p:nvSpPr>
          <p:cNvPr id="8" name="Shape 5"/>
          <p:cNvSpPr/>
          <p:nvPr/>
        </p:nvSpPr>
        <p:spPr>
          <a:xfrm>
            <a:off x="2423160" y="2651760"/>
            <a:ext cx="0" cy="1280160"/>
          </a:xfrm>
          <a:prstGeom prst="line">
            <a:avLst/>
          </a:prstGeom>
          <a:noFill/>
          <a:ln w="25400">
            <a:solidFill>
              <a:srgbClr val="5C9BB4"/>
            </a:solidFill>
            <a:prstDash val="solid"/>
          </a:ln>
        </p:spPr>
      </p:sp>
      <p:sp>
        <p:nvSpPr>
          <p:cNvPr id="9" name="Shape 6"/>
          <p:cNvSpPr/>
          <p:nvPr/>
        </p:nvSpPr>
        <p:spPr>
          <a:xfrm>
            <a:off x="2377440" y="2615184"/>
            <a:ext cx="91440" cy="91440"/>
          </a:xfrm>
          <a:prstGeom prst="ellipse">
            <a:avLst/>
          </a:prstGeom>
          <a:solidFill>
            <a:srgbClr val="0C3B4A"/>
          </a:solidFill>
          <a:ln/>
        </p:spPr>
      </p:sp>
      <p:sp>
        <p:nvSpPr>
          <p:cNvPr id="10" name="Shape 7"/>
          <p:cNvSpPr/>
          <p:nvPr/>
        </p:nvSpPr>
        <p:spPr>
          <a:xfrm>
            <a:off x="1051560" y="3931920"/>
            <a:ext cx="2743200" cy="1691640"/>
          </a:xfrm>
          <a:prstGeom prst="roundRect">
            <a:avLst>
              <a:gd name="adj" fmla="val 6486"/>
            </a:avLst>
          </a:prstGeom>
          <a:solidFill>
            <a:srgbClr val="EEF3F5"/>
          </a:solidFill>
          <a:ln/>
        </p:spPr>
      </p:sp>
      <p:sp>
        <p:nvSpPr>
          <p:cNvPr id="11" name="Shape 8"/>
          <p:cNvSpPr/>
          <p:nvPr/>
        </p:nvSpPr>
        <p:spPr>
          <a:xfrm>
            <a:off x="2075688" y="4114800"/>
            <a:ext cx="694944" cy="694944"/>
          </a:xfrm>
          <a:prstGeom prst="ellipse">
            <a:avLst/>
          </a:prstGeom>
          <a:solidFill>
            <a:srgbClr val="1C7293"/>
          </a:solidFill>
          <a:ln/>
        </p:spPr>
      </p:sp>
      <p:pic>
        <p:nvPicPr>
          <p:cNvPr id="12" name="Image 1" descr="/tmp/icons2/car.png"/>
          <p:cNvPicPr>
            <a:picLocks noChangeAspect="1"/>
          </p:cNvPicPr>
          <p:nvPr/>
        </p:nvPicPr>
        <p:blipFill>
          <a:blip r:embed="rId4"/>
          <a:stretch>
            <a:fillRect/>
          </a:stretch>
        </p:blipFill>
        <p:spPr>
          <a:xfrm>
            <a:off x="2249424" y="4288536"/>
            <a:ext cx="347472" cy="347472"/>
          </a:xfrm>
          <a:prstGeom prst="rect">
            <a:avLst/>
          </a:prstGeom>
        </p:spPr>
      </p:pic>
      <p:sp>
        <p:nvSpPr>
          <p:cNvPr id="13" name="Text 9"/>
          <p:cNvSpPr/>
          <p:nvPr/>
        </p:nvSpPr>
        <p:spPr>
          <a:xfrm>
            <a:off x="1051560" y="4846320"/>
            <a:ext cx="2743200" cy="274320"/>
          </a:xfrm>
          <a:prstGeom prst="rect">
            <a:avLst/>
          </a:prstGeom>
          <a:noFill/>
          <a:ln/>
        </p:spPr>
        <p:txBody>
          <a:bodyPr wrap="square" rtlCol="0" anchor="ctr"/>
          <a:lstStyle/>
          <a:p>
            <a:pPr marL="0" indent="0" algn="ctr">
              <a:buNone/>
            </a:pPr>
            <a:r>
              <a:rPr lang="en-US" sz="1200" b="1" dirty="0">
                <a:solidFill>
                  <a:srgbClr val="6C7C82"/>
                </a:solidFill>
                <a:latin typeface="Malgun Gothic" pitchFamily="34" charset="0"/>
                <a:ea typeface="Malgun Gothic" pitchFamily="34" charset="-122"/>
                <a:cs typeface="Malgun Gothic" pitchFamily="34" charset="-120"/>
              </a:rPr>
              <a:t>교통</a:t>
            </a:r>
            <a:endParaRPr lang="en-US" sz="1200" dirty="0"/>
          </a:p>
        </p:txBody>
      </p:sp>
      <p:sp>
        <p:nvSpPr>
          <p:cNvPr id="14" name="Text 10"/>
          <p:cNvSpPr/>
          <p:nvPr/>
        </p:nvSpPr>
        <p:spPr>
          <a:xfrm>
            <a:off x="1051560" y="5102352"/>
            <a:ext cx="2743200" cy="365760"/>
          </a:xfrm>
          <a:prstGeom prst="rect">
            <a:avLst/>
          </a:prstGeom>
          <a:noFill/>
          <a:ln/>
        </p:spPr>
        <p:txBody>
          <a:bodyPr wrap="square" rtlCol="0" anchor="ctr"/>
          <a:lstStyle/>
          <a:p>
            <a:pPr marL="0" indent="0" algn="ctr">
              <a:buNone/>
            </a:pPr>
            <a:r>
              <a:rPr lang="en-US" sz="1600" b="1" dirty="0">
                <a:solidFill>
                  <a:srgbClr val="17262C"/>
                </a:solidFill>
                <a:latin typeface="Malgun Gothic" pitchFamily="34" charset="0"/>
                <a:ea typeface="Malgun Gothic" pitchFamily="34" charset="-122"/>
                <a:cs typeface="Malgun Gothic" pitchFamily="34" charset="-120"/>
              </a:rPr>
              <a:t>DTUMOS</a:t>
            </a:r>
            <a:endParaRPr lang="en-US" sz="1600" dirty="0"/>
          </a:p>
        </p:txBody>
      </p:sp>
      <p:sp>
        <p:nvSpPr>
          <p:cNvPr id="15" name="Shape 11"/>
          <p:cNvSpPr/>
          <p:nvPr/>
        </p:nvSpPr>
        <p:spPr>
          <a:xfrm>
            <a:off x="6080760" y="2651760"/>
            <a:ext cx="0" cy="1280160"/>
          </a:xfrm>
          <a:prstGeom prst="line">
            <a:avLst/>
          </a:prstGeom>
          <a:noFill/>
          <a:ln w="25400">
            <a:solidFill>
              <a:srgbClr val="5C9BB4"/>
            </a:solidFill>
            <a:prstDash val="solid"/>
          </a:ln>
        </p:spPr>
      </p:sp>
      <p:sp>
        <p:nvSpPr>
          <p:cNvPr id="16" name="Shape 12"/>
          <p:cNvSpPr/>
          <p:nvPr/>
        </p:nvSpPr>
        <p:spPr>
          <a:xfrm>
            <a:off x="6035040" y="2615184"/>
            <a:ext cx="91440" cy="91440"/>
          </a:xfrm>
          <a:prstGeom prst="ellipse">
            <a:avLst/>
          </a:prstGeom>
          <a:solidFill>
            <a:srgbClr val="0C3B4A"/>
          </a:solidFill>
          <a:ln/>
        </p:spPr>
      </p:sp>
      <p:sp>
        <p:nvSpPr>
          <p:cNvPr id="17" name="Shape 13"/>
          <p:cNvSpPr/>
          <p:nvPr/>
        </p:nvSpPr>
        <p:spPr>
          <a:xfrm>
            <a:off x="4709160" y="3931920"/>
            <a:ext cx="2743200" cy="1691640"/>
          </a:xfrm>
          <a:prstGeom prst="roundRect">
            <a:avLst>
              <a:gd name="adj" fmla="val 6486"/>
            </a:avLst>
          </a:prstGeom>
          <a:solidFill>
            <a:srgbClr val="EEF3F5"/>
          </a:solidFill>
          <a:ln/>
        </p:spPr>
      </p:sp>
      <p:sp>
        <p:nvSpPr>
          <p:cNvPr id="18" name="Shape 14"/>
          <p:cNvSpPr/>
          <p:nvPr/>
        </p:nvSpPr>
        <p:spPr>
          <a:xfrm>
            <a:off x="5733288" y="4114800"/>
            <a:ext cx="694944" cy="694944"/>
          </a:xfrm>
          <a:prstGeom prst="ellipse">
            <a:avLst/>
          </a:prstGeom>
          <a:solidFill>
            <a:srgbClr val="E29A34"/>
          </a:solidFill>
          <a:ln/>
        </p:spPr>
      </p:sp>
      <p:pic>
        <p:nvPicPr>
          <p:cNvPr id="19" name="Image 2" descr="/tmp/icons2/building.png"/>
          <p:cNvPicPr>
            <a:picLocks noChangeAspect="1"/>
          </p:cNvPicPr>
          <p:nvPr/>
        </p:nvPicPr>
        <p:blipFill>
          <a:blip r:embed="rId5"/>
          <a:stretch>
            <a:fillRect/>
          </a:stretch>
        </p:blipFill>
        <p:spPr>
          <a:xfrm>
            <a:off x="5907024" y="4288536"/>
            <a:ext cx="347472" cy="347472"/>
          </a:xfrm>
          <a:prstGeom prst="rect">
            <a:avLst/>
          </a:prstGeom>
        </p:spPr>
      </p:pic>
      <p:sp>
        <p:nvSpPr>
          <p:cNvPr id="20" name="Text 15"/>
          <p:cNvSpPr/>
          <p:nvPr/>
        </p:nvSpPr>
        <p:spPr>
          <a:xfrm>
            <a:off x="4709160" y="4846320"/>
            <a:ext cx="2743200" cy="274320"/>
          </a:xfrm>
          <a:prstGeom prst="rect">
            <a:avLst/>
          </a:prstGeom>
          <a:noFill/>
          <a:ln/>
        </p:spPr>
        <p:txBody>
          <a:bodyPr wrap="square" rtlCol="0" anchor="ctr"/>
          <a:lstStyle/>
          <a:p>
            <a:pPr marL="0" indent="0" algn="ctr">
              <a:buNone/>
            </a:pPr>
            <a:r>
              <a:rPr lang="en-US" sz="1200" b="1" dirty="0">
                <a:solidFill>
                  <a:srgbClr val="6C7C82"/>
                </a:solidFill>
                <a:latin typeface="Malgun Gothic" pitchFamily="34" charset="0"/>
                <a:ea typeface="Malgun Gothic" pitchFamily="34" charset="-122"/>
                <a:cs typeface="Malgun Gothic" pitchFamily="34" charset="-120"/>
              </a:rPr>
              <a:t>건물</a:t>
            </a:r>
            <a:endParaRPr lang="en-US" sz="1200" dirty="0"/>
          </a:p>
        </p:txBody>
      </p:sp>
      <p:sp>
        <p:nvSpPr>
          <p:cNvPr id="21" name="Text 16"/>
          <p:cNvSpPr/>
          <p:nvPr/>
        </p:nvSpPr>
        <p:spPr>
          <a:xfrm>
            <a:off x="4709160" y="5102352"/>
            <a:ext cx="2743200" cy="365760"/>
          </a:xfrm>
          <a:prstGeom prst="rect">
            <a:avLst/>
          </a:prstGeom>
          <a:noFill/>
          <a:ln/>
        </p:spPr>
        <p:txBody>
          <a:bodyPr wrap="square" rtlCol="0" anchor="ctr"/>
          <a:lstStyle/>
          <a:p>
            <a:pPr marL="0" indent="0" algn="ctr">
              <a:buNone/>
            </a:pPr>
            <a:r>
              <a:rPr lang="en-US" sz="1600" b="1" dirty="0">
                <a:solidFill>
                  <a:srgbClr val="17262C"/>
                </a:solidFill>
                <a:latin typeface="Malgun Gothic" pitchFamily="34" charset="0"/>
                <a:ea typeface="Malgun Gothic" pitchFamily="34" charset="-122"/>
                <a:cs typeface="Malgun Gothic" pitchFamily="34" charset="-120"/>
              </a:rPr>
              <a:t>EnergyPlus</a:t>
            </a:r>
            <a:endParaRPr lang="en-US" sz="1600" dirty="0"/>
          </a:p>
        </p:txBody>
      </p:sp>
      <p:sp>
        <p:nvSpPr>
          <p:cNvPr id="22" name="Shape 17"/>
          <p:cNvSpPr/>
          <p:nvPr/>
        </p:nvSpPr>
        <p:spPr>
          <a:xfrm>
            <a:off x="9738360" y="2651760"/>
            <a:ext cx="0" cy="1280160"/>
          </a:xfrm>
          <a:prstGeom prst="line">
            <a:avLst/>
          </a:prstGeom>
          <a:noFill/>
          <a:ln w="25400">
            <a:solidFill>
              <a:srgbClr val="5C9BB4"/>
            </a:solidFill>
            <a:prstDash val="solid"/>
          </a:ln>
        </p:spPr>
      </p:sp>
      <p:sp>
        <p:nvSpPr>
          <p:cNvPr id="23" name="Shape 18"/>
          <p:cNvSpPr/>
          <p:nvPr/>
        </p:nvSpPr>
        <p:spPr>
          <a:xfrm>
            <a:off x="9692640" y="2615184"/>
            <a:ext cx="91440" cy="91440"/>
          </a:xfrm>
          <a:prstGeom prst="ellipse">
            <a:avLst/>
          </a:prstGeom>
          <a:solidFill>
            <a:srgbClr val="0C3B4A"/>
          </a:solidFill>
          <a:ln/>
        </p:spPr>
      </p:sp>
      <p:sp>
        <p:nvSpPr>
          <p:cNvPr id="24" name="Shape 19"/>
          <p:cNvSpPr/>
          <p:nvPr/>
        </p:nvSpPr>
        <p:spPr>
          <a:xfrm>
            <a:off x="8366760" y="3931920"/>
            <a:ext cx="2743200" cy="1691640"/>
          </a:xfrm>
          <a:prstGeom prst="roundRect">
            <a:avLst>
              <a:gd name="adj" fmla="val 6486"/>
            </a:avLst>
          </a:prstGeom>
          <a:solidFill>
            <a:srgbClr val="EEF3F5"/>
          </a:solidFill>
          <a:ln/>
        </p:spPr>
      </p:sp>
      <p:sp>
        <p:nvSpPr>
          <p:cNvPr id="25" name="Shape 20"/>
          <p:cNvSpPr/>
          <p:nvPr/>
        </p:nvSpPr>
        <p:spPr>
          <a:xfrm>
            <a:off x="9390888" y="4114800"/>
            <a:ext cx="694944" cy="694944"/>
          </a:xfrm>
          <a:prstGeom prst="ellipse">
            <a:avLst/>
          </a:prstGeom>
          <a:solidFill>
            <a:srgbClr val="0C3B4A"/>
          </a:solidFill>
          <a:ln/>
        </p:spPr>
      </p:sp>
      <p:pic>
        <p:nvPicPr>
          <p:cNvPr id="26" name="Image 3" descr="/tmp/icons2/bolt.png"/>
          <p:cNvPicPr>
            <a:picLocks noChangeAspect="1"/>
          </p:cNvPicPr>
          <p:nvPr/>
        </p:nvPicPr>
        <p:blipFill>
          <a:blip r:embed="rId6"/>
          <a:stretch>
            <a:fillRect/>
          </a:stretch>
        </p:blipFill>
        <p:spPr>
          <a:xfrm>
            <a:off x="9564624" y="4288536"/>
            <a:ext cx="347472" cy="347472"/>
          </a:xfrm>
          <a:prstGeom prst="rect">
            <a:avLst/>
          </a:prstGeom>
        </p:spPr>
      </p:pic>
      <p:sp>
        <p:nvSpPr>
          <p:cNvPr id="27" name="Text 21"/>
          <p:cNvSpPr/>
          <p:nvPr/>
        </p:nvSpPr>
        <p:spPr>
          <a:xfrm>
            <a:off x="8366760" y="4846320"/>
            <a:ext cx="2743200" cy="274320"/>
          </a:xfrm>
          <a:prstGeom prst="rect">
            <a:avLst/>
          </a:prstGeom>
          <a:noFill/>
          <a:ln/>
        </p:spPr>
        <p:txBody>
          <a:bodyPr wrap="square" rtlCol="0" anchor="ctr"/>
          <a:lstStyle/>
          <a:p>
            <a:pPr marL="0" indent="0" algn="ctr">
              <a:buNone/>
            </a:pPr>
            <a:r>
              <a:rPr lang="en-US" sz="1200" b="1" dirty="0">
                <a:solidFill>
                  <a:srgbClr val="6C7C82"/>
                </a:solidFill>
                <a:latin typeface="Malgun Gothic" pitchFamily="34" charset="0"/>
                <a:ea typeface="Malgun Gothic" pitchFamily="34" charset="-122"/>
                <a:cs typeface="Malgun Gothic" pitchFamily="34" charset="-120"/>
              </a:rPr>
              <a:t>전력망</a:t>
            </a:r>
            <a:endParaRPr lang="en-US" sz="1200" dirty="0"/>
          </a:p>
        </p:txBody>
      </p:sp>
      <p:sp>
        <p:nvSpPr>
          <p:cNvPr id="28" name="Text 22"/>
          <p:cNvSpPr/>
          <p:nvPr/>
        </p:nvSpPr>
        <p:spPr>
          <a:xfrm>
            <a:off x="8366760" y="5102352"/>
            <a:ext cx="2743200" cy="365760"/>
          </a:xfrm>
          <a:prstGeom prst="rect">
            <a:avLst/>
          </a:prstGeom>
          <a:noFill/>
          <a:ln/>
        </p:spPr>
        <p:txBody>
          <a:bodyPr wrap="square" rtlCol="0" anchor="ctr"/>
          <a:lstStyle/>
          <a:p>
            <a:pPr marL="0" indent="0" algn="ctr">
              <a:buNone/>
            </a:pPr>
            <a:r>
              <a:rPr lang="en-US" sz="1600" b="1" dirty="0">
                <a:solidFill>
                  <a:srgbClr val="17262C"/>
                </a:solidFill>
                <a:latin typeface="Malgun Gothic" pitchFamily="34" charset="0"/>
                <a:ea typeface="Malgun Gothic" pitchFamily="34" charset="-122"/>
                <a:cs typeface="Malgun Gothic" pitchFamily="34" charset="-120"/>
              </a:rPr>
              <a:t>OpenDSS</a:t>
            </a:r>
            <a:endParaRPr lang="en-US" sz="1600" dirty="0"/>
          </a:p>
        </p:txBody>
      </p:sp>
      <p:sp>
        <p:nvSpPr>
          <p:cNvPr id="29" name="Shape 23"/>
          <p:cNvSpPr/>
          <p:nvPr/>
        </p:nvSpPr>
        <p:spPr>
          <a:xfrm>
            <a:off x="548640" y="5897880"/>
            <a:ext cx="11064240" cy="685800"/>
          </a:xfrm>
          <a:prstGeom prst="roundRect">
            <a:avLst>
              <a:gd name="adj" fmla="val 13333"/>
            </a:avLst>
          </a:prstGeom>
          <a:solidFill>
            <a:srgbClr val="F5F8F9"/>
          </a:solidFill>
          <a:ln w="12700">
            <a:solidFill>
              <a:srgbClr val="D3E0E4"/>
            </a:solidFill>
            <a:prstDash val="solid"/>
          </a:ln>
        </p:spPr>
      </p:sp>
      <p:sp>
        <p:nvSpPr>
          <p:cNvPr id="30" name="Text 24"/>
          <p:cNvSpPr/>
          <p:nvPr/>
        </p:nvSpPr>
        <p:spPr>
          <a:xfrm>
            <a:off x="822960" y="5897880"/>
            <a:ext cx="10515600" cy="685800"/>
          </a:xfrm>
          <a:prstGeom prst="rect">
            <a:avLst/>
          </a:prstGeom>
          <a:noFill/>
          <a:ln/>
        </p:spPr>
        <p:txBody>
          <a:bodyPr wrap="square" rtlCol="0" anchor="ctr"/>
          <a:lstStyle/>
          <a:p>
            <a:pPr marL="0" indent="0" algn="ctr">
              <a:buNone/>
            </a:pPr>
            <a:r>
              <a:rPr lang="en-US" sz="1300" dirty="0">
                <a:solidFill>
                  <a:srgbClr val="2E3B41"/>
                </a:solidFill>
                <a:latin typeface="Malgun Gothic" pitchFamily="34" charset="0"/>
                <a:ea typeface="Malgun Gothic" pitchFamily="34" charset="-122"/>
                <a:cs typeface="Malgun Gothic" pitchFamily="34" charset="-120"/>
              </a:rPr>
              <a:t>URBANopt(건물+전력망)에 </a:t>
            </a:r>
            <a:r>
              <a:rPr lang="en-US" sz="1300" b="1" dirty="0">
                <a:solidFill>
                  <a:srgbClr val="17262C"/>
                </a:solidFill>
                <a:latin typeface="Malgun Gothic" pitchFamily="34" charset="0"/>
                <a:ea typeface="Malgun Gothic" pitchFamily="34" charset="-122"/>
                <a:cs typeface="Malgun Gothic" pitchFamily="34" charset="-120"/>
              </a:rPr>
              <a:t>DTUMOS(교통)를 더한 구조</a:t>
            </a:r>
            <a:r>
              <a:rPr lang="en-US" sz="1300" dirty="0">
                <a:solidFill>
                  <a:srgbClr val="2E3B41"/>
                </a:solidFill>
                <a:latin typeface="Malgun Gothic" pitchFamily="34" charset="0"/>
                <a:ea typeface="Malgun Gothic" pitchFamily="34" charset="-122"/>
                <a:cs typeface="Malgun Gothic" pitchFamily="34" charset="-120"/>
              </a:rPr>
              <a:t>  →  논문이 지적한 '교통–에너지 통합' 공백을 정확히 메운다.</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3B4A"/>
        </a:solidFill>
        <a:effectLst/>
      </p:bgPr>
    </p:bg>
    <p:spTree>
      <p:nvGrpSpPr>
        <p:cNvPr id="1" name=""/>
        <p:cNvGrpSpPr/>
        <p:nvPr/>
      </p:nvGrpSpPr>
      <p:grpSpPr>
        <a:xfrm>
          <a:off x="0" y="0"/>
          <a:ext cx="0" cy="0"/>
          <a:chOff x="0" y="0"/>
          <a:chExt cx="0" cy="0"/>
        </a:xfrm>
      </p:grpSpPr>
      <p:sp>
        <p:nvSpPr>
          <p:cNvPr id="2" name="Text 0"/>
          <p:cNvSpPr/>
          <p:nvPr/>
        </p:nvSpPr>
        <p:spPr>
          <a:xfrm>
            <a:off x="548640" y="960120"/>
            <a:ext cx="11064240" cy="320040"/>
          </a:xfrm>
          <a:prstGeom prst="rect">
            <a:avLst/>
          </a:prstGeom>
          <a:noFill/>
          <a:ln/>
        </p:spPr>
        <p:txBody>
          <a:bodyPr wrap="square" rtlCol="0" anchor="ctr"/>
          <a:lstStyle/>
          <a:p>
            <a:pPr marL="0" indent="0">
              <a:buNone/>
            </a:pPr>
            <a:r>
              <a:rPr lang="en-US" sz="1300" b="1" kern="0" spc="200" dirty="0">
                <a:solidFill>
                  <a:srgbClr val="E29A34"/>
                </a:solidFill>
                <a:latin typeface="Malgun Gothic" pitchFamily="34" charset="0"/>
                <a:ea typeface="Malgun Gothic" pitchFamily="34" charset="-122"/>
                <a:cs typeface="Malgun Gothic" pitchFamily="34" charset="-120"/>
              </a:rPr>
              <a:t>CONCLUSION · 정리</a:t>
            </a:r>
            <a:endParaRPr lang="en-US" sz="1300" dirty="0"/>
          </a:p>
        </p:txBody>
      </p:sp>
      <p:sp>
        <p:nvSpPr>
          <p:cNvPr id="3" name="Text 1"/>
          <p:cNvSpPr/>
          <p:nvPr/>
        </p:nvSpPr>
        <p:spPr>
          <a:xfrm>
            <a:off x="548640" y="1371600"/>
            <a:ext cx="11064240" cy="1188720"/>
          </a:xfrm>
          <a:prstGeom prst="rect">
            <a:avLst/>
          </a:prstGeom>
          <a:noFill/>
          <a:ln/>
        </p:spPr>
        <p:txBody>
          <a:bodyPr wrap="square" rtlCol="0" anchor="ctr"/>
          <a:lstStyle/>
          <a:p>
            <a:pPr marL="0" indent="0">
              <a:lnSpc>
                <a:spcPts val="3200"/>
              </a:lnSpc>
              <a:buNone/>
            </a:pPr>
            <a:r>
              <a:rPr lang="en-US" sz="2400" b="1" dirty="0">
                <a:solidFill>
                  <a:srgbClr val="E29A34"/>
                </a:solidFill>
                <a:latin typeface="Malgun Gothic" pitchFamily="34" charset="0"/>
                <a:ea typeface="Malgun Gothic" pitchFamily="34" charset="-122"/>
                <a:cs typeface="Malgun Gothic" pitchFamily="34" charset="-120"/>
              </a:rPr>
              <a:t>DTUMOS + EnergyPlus + OpenDSS</a:t>
            </a:r>
            <a:r>
              <a:rPr lang="en-US" sz="2400" b="1" dirty="0">
                <a:solidFill>
                  <a:srgbClr val="FFFFFF"/>
                </a:solidFill>
                <a:latin typeface="Malgun Gothic" pitchFamily="34" charset="0"/>
                <a:ea typeface="Malgun Gothic" pitchFamily="34" charset="-122"/>
                <a:cs typeface="Malgun Gothic" pitchFamily="34" charset="-120"/>
              </a:rPr>
              <a:t>를 코시뮬레이션해</a:t>
            </a:r>
            <a:endParaRPr lang="en-US" sz="2400" dirty="0"/>
          </a:p>
          <a:p>
            <a:pPr marL="0" indent="0">
              <a:lnSpc>
                <a:spcPts val="3200"/>
              </a:lnSpc>
              <a:buNone/>
            </a:pPr>
            <a:r>
              <a:rPr lang="en-US" sz="2400" b="1" dirty="0">
                <a:solidFill>
                  <a:srgbClr val="FFFFFF"/>
                </a:solidFill>
                <a:latin typeface="Malgun Gothic" pitchFamily="34" charset="0"/>
                <a:ea typeface="Malgun Gothic" pitchFamily="34" charset="-122"/>
                <a:cs typeface="Malgun Gothic" pitchFamily="34" charset="-120"/>
              </a:rPr>
              <a:t>도시 규모 에너지를 최적화 — </a:t>
            </a:r>
            <a:endParaRPr lang="en-US" sz="2400" dirty="0"/>
          </a:p>
          <a:p>
            <a:pPr marL="0" indent="0">
              <a:lnSpc>
                <a:spcPts val="3200"/>
              </a:lnSpc>
              <a:buNone/>
            </a:pPr>
            <a:r>
              <a:rPr lang="en-US" sz="2400" b="1" dirty="0">
                <a:solidFill>
                  <a:srgbClr val="E29A34"/>
                </a:solidFill>
                <a:latin typeface="Malgun Gothic" pitchFamily="34" charset="0"/>
                <a:ea typeface="Malgun Gothic" pitchFamily="34" charset="-122"/>
                <a:cs typeface="Malgun Gothic" pitchFamily="34" charset="-120"/>
              </a:rPr>
              <a:t>교통까지 통합</a:t>
            </a:r>
            <a:r>
              <a:rPr lang="en-US" sz="2400" b="1" dirty="0">
                <a:solidFill>
                  <a:srgbClr val="FFFFFF"/>
                </a:solidFill>
                <a:latin typeface="Malgun Gothic" pitchFamily="34" charset="0"/>
                <a:ea typeface="Malgun Gothic" pitchFamily="34" charset="-122"/>
                <a:cs typeface="Malgun Gothic" pitchFamily="34" charset="-120"/>
              </a:rPr>
              <a:t>하는 것이 차별점.</a:t>
            </a:r>
            <a:endParaRPr lang="en-US" sz="2400" dirty="0"/>
          </a:p>
        </p:txBody>
      </p:sp>
      <p:sp>
        <p:nvSpPr>
          <p:cNvPr id="4" name="Shape 2"/>
          <p:cNvSpPr/>
          <p:nvPr/>
        </p:nvSpPr>
        <p:spPr>
          <a:xfrm>
            <a:off x="548640" y="2743200"/>
            <a:ext cx="6903720" cy="2788920"/>
          </a:xfrm>
          <a:prstGeom prst="roundRect">
            <a:avLst>
              <a:gd name="adj" fmla="val 3934"/>
            </a:avLst>
          </a:prstGeom>
          <a:solidFill>
            <a:srgbClr val="0F4557"/>
          </a:solidFill>
          <a:ln/>
        </p:spPr>
      </p:sp>
      <p:sp>
        <p:nvSpPr>
          <p:cNvPr id="5" name="Text 3"/>
          <p:cNvSpPr/>
          <p:nvPr/>
        </p:nvSpPr>
        <p:spPr>
          <a:xfrm>
            <a:off x="868680" y="2926080"/>
            <a:ext cx="4572000" cy="320040"/>
          </a:xfrm>
          <a:prstGeom prst="rect">
            <a:avLst/>
          </a:prstGeom>
          <a:noFill/>
          <a:ln/>
        </p:spPr>
        <p:txBody>
          <a:bodyPr wrap="square" rtlCol="0" anchor="ctr"/>
          <a:lstStyle/>
          <a:p>
            <a:pPr marL="0" indent="0">
              <a:buNone/>
            </a:pPr>
            <a:r>
              <a:rPr lang="en-US" sz="1400" b="1" dirty="0">
                <a:solidFill>
                  <a:srgbClr val="E29A34"/>
                </a:solidFill>
                <a:latin typeface="Malgun Gothic" pitchFamily="34" charset="0"/>
                <a:ea typeface="Malgun Gothic" pitchFamily="34" charset="-122"/>
                <a:cs typeface="Malgun Gothic" pitchFamily="34" charset="-120"/>
              </a:rPr>
              <a:t>다음 단계</a:t>
            </a:r>
            <a:endParaRPr lang="en-US" sz="1400" dirty="0"/>
          </a:p>
        </p:txBody>
      </p:sp>
      <p:sp>
        <p:nvSpPr>
          <p:cNvPr id="6" name="Shape 4"/>
          <p:cNvSpPr/>
          <p:nvPr/>
        </p:nvSpPr>
        <p:spPr>
          <a:xfrm>
            <a:off x="868680" y="3337560"/>
            <a:ext cx="402336" cy="402336"/>
          </a:xfrm>
          <a:prstGeom prst="ellipse">
            <a:avLst/>
          </a:prstGeom>
          <a:solidFill>
            <a:srgbClr val="E29A34"/>
          </a:solidFill>
          <a:ln/>
        </p:spPr>
      </p:sp>
      <p:sp>
        <p:nvSpPr>
          <p:cNvPr id="7" name="Text 5"/>
          <p:cNvSpPr/>
          <p:nvPr/>
        </p:nvSpPr>
        <p:spPr>
          <a:xfrm>
            <a:off x="868680" y="3337560"/>
            <a:ext cx="402336" cy="402336"/>
          </a:xfrm>
          <a:prstGeom prst="rect">
            <a:avLst/>
          </a:prstGeom>
          <a:noFill/>
          <a:ln/>
        </p:spPr>
        <p:txBody>
          <a:bodyPr wrap="square" rtlCol="0" anchor="ctr"/>
          <a:lstStyle/>
          <a:p>
            <a:pPr marL="0" indent="0" algn="ctr">
              <a:buNone/>
            </a:pPr>
            <a:r>
              <a:rPr lang="en-US" sz="1500" b="1" dirty="0">
                <a:solidFill>
                  <a:srgbClr val="0C3B4A"/>
                </a:solidFill>
                <a:latin typeface="Malgun Gothic" pitchFamily="34" charset="0"/>
                <a:ea typeface="Malgun Gothic" pitchFamily="34" charset="-122"/>
                <a:cs typeface="Malgun Gothic" pitchFamily="34" charset="-120"/>
              </a:rPr>
              <a:t>1</a:t>
            </a:r>
            <a:endParaRPr lang="en-US" sz="1500" dirty="0"/>
          </a:p>
        </p:txBody>
      </p:sp>
      <p:sp>
        <p:nvSpPr>
          <p:cNvPr id="8" name="Text 6"/>
          <p:cNvSpPr/>
          <p:nvPr/>
        </p:nvSpPr>
        <p:spPr>
          <a:xfrm>
            <a:off x="1417320" y="3337560"/>
            <a:ext cx="5852160" cy="402336"/>
          </a:xfrm>
          <a:prstGeom prst="rect">
            <a:avLst/>
          </a:prstGeom>
          <a:noFill/>
          <a:ln/>
        </p:spPr>
        <p:txBody>
          <a:bodyPr wrap="square" lIns="0" tIns="0" rIns="0" bIns="0" rtlCol="0" anchor="ctr"/>
          <a:lstStyle/>
          <a:p>
            <a:pPr marL="0" indent="0">
              <a:buNone/>
            </a:pPr>
            <a:r>
              <a:rPr lang="en-US" sz="1350" dirty="0">
                <a:solidFill>
                  <a:srgbClr val="FFFFFF"/>
                </a:solidFill>
                <a:latin typeface="Malgun Gothic" pitchFamily="34" charset="0"/>
                <a:ea typeface="Malgun Gothic" pitchFamily="34" charset="-122"/>
                <a:cs typeface="Malgun Gothic" pitchFamily="34" charset="-120"/>
              </a:rPr>
              <a:t>mosaik로 소규모 프로토타입 구성</a:t>
            </a:r>
            <a:endParaRPr lang="en-US" sz="1350" dirty="0"/>
          </a:p>
        </p:txBody>
      </p:sp>
      <p:sp>
        <p:nvSpPr>
          <p:cNvPr id="9" name="Shape 7"/>
          <p:cNvSpPr/>
          <p:nvPr/>
        </p:nvSpPr>
        <p:spPr>
          <a:xfrm>
            <a:off x="868680" y="3995928"/>
            <a:ext cx="402336" cy="402336"/>
          </a:xfrm>
          <a:prstGeom prst="ellipse">
            <a:avLst/>
          </a:prstGeom>
          <a:solidFill>
            <a:srgbClr val="E29A34"/>
          </a:solidFill>
          <a:ln/>
        </p:spPr>
      </p:sp>
      <p:sp>
        <p:nvSpPr>
          <p:cNvPr id="10" name="Text 8"/>
          <p:cNvSpPr/>
          <p:nvPr/>
        </p:nvSpPr>
        <p:spPr>
          <a:xfrm>
            <a:off x="868680" y="3995928"/>
            <a:ext cx="402336" cy="402336"/>
          </a:xfrm>
          <a:prstGeom prst="rect">
            <a:avLst/>
          </a:prstGeom>
          <a:noFill/>
          <a:ln/>
        </p:spPr>
        <p:txBody>
          <a:bodyPr wrap="square" rtlCol="0" anchor="ctr"/>
          <a:lstStyle/>
          <a:p>
            <a:pPr marL="0" indent="0" algn="ctr">
              <a:buNone/>
            </a:pPr>
            <a:r>
              <a:rPr lang="en-US" sz="1500" b="1" dirty="0">
                <a:solidFill>
                  <a:srgbClr val="0C3B4A"/>
                </a:solidFill>
                <a:latin typeface="Malgun Gothic" pitchFamily="34" charset="0"/>
                <a:ea typeface="Malgun Gothic" pitchFamily="34" charset="-122"/>
                <a:cs typeface="Malgun Gothic" pitchFamily="34" charset="-120"/>
              </a:rPr>
              <a:t>2</a:t>
            </a:r>
            <a:endParaRPr lang="en-US" sz="1500" dirty="0"/>
          </a:p>
        </p:txBody>
      </p:sp>
      <p:sp>
        <p:nvSpPr>
          <p:cNvPr id="11" name="Text 9"/>
          <p:cNvSpPr/>
          <p:nvPr/>
        </p:nvSpPr>
        <p:spPr>
          <a:xfrm>
            <a:off x="1417320" y="3995928"/>
            <a:ext cx="5852160" cy="402336"/>
          </a:xfrm>
          <a:prstGeom prst="rect">
            <a:avLst/>
          </a:prstGeom>
          <a:noFill/>
          <a:ln/>
        </p:spPr>
        <p:txBody>
          <a:bodyPr wrap="square" lIns="0" tIns="0" rIns="0" bIns="0" rtlCol="0" anchor="ctr"/>
          <a:lstStyle/>
          <a:p>
            <a:pPr marL="0" indent="0">
              <a:buNone/>
            </a:pPr>
            <a:r>
              <a:rPr lang="en-US" sz="1350" dirty="0">
                <a:solidFill>
                  <a:srgbClr val="FFFFFF"/>
                </a:solidFill>
                <a:latin typeface="Malgun Gothic" pitchFamily="34" charset="0"/>
                <a:ea typeface="Malgun Gothic" pitchFamily="34" charset="-122"/>
                <a:cs typeface="Malgun Gothic" pitchFamily="34" charset="-120"/>
              </a:rPr>
              <a:t>DTUMOS에 EV 에너지·충전 모듈 개발</a:t>
            </a:r>
            <a:endParaRPr lang="en-US" sz="1350" dirty="0"/>
          </a:p>
        </p:txBody>
      </p:sp>
      <p:sp>
        <p:nvSpPr>
          <p:cNvPr id="12" name="Shape 10"/>
          <p:cNvSpPr/>
          <p:nvPr/>
        </p:nvSpPr>
        <p:spPr>
          <a:xfrm>
            <a:off x="868680" y="4654296"/>
            <a:ext cx="402336" cy="402336"/>
          </a:xfrm>
          <a:prstGeom prst="ellipse">
            <a:avLst/>
          </a:prstGeom>
          <a:solidFill>
            <a:srgbClr val="E29A34"/>
          </a:solidFill>
          <a:ln/>
        </p:spPr>
      </p:sp>
      <p:sp>
        <p:nvSpPr>
          <p:cNvPr id="13" name="Text 11"/>
          <p:cNvSpPr/>
          <p:nvPr/>
        </p:nvSpPr>
        <p:spPr>
          <a:xfrm>
            <a:off x="868680" y="4654296"/>
            <a:ext cx="402336" cy="402336"/>
          </a:xfrm>
          <a:prstGeom prst="rect">
            <a:avLst/>
          </a:prstGeom>
          <a:noFill/>
          <a:ln/>
        </p:spPr>
        <p:txBody>
          <a:bodyPr wrap="square" rtlCol="0" anchor="ctr"/>
          <a:lstStyle/>
          <a:p>
            <a:pPr marL="0" indent="0" algn="ctr">
              <a:buNone/>
            </a:pPr>
            <a:r>
              <a:rPr lang="en-US" sz="1500" b="1" dirty="0">
                <a:solidFill>
                  <a:srgbClr val="0C3B4A"/>
                </a:solidFill>
                <a:latin typeface="Malgun Gothic" pitchFamily="34" charset="0"/>
                <a:ea typeface="Malgun Gothic" pitchFamily="34" charset="-122"/>
                <a:cs typeface="Malgun Gothic" pitchFamily="34" charset="-120"/>
              </a:rPr>
              <a:t>3</a:t>
            </a:r>
            <a:endParaRPr lang="en-US" sz="1500" dirty="0"/>
          </a:p>
        </p:txBody>
      </p:sp>
      <p:sp>
        <p:nvSpPr>
          <p:cNvPr id="14" name="Text 12"/>
          <p:cNvSpPr/>
          <p:nvPr/>
        </p:nvSpPr>
        <p:spPr>
          <a:xfrm>
            <a:off x="1417320" y="4654296"/>
            <a:ext cx="5852160" cy="402336"/>
          </a:xfrm>
          <a:prstGeom prst="rect">
            <a:avLst/>
          </a:prstGeom>
          <a:noFill/>
          <a:ln/>
        </p:spPr>
        <p:txBody>
          <a:bodyPr wrap="square" lIns="0" tIns="0" rIns="0" bIns="0" rtlCol="0" anchor="ctr"/>
          <a:lstStyle/>
          <a:p>
            <a:pPr marL="0" indent="0">
              <a:buNone/>
            </a:pPr>
            <a:r>
              <a:rPr lang="en-US" sz="1350" dirty="0">
                <a:solidFill>
                  <a:srgbClr val="FFFFFF"/>
                </a:solidFill>
                <a:latin typeface="Malgun Gothic" pitchFamily="34" charset="0"/>
                <a:ea typeface="Malgun Gothic" pitchFamily="34" charset="-122"/>
                <a:cs typeface="Malgun Gothic" pitchFamily="34" charset="-120"/>
              </a:rPr>
              <a:t>소규모 도시 시나리오로 검증 후 확장</a:t>
            </a:r>
            <a:endParaRPr lang="en-US" sz="1350" dirty="0"/>
          </a:p>
        </p:txBody>
      </p:sp>
      <p:sp>
        <p:nvSpPr>
          <p:cNvPr id="15" name="Shape 13"/>
          <p:cNvSpPr/>
          <p:nvPr/>
        </p:nvSpPr>
        <p:spPr>
          <a:xfrm>
            <a:off x="7726680" y="2743200"/>
            <a:ext cx="3886200" cy="2788920"/>
          </a:xfrm>
          <a:prstGeom prst="roundRect">
            <a:avLst>
              <a:gd name="adj" fmla="val 3934"/>
            </a:avLst>
          </a:prstGeom>
          <a:solidFill>
            <a:srgbClr val="0F4557"/>
          </a:solidFill>
          <a:ln/>
        </p:spPr>
      </p:sp>
      <p:sp>
        <p:nvSpPr>
          <p:cNvPr id="16" name="Shape 14"/>
          <p:cNvSpPr/>
          <p:nvPr/>
        </p:nvSpPr>
        <p:spPr>
          <a:xfrm>
            <a:off x="8001000" y="2971800"/>
            <a:ext cx="548640" cy="548640"/>
          </a:xfrm>
          <a:prstGeom prst="ellipse">
            <a:avLst/>
          </a:prstGeom>
          <a:solidFill>
            <a:srgbClr val="E29A34"/>
          </a:solidFill>
          <a:ln/>
        </p:spPr>
      </p:sp>
      <p:pic>
        <p:nvPicPr>
          <p:cNvPr id="17" name="Image 0" descr="/tmp/icons2/bulb.png"/>
          <p:cNvPicPr>
            <a:picLocks noChangeAspect="1"/>
          </p:cNvPicPr>
          <p:nvPr/>
        </p:nvPicPr>
        <p:blipFill>
          <a:blip r:embed="rId3"/>
          <a:stretch>
            <a:fillRect/>
          </a:stretch>
        </p:blipFill>
        <p:spPr>
          <a:xfrm>
            <a:off x="8138160" y="3108960"/>
            <a:ext cx="274320" cy="274320"/>
          </a:xfrm>
          <a:prstGeom prst="rect">
            <a:avLst/>
          </a:prstGeom>
        </p:spPr>
      </p:pic>
      <p:sp>
        <p:nvSpPr>
          <p:cNvPr id="18" name="Text 15"/>
          <p:cNvSpPr/>
          <p:nvPr/>
        </p:nvSpPr>
        <p:spPr>
          <a:xfrm>
            <a:off x="8686800" y="2971800"/>
            <a:ext cx="2743200" cy="548640"/>
          </a:xfrm>
          <a:prstGeom prst="rect">
            <a:avLst/>
          </a:prstGeom>
          <a:noFill/>
          <a:ln/>
        </p:spPr>
        <p:txBody>
          <a:bodyPr wrap="square" rtlCol="0" anchor="ctr"/>
          <a:lstStyle/>
          <a:p>
            <a:pPr marL="0" indent="0">
              <a:buNone/>
            </a:pPr>
            <a:r>
              <a:rPr lang="en-US" sz="1400" b="1" dirty="0">
                <a:solidFill>
                  <a:srgbClr val="E29A34"/>
                </a:solidFill>
                <a:latin typeface="Malgun Gothic" pitchFamily="34" charset="0"/>
                <a:ea typeface="Malgun Gothic" pitchFamily="34" charset="-122"/>
                <a:cs typeface="Malgun Gothic" pitchFamily="34" charset="-120"/>
              </a:rPr>
              <a:t>나의 관점</a:t>
            </a:r>
            <a:endParaRPr lang="en-US" sz="1400" dirty="0"/>
          </a:p>
        </p:txBody>
      </p:sp>
      <p:sp>
        <p:nvSpPr>
          <p:cNvPr id="19" name="Text 16"/>
          <p:cNvSpPr/>
          <p:nvPr/>
        </p:nvSpPr>
        <p:spPr>
          <a:xfrm>
            <a:off x="8001000" y="3703320"/>
            <a:ext cx="3337560" cy="1645920"/>
          </a:xfrm>
          <a:prstGeom prst="rect">
            <a:avLst/>
          </a:prstGeom>
          <a:noFill/>
          <a:ln/>
        </p:spPr>
        <p:txBody>
          <a:bodyPr wrap="square" rtlCol="0" anchor="t"/>
          <a:lstStyle/>
          <a:p>
            <a:pPr marL="0" indent="0">
              <a:lnSpc>
                <a:spcPts val="1900"/>
              </a:lnSpc>
              <a:buNone/>
            </a:pPr>
            <a:r>
              <a:rPr lang="en-US" sz="1300" dirty="0">
                <a:solidFill>
                  <a:srgbClr val="CFE0E7"/>
                </a:solidFill>
                <a:latin typeface="Malgun Gothic" pitchFamily="34" charset="0"/>
                <a:ea typeface="Malgun Gothic" pitchFamily="34" charset="-122"/>
                <a:cs typeface="Malgun Gothic" pitchFamily="34" charset="-120"/>
              </a:rPr>
              <a:t>데이터센터 급증·전기차 확산으로 도시 에너지 수요와 시간대별 불균형이 커진다. 도시 스케일 에너지 최적화의 중요성은 계속 높아질 것.</a:t>
            </a:r>
            <a:endParaRPr lang="en-US" sz="1300" dirty="0"/>
          </a:p>
        </p:txBody>
      </p:sp>
      <p:sp>
        <p:nvSpPr>
          <p:cNvPr id="20" name="Text 17"/>
          <p:cNvSpPr/>
          <p:nvPr/>
        </p:nvSpPr>
        <p:spPr>
          <a:xfrm>
            <a:off x="548640" y="5806440"/>
            <a:ext cx="11064240" cy="457200"/>
          </a:xfrm>
          <a:prstGeom prst="rect">
            <a:avLst/>
          </a:prstGeom>
          <a:noFill/>
          <a:ln/>
        </p:spPr>
        <p:txBody>
          <a:bodyPr wrap="square" rtlCol="0" anchor="ctr"/>
          <a:lstStyle/>
          <a:p>
            <a:pPr marL="0" indent="0" algn="ctr">
              <a:buNone/>
            </a:pPr>
            <a:r>
              <a:rPr lang="en-US" sz="2000" b="1" dirty="0">
                <a:solidFill>
                  <a:srgbClr val="FFFFFF"/>
                </a:solidFill>
                <a:latin typeface="Malgun Gothic" pitchFamily="34" charset="0"/>
                <a:ea typeface="Malgun Gothic" pitchFamily="34" charset="-122"/>
                <a:cs typeface="Malgun Gothic" pitchFamily="34" charset="-120"/>
              </a:rPr>
              <a:t>감사합니다  ·  Q &amp; 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562</TotalTime>
  <Words>1205</Words>
  <Application>Microsoft Office PowerPoint</Application>
  <PresentationFormat>와이드스크린</PresentationFormat>
  <Paragraphs>150</Paragraphs>
  <Slides>10</Slides>
  <Notes>10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10</vt:i4>
      </vt:variant>
    </vt:vector>
  </HeadingPairs>
  <TitlesOfParts>
    <vt:vector size="13" baseType="lpstr">
      <vt:lpstr>Malgun Gothic</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교통-건물-전력망 코시뮬레이션 제안</dc:title>
  <dc:subject>PptxGenJS Presentation</dc:subject>
  <dc:creator>PptxGenJS</dc:creator>
  <cp:lastModifiedBy>주원 김</cp:lastModifiedBy>
  <cp:revision>1</cp:revision>
  <dcterms:created xsi:type="dcterms:W3CDTF">2026-08-03T04:36:06Z</dcterms:created>
  <dcterms:modified xsi:type="dcterms:W3CDTF">2026-08-03T22:59:22Z</dcterms:modified>
</cp:coreProperties>
</file>